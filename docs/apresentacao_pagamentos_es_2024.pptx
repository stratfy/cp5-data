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08b2e719e740a1" /><Relationship Type="http://schemas.openxmlformats.org/officeDocument/2006/relationships/extended-properties" Target="/docProps/app.xml" Id="R7a0201a9b9544437" /><Relationship Type="http://schemas.openxmlformats.org/officeDocument/2006/relationships/officeDocument" Target="/ppt/presentation.xml" Id="R41c4b2ebb3444c0b" /></Relationships>
</file>

<file path=ppt/presentation.xml><?xml version="1.0" encoding="utf-8"?>
<p:presentation xmlns:p="http://schemas.openxmlformats.org/presentationml/2006/main">
  <p:sldMasterIdLst>
    <p:sldMasterId xmlns:r="http://schemas.openxmlformats.org/officeDocument/2006/relationships" id="2147483648" r:id="Rb6105f82dcdd45d1"/>
  </p:sldMasterIdLst>
  <p:notesMasterIdLst>
    <p:notesMasterId xmlns:r="http://schemas.openxmlformats.org/officeDocument/2006/relationships" r:id="R9301843e761549fe"/>
  </p:notesMasterIdLst>
  <p:sldIdLst>
    <p:sldId xmlns:r="http://schemas.openxmlformats.org/officeDocument/2006/relationships" id="256" r:id="R34d88100bdff40f0"/>
    <p:sldId xmlns:r="http://schemas.openxmlformats.org/officeDocument/2006/relationships" id="257" r:id="R163e0965cb2f43ef"/>
    <p:sldId xmlns:r="http://schemas.openxmlformats.org/officeDocument/2006/relationships" id="258" r:id="R501378dd5acc48b7"/>
    <p:sldId xmlns:r="http://schemas.openxmlformats.org/officeDocument/2006/relationships" id="259" r:id="R11a6f9d298594b7d"/>
    <p:sldId xmlns:r="http://schemas.openxmlformats.org/officeDocument/2006/relationships" id="260" r:id="Rad013af52b844e09"/>
    <p:sldId xmlns:r="http://schemas.openxmlformats.org/officeDocument/2006/relationships" id="261" r:id="R611583e8bc154c9e"/>
    <p:sldId xmlns:r="http://schemas.openxmlformats.org/officeDocument/2006/relationships" id="262" r:id="R7ee81e8ca97d4390"/>
    <p:sldId xmlns:r="http://schemas.openxmlformats.org/officeDocument/2006/relationships" id="263" r:id="Rc3c364fb23b040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62ea4d27154c5f" /><Relationship Type="http://schemas.openxmlformats.org/officeDocument/2006/relationships/slideMaster" Target="/ppt/slideMasters/slideMaster1.xml" Id="Rb6105f82dcdd45d1" /><Relationship Type="http://schemas.openxmlformats.org/officeDocument/2006/relationships/notesMaster" Target="/ppt/notesMasters/notesMaster1.xml" Id="R9301843e761549fe" /><Relationship Type="http://schemas.openxmlformats.org/officeDocument/2006/relationships/presProps" Target="/ppt/presProps.xml" Id="Ra1dff502c1834de1" /><Relationship Type="http://schemas.openxmlformats.org/officeDocument/2006/relationships/tableStyles" Target="/ppt/tableStyles.xml" Id="Re54083a6da7549d6" /><Relationship Type="http://schemas.openxmlformats.org/officeDocument/2006/relationships/slide" Target="/ppt/slides/slide1.xml" Id="R34d88100bdff40f0" /><Relationship Type="http://schemas.openxmlformats.org/officeDocument/2006/relationships/slide" Target="/ppt/slides/slide2.xml" Id="R163e0965cb2f43ef" /><Relationship Type="http://schemas.openxmlformats.org/officeDocument/2006/relationships/slide" Target="/ppt/slides/slide3.xml" Id="R501378dd5acc48b7" /><Relationship Type="http://schemas.openxmlformats.org/officeDocument/2006/relationships/slide" Target="/ppt/slides/slide4.xml" Id="R11a6f9d298594b7d" /><Relationship Type="http://schemas.openxmlformats.org/officeDocument/2006/relationships/slide" Target="/ppt/slides/slide5.xml" Id="Rad013af52b844e09" /><Relationship Type="http://schemas.openxmlformats.org/officeDocument/2006/relationships/slide" Target="/ppt/slides/slide6.xml" Id="R611583e8bc154c9e" /><Relationship Type="http://schemas.openxmlformats.org/officeDocument/2006/relationships/slide" Target="/ppt/slides/slide7.xml" Id="R7ee81e8ca97d4390" /><Relationship Type="http://schemas.openxmlformats.org/officeDocument/2006/relationships/slide" Target="/ppt/slides/slide8.xml" Id="Rc3c364fb23b040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1ccdd8754b46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7367dbfdc34400" /><Relationship Type="http://schemas.openxmlformats.org/officeDocument/2006/relationships/notesMaster" Target="/ppt/notesMasters/notesMaster1.xml" Id="Rd0ce82a143e144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fcedfe357b4b20" /><Relationship Type="http://schemas.openxmlformats.org/officeDocument/2006/relationships/notesMaster" Target="/ppt/notesMasters/notesMaster1.xml" Id="Rc8cf1cb1e9a044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e7a6c083a24679" /><Relationship Type="http://schemas.openxmlformats.org/officeDocument/2006/relationships/notesMaster" Target="/ppt/notesMasters/notesMaster1.xml" Id="R46b0c8c28e9145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911a7b339740d1" /><Relationship Type="http://schemas.openxmlformats.org/officeDocument/2006/relationships/notesMaster" Target="/ppt/notesMasters/notesMaster1.xml" Id="R509b275fbc0940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ca25e24f934c0f" /><Relationship Type="http://schemas.openxmlformats.org/officeDocument/2006/relationships/notesMaster" Target="/ppt/notesMasters/notesMaster1.xml" Id="Reaa34507664045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ace4e6cd2d4535" /><Relationship Type="http://schemas.openxmlformats.org/officeDocument/2006/relationships/notesMaster" Target="/ppt/notesMasters/notesMaster1.xml" Id="Rad6cc4dd16b84b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0041b0235f4afd" /><Relationship Type="http://schemas.openxmlformats.org/officeDocument/2006/relationships/notesMaster" Target="/ppt/notesMasters/notesMaster1.xml" Id="R6172477f5a604c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26b8d2bf1f462f" /><Relationship Type="http://schemas.openxmlformats.org/officeDocument/2006/relationships/notesMaster" Target="/ppt/notesMasters/notesMaster1.xml" Id="R7fd84151901041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Luigi Mendes Cabrini · RM 563552. Tempo 60 segundos.</a:t>
            </a:r>
          </a:p>
          <a:p xmlns:a="http://schemas.openxmlformats.org/drawingml/2006/main">
            <a:r>
              <a:t>Apresentar a solução e o público. Explicar que a consulta concentra os dados fornecidos pelo professor em um painel. O benefício esperado é obter um total por unidade e período com acesso ao recorte que produziu o número. O CPSI é uma simulação de Contrato Público para Solução Inovadora, sem contratação real.</a:t>
            </a:r>
          </a:p>
          <a:p xmlns:a="http://schemas.openxmlformats.org/drawingml/2006/main">
            <a:r>
              <a:t/>
            </a:r>
          </a:p>
          <a:p xmlns:a="http://schemas.openxmlformats.org/drawingml/2006/main">
            <a:r>
              <a:t>Fontes: Enunciado acadêmico CP2_CPSI_Enunciado_Simplificado_2026 (1).docx, turma 2ESPH-2026</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Público: gestores públicos e analistas de controle interno. Problema: comparar a soma de ValorPago por unidade e período sem perder sua origem entre arquivos extensos. O benefício é esperado, sem ganho de tempo medido em pesquisa com usuários.</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Luigi Mendes Cabrini · RM 563552. Tempo 60 segundos.</a:t>
            </a:r>
          </a:p>
          <a:p xmlns:a="http://schemas.openxmlformats.org/drawingml/2006/main">
            <a:r>
              <a:t>Mostrar como reproduzir a importação. Os arquivos de 2024 somam 505.950 registros analisados. O campo Orgao está vazio em 100% dos quatro CSVs, enquanto UnidadeGestora aparece nos 505.950 registros. Por isso a POC usa unidades gestoras como dimensão de comparação. Explicar a auditoria encontrou zero datas inválidas, zero ValorPago ausentes/inválidos e zero duplicatas exatas. 339.887 registros têm ValorPago zero. 9.886 registros trazem ajustes negativos, cuja soma é R$ -381.794.044,19 e permanece no total líquido. Nenhuma linha foi deduplicada. Diferenciar ValorPago de empenhado, liquidado e restos a pagar. A equivalência com o recurso atual do portal e a cobertura integral estadual não foram comprovadas.</a:t>
            </a:r>
          </a:p>
          <a:p xmlns:a="http://schemas.openxmlformats.org/drawingml/2006/main">
            <a:r>
              <a:t/>
            </a:r>
          </a:p>
          <a:p xmlns:a="http://schemas.openxmlformats.org/drawingml/2006/main">
            <a:r>
              <a:t>Fontes: Portal de Dados Abertos do ES, base de execução orçamentária SIGEFES. https://dados2.es.gov.br/dataset/portal-da-transparencia-despesas-execucao-orcamentaria-e-financeira/resource/b34ae52a-a739-412a-9bab-80f53ba72f4f?inner_span=True</a:t>
            </a:r>
          </a:p>
          <a:p xmlns:a="http://schemas.openxmlformats.org/drawingml/2006/main">
            <a:r>
              <a:t>Dicionário de despesas fornecido em Downloads/dicionario_despesas.pdf</a:t>
            </a:r>
          </a:p>
          <a:p xmlns:a="http://schemas.openxmlformats.org/drawingml/2006/main">
            <a:r>
              <a:t>despesas_es_2024_completo_parte_01.csv, despesas_es_2024_completo_parte_02.csv, despesas_es_2024_completo_parte_03.csv, despesas_es_2024_completo_parte_04.csv</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As ausências não viram zero. A aplicação distingue ausência, zero e valor negativo, e informa valores válidos fora do calendário. A carga preserva datas ou valores ausentes como nulos; erros de largura ou ano são auditados. O agrupamento usa código e nome de UnidadeGestora.</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Rogério Cruz Arroyo · RM 563517. Tempo 80 segundos.</a:t>
            </a:r>
          </a:p>
          <a:p xmlns:a="http://schemas.openxmlformats.org/drawingml/2006/main">
            <a:r>
              <a:t>Descrever a pergunta 1. As cinco maiores unidades totalizam 54,86% da soma líquida de ValorPago, R$ 10.337.098.858,62. O conjunto tem 117 unidades gestoras. A primeira é FUNDO ESTADUAL DE SAÚDE, com R$ 1.560.443.755,54 e 69.006 registros. Os valores não incluem ValorRap. O ranking é descritivo. Cada barra agrega ValorPago do conjunto por unidade gestora. Os nomes abreviados no gráfico são: Fundo Estadual de Saúde = 440901 FUNDO ESTADUAL DE SAÚDE; Fundo Financeiro = 600210 FUNDO FINANCEIRO; Educação = 420101 SECRETARIA DE ESTADO DA EDUCAÇÃO; Administração SEFAZ = 800102 ADMINISTRAÇÃO GERAL A CARGO DA SEFAZ; Proteção Social Militar = 600212 FUNDO DE PROTEÇÃO SOCIAL DOS MILITARES. Explicar que concentração é descritiva e não demonstra irregularidade. O achado orientou o ranking e o filtro por unidade na POC.</a:t>
            </a:r>
          </a:p>
          <a:p xmlns:a="http://schemas.openxmlformats.org/drawingml/2006/main">
            <a:r>
              <a:t/>
            </a:r>
          </a:p>
          <a:p xmlns:a="http://schemas.openxmlformats.org/drawingml/2006/main">
            <a:r>
              <a:t>Fontes: Portal de Dados Abertos do ES, base de execução orçamentária SIGEFES. https://dados2.es.gov.br/dataset/portal-da-transparencia-despesas-execucao-orcamentaria-e-financeira/resource/b34ae52a-a739-412a-9bab-80f53ba72f4f?inner_span=True</a:t>
            </a:r>
          </a:p>
          <a:p xmlns:a="http://schemas.openxmlformats.org/drawingml/2006/main">
            <a:r>
              <a:t>despesas_es_2024_completo_parte_01.csv, despesas_es_2024_completo_parte_02.csv, despesas_es_2024_completo_parte_03.csv, despesas_es_2024_completo_parte_04.csv</a:t>
            </a:r>
          </a:p>
          <a:p xmlns:a="http://schemas.openxmlformats.org/drawingml/2006/main">
            <a:r>
              <a:t>Resumo calculado em data/resumo_analise.json, sem combinar medidas monetárias distintas.</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Os gráficos mantêm dados nativos editáveis em milhões de reais, com rótulos em português. A concentração de 54,86% nas cinco primeiras unidades orientou a priorização pelo ranking e a investigação do recorte.</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Rogério Cruz Arroyo · RM 563517. Tempo 100 segundos.</a:t>
            </a:r>
          </a:p>
          <a:p xmlns:a="http://schemas.openxmlformats.org/drawingml/2006/main">
            <a:r>
              <a:t>Descrever a pergunta 2 e a série mensal. Dezembro soma R$ 1.648.054.158,32, em 55.327 registros. A média dos 12 totais é R$ 861.424.904,89, mediana R$ 830.429.539,28 e desvio padrão amostral R$ 308.017.812,38. Os 12 meses observados são completos dentro dos arquivos locais. Não há evidência suficiente para atribuir causalidade ao aumento. A data representa a data do documento/registro conforme o dicionário, não prova a data de saída efetiva de caixa. O total do conjunto é uma soma observada. Média, mediana e desvio padrão mensal são estatísticas descritivas. Não calcular IC da média mensal porque há possível sazonalidade e dependência entre meses. O complemento didático usa uma amostra aleatória simples interna de registros com semente 2024 e intervalo de Wilson de 95% para a proporção de linhas com ValorPago &gt; 0. A população-alvo é somente o conjunto fornecido e não todo o Estado. O recorte sistemático de origem não permite extrapolação estadual. O sorteio interno é aleatório e reprodutível. A amostra tem n=10000 e k=3126 registros positivos, proporção 31,26%. Wilson resulta em 30,36% a 32,18%. A proporção exata conhecida na base é 30,87%. O intervalo usa aproximação binomial sem correção da população finita, conservadora frente ao sorteio sem reposição. O conjunto tem N=505950 linhas elegíveis e amostra de 1,98%</a:t>
            </a:r>
          </a:p>
          <a:p xmlns:a="http://schemas.openxmlformats.org/drawingml/2006/main">
            <a:r>
              <a:t/>
            </a:r>
          </a:p>
          <a:p xmlns:a="http://schemas.openxmlformats.org/drawingml/2006/main">
            <a:r>
              <a:t>Fontes: Portal de Dados Abertos do ES, base de execução orçamentária SIGEFES. https://dados2.es.gov.br/dataset/portal-da-transparencia-despesas-execucao-orcamentaria-e-financeira/resource/b34ae52a-a739-412a-9bab-80f53ba72f4f?inner_span=True</a:t>
            </a:r>
          </a:p>
          <a:p xmlns:a="http://schemas.openxmlformats.org/drawingml/2006/main">
            <a:r>
              <a:t>Dicionário de despesas fornecido em Downloads/dicionario_despesas.pdf</a:t>
            </a:r>
          </a:p>
          <a:p xmlns:a="http://schemas.openxmlformats.org/drawingml/2006/main">
            <a:r>
              <a:t>NIST, intervalo de Wilson para proporções. https://www.itl.nist.gov/div898/handbook/prc/section2/prc241.htm</a:t>
            </a:r>
          </a:p>
          <a:p xmlns:a="http://schemas.openxmlformats.org/drawingml/2006/main">
            <a:r>
              <a:t>despesas_es_2024_completo_parte_01.csv, despesas_es_2024_completo_parte_02.csv, despesas_es_2024_completo_parte_03.csv, despesas_es_2024_completo_parte_04.csv</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O pico mensal orientou o filtro mensal e a consulta de composição por unidade, demonstrada com Saúde em dezembro. A população-alvo do IC é a base local de registros.</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Bruno Koeke · RM 561309. Tempo 240 segundos.</a:t>
            </a:r>
          </a:p>
          <a:p xmlns:a="http://schemas.openxmlformats.org/drawingml/2006/main">
            <a:r>
              <a:t>Abrir o painel local. Mostrar a base carregada e selecionar uma unidade no ranking. Filtrar um mês e ler os indicadores. Consultar composição e abrir a rastreabilidade de um resultado. Exibir arquivo e linha, sem dados bancários ou pessoais. Selecionar uma combinação sem dados e observar a resposta. Mostrar o roteiro de execução do README e os testes. A tecnologia web local foi escolhida para reduzir dependências da POC, enquanto o SQLite mantém agregações reproduzíveis. Demonstrar apenas recursos implementados e explicar as limitações. Alternativa de contingência: pacote e PDFs de apoio, mantendo a demonstração ao vivo como principal.</a:t>
            </a:r>
          </a:p>
          <a:p xmlns:a="http://schemas.openxmlformats.org/drawingml/2006/main">
            <a:r>
              <a:t/>
            </a:r>
          </a:p>
          <a:p xmlns:a="http://schemas.openxmlformats.org/drawingml/2006/main">
            <a:r>
              <a:t>Fontes: Enunciado acadêmico CP2_CPSI_Enunciado_Simplificado_2026 (1).docx, turma 2ESPH-2026</a:t>
            </a:r>
          </a:p>
          <a:p xmlns:a="http://schemas.openxmlformats.org/drawingml/2006/main">
            <a:r>
              <a:t>Código da POC no projeto cp5-data, Python biblioteca padrão e SQLite.</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Bruno conduz a demonstração. Abrir Modo apresentação e confirmar o panorama anual. Em Abrir filtros, escolher Saúde em dezembro: 7.790 registros e R$ 185.199.026,38. Aguardar as etapas reais de carregamento; resultados aparecem juntos. Fechar filtros, avançar para Distribuição e depois Registros. Mostrar arquivo e linha, baixar CSV e abrir Metodologia. Navegar não reconsulta. Voltar aos filtros e demonstrar Polícia Penal em janeiro, sem registros; restaurar Panorama completo. O ranking mostra até dez unidades, ou cinco no Modo apresentação. As animações respeitam movimento reduzido.</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Anthony Sforzin · RM 562096. Tempo 40 segundos.</a:t>
            </a:r>
          </a:p>
          <a:p xmlns:a="http://schemas.openxmlformats.org/drawingml/2006/main">
            <a:r>
              <a:t>Explicar que esta tabela propõe a divisão futura, sem afirmar contribuições já realizadas. Os marcos descrevem a evolução da POC que já funciona e coincidem com o relatório. Semanas 1–2: produto e dados revisam perguntas e indicadores com usuários. Semanas 3–4: dados e testes ampliam a auditoria, conciliam totais e repetem a carga. Semanas 5–8: desenvolvimento melhora a usabilidade, com uma jornada executável por usuário externo. Semanas 9–12: dados e desenvolvimento integram 2025 somente com períodos e medidas comparáveis. Semanas 13–14: testes e produto entregam relatório de validação, testes sem falhas e aprovação documentada dos campos exportados. Semanas 15–16: toda a equipe entrega piloto, README e pacote, reproduzindo a jornada e o total de referência em ambiente limpo. Se 2025 ou uma integração atrasar, manter o conjunto validado de 2024 e registrar o recorte. O enunciado exige 5 a 8 estudantes. O grupo optou por manter quatro integrantes. Não houve autorização explícita do professor para a exceção.</a:t>
            </a:r>
          </a:p>
          <a:p xmlns:a="http://schemas.openxmlformats.org/drawingml/2006/main">
            <a:r>
              <a:t/>
            </a:r>
          </a:p>
          <a:p xmlns:a="http://schemas.openxmlformats.org/drawingml/2006/main">
            <a:r>
              <a:t>Fontes: Enunciado acadêmico CP2_CPSI_Enunciado_Simplificado_2026 (1).docx, turma 2ESPH-2026</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Entregáveis individuais: Luigi, problema/requisitos e plano; Bruno, importação/auditoria e análise; Rogério, aplicação/arquitetura e execução; Anthony, testes/reprodução e documentação. As responsabilidades são propostas para revisão pelo grupo. Não afirmar trabalho já realizado, aceite dos papéis ou autorização para quatro integrantes.</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Anthony Sforzin · RM 562096. Tempo 50 segundos.</a:t>
            </a:r>
          </a:p>
          <a:p xmlns:a="http://schemas.openxmlformats.org/drawingml/2006/main">
            <a:r>
              <a:t>Explicar a memória de cálculo. Pessoal: 11.200 + 19.200 + 28.800 + 9.600 = 68.800 reais. Somando infraestrutura/licenças de 3.200, a base é 72.000 reais. Contingência de 20% soma 14.400, totalizando 86.400. O custo de operação combina 1.200 de manutenção com 600 de infraestrutura, 1.800 por mês, ou 21.600 por 12 meses. Estes valores estimam uma evolução profissional de até 16 semanas, sem afirmar que o grupo gastou esse montante. Relacionar cada risco ao responsável e à mitigação apresentada.</a:t>
            </a:r>
          </a:p>
          <a:p xmlns:a="http://schemas.openxmlformats.org/drawingml/2006/main">
            <a:r>
              <a:t/>
            </a:r>
          </a:p>
          <a:p xmlns:a="http://schemas.openxmlformats.org/drawingml/2006/main">
            <a:r>
              <a:t>Fontes: Enunciado acadêmico CP2_CPSI_Enunciado_Simplificado_2026 (1).docx, turma 2ESPH-2026</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Os impactos são comparação enviesada, total incorreto e atraso da comparação de 2025. Responsáveis: Bruno, Anthony e Luigi, respectivamente. Rogério responde pela contingência de falha técnica, testando outro computador e levando pacote e PDFs. O relatório contém o plano completo.</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 sugerido. Anthony Sforzin · RM 562096. Tempo 30 segundos.</a:t>
            </a:r>
          </a:p>
          <a:p xmlns:a="http://schemas.openxmlformats.org/drawingml/2006/main">
            <a:r>
              <a:t>Concluir retomando o valor da jornada demonstrada. Identificar o que funciona e o que pertence ao plano posterior. Explicar que dados incompletos e a semântica de Data limitam as conclusões. Informar que os links estão preenchidos e que o acesso da banca ainda deve ser validado. Preparar respostas sobre as duas perguntas, o indicador, a rastreabilidade, as funções, o cronograma e o orçamento. O conteúdo soma 660 segundos, 11 minutos, com 60 segundos de margem operacional dentro dos 12 minutos.</a:t>
            </a:r>
          </a:p>
          <a:p xmlns:a="http://schemas.openxmlformats.org/drawingml/2006/main">
            <a:r>
              <a:t/>
            </a:r>
          </a:p>
          <a:p xmlns:a="http://schemas.openxmlformats.org/drawingml/2006/main">
            <a:r>
              <a:t>Fontes: Enunciado acadêmico CP2_CPSI_Enunciado_Simplificado_2026 (1).docx, turma 2ESPH-2026</a:t>
            </a:r>
          </a:p>
          <a:p xmlns:a="http://schemas.openxmlformats.org/drawingml/2006/main">
            <a:r>
              <a:t>Portal de Dados Abertos do ES, base de execução orçamentária SIGEFES. https://dados2.es.gov.br/dataset/portal-da-transparencia-despesas-execucao-orcamentaria-e-financeira/resource/b34ae52a-a739-412a-9bab-80f53ba72f4f?inner_span=True</a:t>
            </a:r>
          </a:p>
          <a:p xmlns:a="http://schemas.openxmlformats.org/drawingml/2006/main">
            <a:r>
              <a:t>NIST, intervalo de Wilson para proporções. https://www.itl.nist.gov/div898/handbook/prc/section2/prc241.htm</a:t>
            </a:r>
          </a:p>
          <a:p xmlns:a="http://schemas.openxmlformats.org/drawingml/2006/main">
            <a:r>
              <a:t/>
            </a:r>
          </a:p>
          <a:p xmlns:a="http://schemas.openxmlformats.org/drawingml/2006/main">
            <a:r>
              <a:t>Os papéis e as horas são uma proposta de divisão futura. O grupo deve confirmar o trabalho real de cada integrante antes da defesa. O uso de IA na preparação de código e materiais deve ser declarado.</a:t>
            </a:r>
          </a:p>
          <a:p xmlns:a="http://schemas.openxmlformats.org/drawingml/2006/main">
            <a:r>
              <a:t/>
            </a:r>
          </a:p>
          <a:p xmlns:a="http://schemas.openxmlformats.org/drawingml/2006/main">
            <a:r>
              <a:t>A população-alvo do IC é a base local. O uso de IA foi acompanhado de auditoria, reconciliação, testes e verificação da origem. A revisão humana das partes permanece responsabilidade do grupo. Código: https://github.com/Stratfy/cp5-data</a:t>
            </a:r>
          </a:p>
          <a:p xmlns:a="http://schemas.openxmlformats.org/drawingml/2006/main">
            <a:r>
              <a:t/>
            </a:r>
          </a:p>
          <a:p xmlns:a="http://schemas.openxmlformats.org/drawingml/2006/main">
            <a:r>
              <a:t>Proposta de fala sujeita ao ensaio: Luigi 2 minutos, Rogério 3, Bruno 4 e Anthony 2. Margem de 1 minuto. Bruno conduz a demonstração. A distribuição não comprova autoria passada. Todos devem conhecer os requisitos e responder sobre o CP2.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1bba0d9f8b44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1afb20d92b49a7" /><Relationship Type="http://schemas.openxmlformats.org/officeDocument/2006/relationships/slideLayout" Target="/ppt/slideLayouts/slideLayout1.xml" Id="R5460c501046d45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60c501046d45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7eef518f194e40" /><Relationship Type="http://schemas.openxmlformats.org/officeDocument/2006/relationships/notesSlide" Target="/ppt/notesSlides/notesSlide1.xml" Id="Rade9de4d70e24a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dae4ee34c442d9" /><Relationship Type="http://schemas.openxmlformats.org/officeDocument/2006/relationships/notesSlide" Target="/ppt/notesSlides/notesSlide2.xml" Id="R315f025912c846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28b5ecfc8d4b85" /><Relationship Type="http://schemas.openxmlformats.org/officeDocument/2006/relationships/chart" Target="/ppt/slides/charts/chart1.xml" Id="R06521382a21c4409" /><Relationship Type="http://schemas.openxmlformats.org/officeDocument/2006/relationships/notesSlide" Target="/ppt/notesSlides/notesSlide3.xml" Id="R72cd67cf410947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e6a2e740124e1c" /><Relationship Type="http://schemas.openxmlformats.org/officeDocument/2006/relationships/chart" Target="/ppt/slides/charts/chart2.xml" Id="Rff441aa545024ff4" /><Relationship Type="http://schemas.openxmlformats.org/officeDocument/2006/relationships/notesSlide" Target="/ppt/notesSlides/notesSlide4.xml" Id="R2227cf125baf4b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f8f622640b441d" /><Relationship Type="http://schemas.openxmlformats.org/officeDocument/2006/relationships/notesSlide" Target="/ppt/notesSlides/notesSlide5.xml" Id="Rff9930e2ea4f4a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f65a68c11b4b5c" /><Relationship Type="http://schemas.openxmlformats.org/officeDocument/2006/relationships/notesSlide" Target="/ppt/notesSlides/notesSlide6.xml" Id="Rb1c64bd82a7a46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b63a54264c4056" /><Relationship Type="http://schemas.openxmlformats.org/officeDocument/2006/relationships/notesSlide" Target="/ppt/notesSlides/notesSlide7.xml" Id="R0c6c6ff9b7a34d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d8cc6c7dac479a" /><Relationship Type="http://schemas.openxmlformats.org/officeDocument/2006/relationships/notesSlide" Target="/ppt/notesSlides/notesSlide8.xml" Id="R66156141e65849d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ValorPago em R$ milhões</c:v>
          </c:tx>
          <c:spPr>
            <a:solidFill xmlns:a="http://schemas.openxmlformats.org/drawingml/2006/main">
              <a:srgbClr val="2563EB"/>
            </a:solidFill>
          </c:spPr>
          <c:dLbls>
            <c:dLbl>
              <c:idx val="0"/>
              <c:tx>
                <c:rich>
                  <a:bodyPr xmlns:a="http://schemas.openxmlformats.org/drawingml/2006/main"/>
                  <a:lstStyle xmlns:a="http://schemas.openxmlformats.org/drawingml/2006/main"/>
                  <a:p xmlns:a="http://schemas.openxmlformats.org/drawingml/2006/main">
                    <a:r>
                      <a:rPr sz="1650" b="1">
                        <a:solidFill>
                          <a:srgbClr val="14283F"/>
                        </a:solidFill>
                        <a:latin typeface="Arial"/>
                        <a:ea typeface="Arial"/>
                        <a:cs typeface="Arial"/>
                      </a:rPr>
                      <a:t>623,32</a:t>
                    </a:r>
                  </a:p>
                </c:rich>
              </c:tx>
              <c:txPr>
                <a:bodyPr xmlns:a="http://schemas.openxmlformats.org/drawingml/2006/main" anchorCtr="1"/>
                <a:lstStyle xmlns:a="http://schemas.openxmlformats.org/drawingml/2006/main"/>
                <a:p xmlns:a="http://schemas.openxmlformats.org/drawingml/2006/main">
                  <a:pPr>
                    <a:defRPr sz="1650" b="1">
                      <a:solidFill>
                        <a:srgbClr val="14283F"/>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b="1">
                        <a:solidFill>
                          <a:srgbClr val="14283F"/>
                        </a:solidFill>
                        <a:latin typeface="Arial"/>
                        <a:ea typeface="Arial"/>
                        <a:cs typeface="Arial"/>
                      </a:rPr>
                      <a:t>844,21</a:t>
                    </a:r>
                  </a:p>
                </c:rich>
              </c:tx>
              <c:txPr>
                <a:bodyPr xmlns:a="http://schemas.openxmlformats.org/drawingml/2006/main" anchorCtr="1"/>
                <a:lstStyle xmlns:a="http://schemas.openxmlformats.org/drawingml/2006/main"/>
                <a:p xmlns:a="http://schemas.openxmlformats.org/drawingml/2006/main">
                  <a:pPr>
                    <a:defRPr sz="1650" b="1">
                      <a:solidFill>
                        <a:srgbClr val="14283F"/>
                      </a:solidFill>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b="1">
                        <a:solidFill>
                          <a:srgbClr val="14283F"/>
                        </a:solidFill>
                        <a:latin typeface="Arial"/>
                        <a:ea typeface="Arial"/>
                        <a:cs typeface="Arial"/>
                      </a:rPr>
                      <a:t>1.165,26</a:t>
                    </a:r>
                  </a:p>
                </c:rich>
              </c:tx>
              <c:txPr>
                <a:bodyPr xmlns:a="http://schemas.openxmlformats.org/drawingml/2006/main" anchorCtr="1"/>
                <a:lstStyle xmlns:a="http://schemas.openxmlformats.org/drawingml/2006/main"/>
                <a:p xmlns:a="http://schemas.openxmlformats.org/drawingml/2006/main">
                  <a:pPr>
                    <a:defRPr sz="1650" b="1">
                      <a:solidFill>
                        <a:srgbClr val="14283F"/>
                      </a:solidFill>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650" b="1">
                        <a:solidFill>
                          <a:srgbClr val="14283F"/>
                        </a:solidFill>
                        <a:latin typeface="Arial"/>
                        <a:ea typeface="Arial"/>
                        <a:cs typeface="Arial"/>
                      </a:rPr>
                      <a:t>1.477,60</a:t>
                    </a:r>
                  </a:p>
                </c:rich>
              </c:tx>
              <c:txPr>
                <a:bodyPr xmlns:a="http://schemas.openxmlformats.org/drawingml/2006/main" anchorCtr="1"/>
                <a:lstStyle xmlns:a="http://schemas.openxmlformats.org/drawingml/2006/main"/>
                <a:p xmlns:a="http://schemas.openxmlformats.org/drawingml/2006/main">
                  <a:pPr>
                    <a:defRPr sz="1650" b="1">
                      <a:solidFill>
                        <a:srgbClr val="14283F"/>
                      </a:solidFill>
                      <a:latin typeface="Arial"/>
                      <a:ea typeface="Arial"/>
                      <a:cs typeface="Arial"/>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650" b="1">
                        <a:solidFill>
                          <a:srgbClr val="14283F"/>
                        </a:solidFill>
                        <a:latin typeface="Arial"/>
                        <a:ea typeface="Arial"/>
                        <a:cs typeface="Arial"/>
                      </a:rPr>
                      <a:t>1.560,44</a:t>
                    </a:r>
                  </a:p>
                </c:rich>
              </c:tx>
              <c:txPr>
                <a:bodyPr xmlns:a="http://schemas.openxmlformats.org/drawingml/2006/main" anchorCtr="1"/>
                <a:lstStyle xmlns:a="http://schemas.openxmlformats.org/drawingml/2006/main"/>
                <a:p xmlns:a="http://schemas.openxmlformats.org/drawingml/2006/main">
                  <a:pPr>
                    <a:defRPr sz="1650" b="1">
                      <a:solidFill>
                        <a:srgbClr val="14283F"/>
                      </a:solidFill>
                      <a:latin typeface="Arial"/>
                      <a:ea typeface="Arial"/>
                      <a:cs typeface="Arial"/>
                    </a:defRPr>
                  </a:pPr>
                </a:p>
              </c:txPr>
              <c:dLblPos val="outEnd"/>
              <c:showLegendKey val="0"/>
              <c:showVal val="0"/>
              <c:showCatName val="0"/>
              <c:showSerName val="0"/>
              <c:showPercent val="0"/>
              <c:showBubbleSize val="0"/>
            </c:dLbl>
          </c:dLbls>
          <c:cat>
            <c:strRef>
              <c:f>'Chart Data'!$A$2:$A$6</c:f>
              <c:strCache>
                <c:ptCount val="5"/>
                <c:pt idx="0">
                  <c:v>Proteção Social Militar</c:v>
                </c:pt>
                <c:pt idx="1">
                  <c:v>Administração SEFAZ</c:v>
                </c:pt>
                <c:pt idx="2">
                  <c:v>Educação</c:v>
                </c:pt>
                <c:pt idx="3">
                  <c:v>Fundo Financeiro</c:v>
                </c:pt>
                <c:pt idx="4">
                  <c:v>Fundo Estadual de Saúde</c:v>
                </c:pt>
              </c:strCache>
            </c:strRef>
          </c:cat>
          <c:val>
            <c:numRef>
              <c:f>'Chart Data'!$B$2:$B$6</c:f>
              <c:numCache>
                <c:formatCode>[$-pt-BR]#,##0.00</c:formatCode>
                <c:ptCount val="5"/>
                <c:pt idx="0">
                  <c:v>623.3240258</c:v>
                </c:pt>
                <c:pt idx="1">
                  <c:v>844.2051142</c:v>
                </c:pt>
                <c:pt idx="2">
                  <c:v>1165.25776344</c:v>
                </c:pt>
                <c:pt idx="3">
                  <c:v>1477.60204631</c:v>
                </c:pt>
                <c:pt idx="4">
                  <c:v>1560.44375554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4283F"/>
                  </a:solidFill>
                  <a:latin typeface="Arial"/>
                  <a:ea typeface="Arial"/>
                  <a:cs typeface="Arial"/>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4283F"/>
                </a:solidFill>
                <a:latin typeface="Arial"/>
                <a:ea typeface="Arial"/>
                <a:cs typeface="Arial"/>
              </a:defRPr>
            </a:pPr>
          </a:p>
        </c:txPr>
        <c:crossAx val="48672768"/>
      </c:catAx>
      <c:valAx>
        <c:axId val="48672768"/>
        <c:scaling>
          <c:orientation val="minMax"/>
          <c:max val="1950"/>
          <c:min val="0"/>
        </c:scaling>
        <c:delete val="0"/>
        <c:axPos val="b"/>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ValorPago em R$ milhões</c:v>
          </c:tx>
          <c:spPr>
            <a:ln xmlns:a="http://schemas.openxmlformats.org/drawingml/2006/main" w="38100">
              <a:solidFill>
                <a:srgbClr val="2563EB"/>
              </a:solidFill>
            </a:ln>
          </c:spPr>
          <c:marker>
            <c:symbol val="circle"/>
            <c:size val="7"/>
            <c:spPr>
              <a:solidFill xmlns:a="http://schemas.openxmlformats.org/drawingml/2006/main">
                <a:srgbClr val="2563EB"/>
              </a:solidFill>
            </c:spPr>
          </c:marker>
          <c:dPt>
            <c:idx val="11"/>
            <c:spPr>
              <a:solidFill xmlns:a="http://schemas.openxmlformats.org/drawingml/2006/main">
                <a:srgbClr val="14283F"/>
              </a:solidFill>
              <a:ln xmlns:a="http://schemas.openxmlformats.org/drawingml/2006/main" w="19050">
                <a:solidFill>
                  <a:srgbClr val="14283F"/>
                </a:solidFill>
              </a:ln>
            </c:spPr>
          </c:dPt>
          <c:cat>
            <c:strRef>
              <c:f>'Chart Data'!$A$2:$A$13</c:f>
              <c:strCache>
                <c:ptCount val="12"/>
                <c:pt idx="0">
                  <c:v>Jan</c:v>
                </c:pt>
                <c:pt idx="1">
                  <c:v>Fev</c:v>
                </c:pt>
                <c:pt idx="2">
                  <c:v>Mar</c:v>
                </c:pt>
                <c:pt idx="3">
                  <c:v>Abr</c:v>
                </c:pt>
                <c:pt idx="4">
                  <c:v>Mai</c:v>
                </c:pt>
                <c:pt idx="5">
                  <c:v>Jun</c:v>
                </c:pt>
                <c:pt idx="6">
                  <c:v>Jul</c:v>
                </c:pt>
                <c:pt idx="7">
                  <c:v>Ago</c:v>
                </c:pt>
                <c:pt idx="8">
                  <c:v>Set</c:v>
                </c:pt>
                <c:pt idx="9">
                  <c:v>Out</c:v>
                </c:pt>
                <c:pt idx="10">
                  <c:v>Nov</c:v>
                </c:pt>
                <c:pt idx="11">
                  <c:v>Dez</c:v>
                </c:pt>
              </c:strCache>
            </c:strRef>
          </c:cat>
          <c:val>
            <c:numRef>
              <c:f>'Chart Data'!$B$2:$B$13</c:f>
              <c:numCache>
                <c:formatCode>[$-pt-BR]#,##0.00</c:formatCode>
                <c:ptCount val="12"/>
                <c:pt idx="0">
                  <c:v>634.74398843</c:v>
                </c:pt>
                <c:pt idx="1">
                  <c:v>562.14451502</c:v>
                </c:pt>
                <c:pt idx="2">
                  <c:v>461.74798232</c:v>
                </c:pt>
                <c:pt idx="3">
                  <c:v>707.72609549</c:v>
                </c:pt>
                <c:pt idx="4">
                  <c:v>903.26009209</c:v>
                </c:pt>
                <c:pt idx="5">
                  <c:v>812.29691861</c:v>
                </c:pt>
                <c:pt idx="6">
                  <c:v>1094.51740433</c:v>
                </c:pt>
                <c:pt idx="7">
                  <c:v>848.56215994</c:v>
                </c:pt>
                <c:pt idx="8">
                  <c:v>745.54569426</c:v>
                </c:pt>
                <c:pt idx="9">
                  <c:v>1027.41294933</c:v>
                </c:pt>
                <c:pt idx="10">
                  <c:v>891.08690048</c:v>
                </c:pt>
                <c:pt idx="11">
                  <c:v>1648.05415832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C"/>
            </a:solidFill>
          </a:ln>
        </c:spPr>
        <c:txPr>
          <a:bodyPr xmlns:a="http://schemas.openxmlformats.org/drawingml/2006/main" anchorCtr="1"/>
          <a:lstStyle xmlns:a="http://schemas.openxmlformats.org/drawingml/2006/main"/>
          <a:p xmlns:a="http://schemas.openxmlformats.org/drawingml/2006/main">
            <a:pPr>
              <a:defRPr sz="1575">
                <a:solidFill>
                  <a:srgbClr val="14283F"/>
                </a:solidFill>
                <a:latin typeface="Arial"/>
                <a:ea typeface="Arial"/>
                <a:cs typeface="Arial"/>
              </a:defRPr>
            </a:pPr>
          </a:p>
        </c:txPr>
        <c:crossAx val="48672768"/>
      </c:catAx>
      <c:valAx>
        <c:axId val="48672768"/>
        <c:scaling>
          <c:orientation val="minMax"/>
          <c:max val="2000"/>
          <c:min val="0"/>
        </c:scaling>
        <c:delete val="0"/>
        <c:axPos val="l"/>
        <c:majorGridlines>
          <c:spPr>
            <a:ln xmlns:a="http://schemas.openxmlformats.org/drawingml/2006/main" w="9525">
              <a:solidFill>
                <a:srgbClr val="DCE3E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D6D82"/>
                </a:solidFill>
                <a:latin typeface="Arial"/>
                <a:ea typeface="Arial"/>
                <a:cs typeface="Arial"/>
              </a:defRPr>
            </a:pPr>
          </a:p>
        </c:txPr>
        <c:crossAx val="48650112"/>
        <c:crossBetween val="between"/>
        <c:majorUnit val="5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61D82DE-3D9A-4F8D-B6F1-780E21F27023}"/>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371CB452-14ED-4E47-8E7A-9A465116E79E}"/>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PROPOSTA</a:t>
            </a:r>
          </a:p>
        </p:txBody>
      </p:sp>
      <p:sp>
        <p:nvSpPr>
          <p:cNvPr id="3" name="">
            <a:extLst xmlns:a="http://schemas.openxmlformats.org/drawingml/2006/main">
              <a:ext uri="{FF2B5EF4-FFF2-40B4-BE49-F238E27FC236}">
                <a16:creationId xmlns:a16="http://schemas.microsoft.com/office/drawing/2014/main" id="{ADDCBF7C-057A-464E-8657-4CC2D855AB47}"/>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4" name="">
            <a:extLst xmlns:a="http://schemas.openxmlformats.org/drawingml/2006/main">
              <a:ext uri="{FF2B5EF4-FFF2-40B4-BE49-F238E27FC236}">
                <a16:creationId xmlns:a16="http://schemas.microsoft.com/office/drawing/2014/main" id="{456EAFB0-8206-49BE-A822-0A513EA4194F}"/>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01 / 08</a:t>
            </a:r>
          </a:p>
        </p:txBody>
      </p:sp>
      <p:sp>
        <p:nvSpPr>
          <p:cNvPr id="5" name="">
            <a:extLst xmlns:a="http://schemas.openxmlformats.org/drawingml/2006/main">
              <a:ext uri="{FF2B5EF4-FFF2-40B4-BE49-F238E27FC236}">
                <a16:creationId xmlns:a16="http://schemas.microsoft.com/office/drawing/2014/main" id="{D19D42F2-51E1-4E8F-96E6-41C02DC419B9}"/>
              </a:ext>
            </a:extLst>
          </p:cNvPr>
          <p:cNvSpPr>
            <a:spLocks xmlns:a="http://schemas.openxmlformats.org/drawingml/2006/main" noGrp="1"/>
          </p:cNvSpPr>
          <p:nvPr/>
        </p:nvSpPr>
        <p:spPr>
          <a:xfrm xmlns:a="http://schemas.openxmlformats.org/drawingml/2006/main">
            <a:off x="609600" y="10001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1">
                <a:solidFill>
                  <a:srgbClr val="2563EB"/>
                </a:solidFill>
                <a:latin typeface="Arial"/>
                <a:ea typeface="Arial"/>
                <a:cs typeface="Arial"/>
              </a:defRPr>
            </a:pPr>
            <a:r>
              <a:rPr sz="1575" b="1">
                <a:solidFill>
                  <a:srgbClr val="2563EB"/>
                </a:solidFill>
                <a:latin typeface="Arial"/>
                <a:ea typeface="Arial"/>
                <a:cs typeface="Arial"/>
              </a:rPr>
              <a:t>PROPOSTA TÉCNICA E PROVA DE CONCEITO</a:t>
            </a:r>
          </a:p>
        </p:txBody>
      </p:sp>
      <p:sp>
        <p:nvSpPr>
          <p:cNvPr id="6" name="">
            <a:extLst xmlns:a="http://schemas.openxmlformats.org/drawingml/2006/main">
              <a:ext uri="{FF2B5EF4-FFF2-40B4-BE49-F238E27FC236}">
                <a16:creationId xmlns:a16="http://schemas.microsoft.com/office/drawing/2014/main" id="{5506DD68-D98E-4DC3-A66B-2A01A2BA7085}"/>
              </a:ext>
            </a:extLst>
          </p:cNvPr>
          <p:cNvSpPr>
            <a:spLocks xmlns:a="http://schemas.openxmlformats.org/drawingml/2006/main" noGrp="1"/>
          </p:cNvSpPr>
          <p:nvPr/>
        </p:nvSpPr>
        <p:spPr>
          <a:xfrm xmlns:a="http://schemas.openxmlformats.org/drawingml/2006/main">
            <a:off x="609600" y="15144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14283F"/>
                </a:solidFill>
                <a:latin typeface="Arial"/>
                <a:ea typeface="Arial"/>
                <a:cs typeface="Arial"/>
              </a:defRPr>
            </a:pPr>
            <a:r>
              <a:rPr sz="4800" b="1">
                <a:solidFill>
                  <a:srgbClr val="14283F"/>
                </a:solidFill>
                <a:latin typeface="Arial"/>
                <a:ea typeface="Arial"/>
                <a:cs typeface="Arial"/>
              </a:rPr>
              <a:t>Pagamentos ES 2024</a:t>
            </a:r>
          </a:p>
        </p:txBody>
      </p:sp>
      <p:sp>
        <p:nvSpPr>
          <p:cNvPr id="7" name="">
            <a:extLst xmlns:a="http://schemas.openxmlformats.org/drawingml/2006/main">
              <a:ext uri="{FF2B5EF4-FFF2-40B4-BE49-F238E27FC236}">
                <a16:creationId xmlns:a16="http://schemas.microsoft.com/office/drawing/2014/main" id="{D80A03D7-FB8E-4BA3-89CE-27F59CFA9D0D}"/>
              </a:ext>
            </a:extLst>
          </p:cNvPr>
          <p:cNvSpPr>
            <a:spLocks xmlns:a="http://schemas.openxmlformats.org/drawingml/2006/main" noGrp="1"/>
          </p:cNvSpPr>
          <p:nvPr/>
        </p:nvSpPr>
        <p:spPr>
          <a:xfrm xmlns:a="http://schemas.openxmlformats.org/drawingml/2006/main">
            <a:off x="609600" y="25146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Análise de despesas públicas</a:t>
            </a:r>
          </a:p>
        </p:txBody>
      </p:sp>
      <p:sp>
        <p:nvSpPr>
          <p:cNvPr id="8" name="">
            <a:extLst xmlns:a="http://schemas.openxmlformats.org/drawingml/2006/main">
              <a:ext uri="{FF2B5EF4-FFF2-40B4-BE49-F238E27FC236}">
                <a16:creationId xmlns:a16="http://schemas.microsoft.com/office/drawing/2014/main" id="{C69A8F00-DE87-44A2-AF94-DEB0170BE9B3}"/>
              </a:ext>
            </a:extLst>
          </p:cNvPr>
          <p:cNvSpPr>
            <a:spLocks xmlns:a="http://schemas.openxmlformats.org/drawingml/2006/main" noGrp="1"/>
          </p:cNvSpPr>
          <p:nvPr/>
        </p:nvSpPr>
        <p:spPr>
          <a:xfrm xmlns:a="http://schemas.openxmlformats.org/drawingml/2006/main">
            <a:off x="609600" y="3124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D6D82"/>
                </a:solidFill>
                <a:latin typeface="Arial"/>
                <a:ea typeface="Arial"/>
                <a:cs typeface="Arial"/>
              </a:defRPr>
            </a:pPr>
            <a:r>
              <a:rPr sz="2025" b="0">
                <a:solidFill>
                  <a:srgbClr val="5D6D82"/>
                </a:solidFill>
                <a:latin typeface="Arial"/>
                <a:ea typeface="Arial"/>
                <a:cs typeface="Arial"/>
              </a:rPr>
              <a:t>Consulta por unidade gestora e período, com origem verificável.</a:t>
            </a:r>
          </a:p>
        </p:txBody>
      </p:sp>
      <p:sp>
        <p:nvSpPr>
          <p:cNvPr id="9" name="">
            <a:extLst xmlns:a="http://schemas.openxmlformats.org/drawingml/2006/main">
              <a:ext uri="{FF2B5EF4-FFF2-40B4-BE49-F238E27FC236}">
                <a16:creationId xmlns:a16="http://schemas.microsoft.com/office/drawing/2014/main" id="{812A5179-B842-4AD4-919F-E1F27234CD42}"/>
              </a:ext>
            </a:extLst>
          </p:cNvPr>
          <p:cNvSpPr>
            <a:spLocks xmlns:a="http://schemas.openxmlformats.org/drawingml/2006/main" noGrp="1"/>
          </p:cNvSpPr>
          <p:nvPr/>
        </p:nvSpPr>
        <p:spPr>
          <a:xfrm xmlns:a="http://schemas.openxmlformats.org/drawingml/2006/main">
            <a:off x="609600" y="35623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Para gestores públicos e analistas de controle interno</a:t>
            </a:r>
          </a:p>
        </p:txBody>
      </p:sp>
      <p:sp>
        <p:nvSpPr>
          <p:cNvPr id="10" name="">
            <a:extLst xmlns:a="http://schemas.openxmlformats.org/drawingml/2006/main">
              <a:ext uri="{FF2B5EF4-FFF2-40B4-BE49-F238E27FC236}">
                <a16:creationId xmlns:a16="http://schemas.microsoft.com/office/drawing/2014/main" id="{8041AE54-D89E-4E69-91C9-7028CD07472C}"/>
              </a:ext>
            </a:extLst>
          </p:cNvPr>
          <p:cNvSpPr>
            <a:spLocks xmlns:a="http://schemas.openxmlformats.org/drawingml/2006/main" noGrp="1"/>
          </p:cNvSpPr>
          <p:nvPr/>
        </p:nvSpPr>
        <p:spPr>
          <a:xfrm xmlns:a="http://schemas.openxmlformats.org/drawingml/2006/main">
            <a:off x="609600" y="412432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1" name="">
            <a:extLst xmlns:a="http://schemas.openxmlformats.org/drawingml/2006/main">
              <a:ext uri="{FF2B5EF4-FFF2-40B4-BE49-F238E27FC236}">
                <a16:creationId xmlns:a16="http://schemas.microsoft.com/office/drawing/2014/main" id="{BA8D2F8B-308F-42F9-A4A6-25B29DC21CEB}"/>
              </a:ext>
            </a:extLst>
          </p:cNvPr>
          <p:cNvSpPr>
            <a:spLocks xmlns:a="http://schemas.openxmlformats.org/drawingml/2006/main" noGrp="1"/>
          </p:cNvSpPr>
          <p:nvPr/>
        </p:nvSpPr>
        <p:spPr>
          <a:xfrm xmlns:a="http://schemas.openxmlformats.org/drawingml/2006/main">
            <a:off x="609600" y="432435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563EB"/>
                </a:solidFill>
                <a:latin typeface="Arial"/>
                <a:ea typeface="Arial"/>
                <a:cs typeface="Arial"/>
              </a:defRPr>
            </a:pPr>
            <a:r>
              <a:rPr sz="3600" b="1">
                <a:solidFill>
                  <a:srgbClr val="2563EB"/>
                </a:solidFill>
                <a:latin typeface="Arial"/>
                <a:ea typeface="Arial"/>
                <a:cs typeface="Arial"/>
              </a:rPr>
              <a:t>505.950</a:t>
            </a:r>
          </a:p>
        </p:txBody>
      </p:sp>
      <p:sp>
        <p:nvSpPr>
          <p:cNvPr id="12" name="">
            <a:extLst xmlns:a="http://schemas.openxmlformats.org/drawingml/2006/main">
              <a:ext uri="{FF2B5EF4-FFF2-40B4-BE49-F238E27FC236}">
                <a16:creationId xmlns:a16="http://schemas.microsoft.com/office/drawing/2014/main" id="{22622954-2D50-4D25-BF01-2C4AA542010A}"/>
              </a:ext>
            </a:extLst>
          </p:cNvPr>
          <p:cNvSpPr>
            <a:spLocks xmlns:a="http://schemas.openxmlformats.org/drawingml/2006/main" noGrp="1"/>
          </p:cNvSpPr>
          <p:nvPr/>
        </p:nvSpPr>
        <p:spPr>
          <a:xfrm xmlns:a="http://schemas.openxmlformats.org/drawingml/2006/main">
            <a:off x="609600" y="49625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D6D82"/>
                </a:solidFill>
                <a:latin typeface="Arial"/>
                <a:ea typeface="Arial"/>
                <a:cs typeface="Arial"/>
              </a:defRPr>
            </a:pPr>
            <a:r>
              <a:rPr sz="1575" b="0">
                <a:solidFill>
                  <a:srgbClr val="5D6D82"/>
                </a:solidFill>
                <a:latin typeface="Arial"/>
                <a:ea typeface="Arial"/>
                <a:cs typeface="Arial"/>
              </a:rPr>
              <a:t>registros recebidos</a:t>
            </a:r>
          </a:p>
        </p:txBody>
      </p:sp>
      <p:sp>
        <p:nvSpPr>
          <p:cNvPr id="13" name="">
            <a:extLst xmlns:a="http://schemas.openxmlformats.org/drawingml/2006/main">
              <a:ext uri="{FF2B5EF4-FFF2-40B4-BE49-F238E27FC236}">
                <a16:creationId xmlns:a16="http://schemas.microsoft.com/office/drawing/2014/main" id="{3B4C2C8E-38B0-40F9-B5CC-EC72D96761ED}"/>
              </a:ext>
            </a:extLst>
          </p:cNvPr>
          <p:cNvSpPr>
            <a:spLocks xmlns:a="http://schemas.openxmlformats.org/drawingml/2006/main" noGrp="1"/>
          </p:cNvSpPr>
          <p:nvPr/>
        </p:nvSpPr>
        <p:spPr>
          <a:xfrm xmlns:a="http://schemas.openxmlformats.org/drawingml/2006/main">
            <a:off x="4381500" y="432435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563EB"/>
                </a:solidFill>
                <a:latin typeface="Arial"/>
                <a:ea typeface="Arial"/>
                <a:cs typeface="Arial"/>
              </a:defRPr>
            </a:pPr>
            <a:r>
              <a:rPr sz="3600" b="1">
                <a:solidFill>
                  <a:srgbClr val="2563EB"/>
                </a:solidFill>
                <a:latin typeface="Arial"/>
                <a:ea typeface="Arial"/>
                <a:cs typeface="Arial"/>
              </a:rPr>
              <a:t>117</a:t>
            </a:r>
          </a:p>
        </p:txBody>
      </p:sp>
      <p:sp>
        <p:nvSpPr>
          <p:cNvPr id="14" name="">
            <a:extLst xmlns:a="http://schemas.openxmlformats.org/drawingml/2006/main">
              <a:ext uri="{FF2B5EF4-FFF2-40B4-BE49-F238E27FC236}">
                <a16:creationId xmlns:a16="http://schemas.microsoft.com/office/drawing/2014/main" id="{B958F434-F00C-4F5A-A332-66EFCF32240D}"/>
              </a:ext>
            </a:extLst>
          </p:cNvPr>
          <p:cNvSpPr>
            <a:spLocks xmlns:a="http://schemas.openxmlformats.org/drawingml/2006/main" noGrp="1"/>
          </p:cNvSpPr>
          <p:nvPr/>
        </p:nvSpPr>
        <p:spPr>
          <a:xfrm xmlns:a="http://schemas.openxmlformats.org/drawingml/2006/main">
            <a:off x="4381500" y="49625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D6D82"/>
                </a:solidFill>
                <a:latin typeface="Arial"/>
                <a:ea typeface="Arial"/>
                <a:cs typeface="Arial"/>
              </a:defRPr>
            </a:pPr>
            <a:r>
              <a:rPr sz="1575" b="0">
                <a:solidFill>
                  <a:srgbClr val="5D6D82"/>
                </a:solidFill>
                <a:latin typeface="Arial"/>
                <a:ea typeface="Arial"/>
                <a:cs typeface="Arial"/>
              </a:rPr>
              <a:t>unidades gestoras</a:t>
            </a:r>
          </a:p>
        </p:txBody>
      </p:sp>
      <p:sp>
        <p:nvSpPr>
          <p:cNvPr id="15" name="">
            <a:extLst xmlns:a="http://schemas.openxmlformats.org/drawingml/2006/main">
              <a:ext uri="{FF2B5EF4-FFF2-40B4-BE49-F238E27FC236}">
                <a16:creationId xmlns:a16="http://schemas.microsoft.com/office/drawing/2014/main" id="{811EF5E9-85E3-4957-BCB0-3176BF5AE7E1}"/>
              </a:ext>
            </a:extLst>
          </p:cNvPr>
          <p:cNvSpPr>
            <a:spLocks xmlns:a="http://schemas.openxmlformats.org/drawingml/2006/main" noGrp="1"/>
          </p:cNvSpPr>
          <p:nvPr/>
        </p:nvSpPr>
        <p:spPr>
          <a:xfrm xmlns:a="http://schemas.openxmlformats.org/drawingml/2006/main">
            <a:off x="8153400" y="432435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563EB"/>
                </a:solidFill>
                <a:latin typeface="Arial"/>
                <a:ea typeface="Arial"/>
                <a:cs typeface="Arial"/>
              </a:defRPr>
            </a:pPr>
            <a:r>
              <a:rPr sz="3600" b="1">
                <a:solidFill>
                  <a:srgbClr val="2563EB"/>
                </a:solidFill>
                <a:latin typeface="Arial"/>
                <a:ea typeface="Arial"/>
                <a:cs typeface="Arial"/>
              </a:rPr>
              <a:t>2024</a:t>
            </a:r>
          </a:p>
        </p:txBody>
      </p:sp>
      <p:sp>
        <p:nvSpPr>
          <p:cNvPr id="16" name="">
            <a:extLst xmlns:a="http://schemas.openxmlformats.org/drawingml/2006/main">
              <a:ext uri="{FF2B5EF4-FFF2-40B4-BE49-F238E27FC236}">
                <a16:creationId xmlns:a16="http://schemas.microsoft.com/office/drawing/2014/main" id="{B070192E-BC86-42C3-B77C-4D847D594255}"/>
              </a:ext>
            </a:extLst>
          </p:cNvPr>
          <p:cNvSpPr>
            <a:spLocks xmlns:a="http://schemas.openxmlformats.org/drawingml/2006/main" noGrp="1"/>
          </p:cNvSpPr>
          <p:nvPr/>
        </p:nvSpPr>
        <p:spPr>
          <a:xfrm xmlns:a="http://schemas.openxmlformats.org/drawingml/2006/main">
            <a:off x="8153400" y="49625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D6D82"/>
                </a:solidFill>
                <a:latin typeface="Arial"/>
                <a:ea typeface="Arial"/>
                <a:cs typeface="Arial"/>
              </a:defRPr>
            </a:pPr>
            <a:r>
              <a:rPr sz="1575" b="0">
                <a:solidFill>
                  <a:srgbClr val="5D6D82"/>
                </a:solidFill>
                <a:latin typeface="Arial"/>
                <a:ea typeface="Arial"/>
                <a:cs typeface="Arial"/>
              </a:rPr>
              <a:t>ano do recorte</a:t>
            </a:r>
          </a:p>
        </p:txBody>
      </p:sp>
      <p:sp>
        <p:nvSpPr>
          <p:cNvPr id="17" name="">
            <a:extLst xmlns:a="http://schemas.openxmlformats.org/drawingml/2006/main">
              <a:ext uri="{FF2B5EF4-FFF2-40B4-BE49-F238E27FC236}">
                <a16:creationId xmlns:a16="http://schemas.microsoft.com/office/drawing/2014/main" id="{E1C7D81E-D07E-4B02-8470-50D7F18E6CBA}"/>
              </a:ext>
            </a:extLst>
          </p:cNvPr>
          <p:cNvSpPr>
            <a:spLocks xmlns:a="http://schemas.openxmlformats.org/drawingml/2006/main" noGrp="1"/>
          </p:cNvSpPr>
          <p:nvPr/>
        </p:nvSpPr>
        <p:spPr>
          <a:xfrm xmlns:a="http://schemas.openxmlformats.org/drawingml/2006/main">
            <a:off x="609600" y="5505450"/>
            <a:ext cx="526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Luigi Mendes Cabrini · RM 563552</a:t>
            </a:r>
          </a:p>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Bruno Koeke · RM 561309</a:t>
            </a:r>
          </a:p>
        </p:txBody>
      </p:sp>
      <p:sp>
        <p:nvSpPr>
          <p:cNvPr id="18" name="">
            <a:extLst xmlns:a="http://schemas.openxmlformats.org/drawingml/2006/main">
              <a:ext uri="{FF2B5EF4-FFF2-40B4-BE49-F238E27FC236}">
                <a16:creationId xmlns:a16="http://schemas.microsoft.com/office/drawing/2014/main" id="{8A43393D-4F13-4788-B1F1-78D49F40EE02}"/>
              </a:ext>
            </a:extLst>
          </p:cNvPr>
          <p:cNvSpPr>
            <a:spLocks xmlns:a="http://schemas.openxmlformats.org/drawingml/2006/main" noGrp="1"/>
          </p:cNvSpPr>
          <p:nvPr/>
        </p:nvSpPr>
        <p:spPr>
          <a:xfrm xmlns:a="http://schemas.openxmlformats.org/drawingml/2006/main">
            <a:off x="6286500" y="5505450"/>
            <a:ext cx="529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Rogério Cruz Arroyo · RM 563517</a:t>
            </a:r>
          </a:p>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Anthony Sforzin · RM 562096</a:t>
            </a:r>
          </a:p>
        </p:txBody>
      </p:sp>
      <p:sp>
        <p:nvSpPr>
          <p:cNvPr id="19" name="">
            <a:extLst xmlns:a="http://schemas.openxmlformats.org/drawingml/2006/main">
              <a:ext uri="{FF2B5EF4-FFF2-40B4-BE49-F238E27FC236}">
                <a16:creationId xmlns:a16="http://schemas.microsoft.com/office/drawing/2014/main" id="{07C93385-B592-40AE-B57C-3A0862F9EFF3}"/>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2ESPH-2026. Equipe Pagamentos ES 2024. Proponente fictícia no CPSI simulado.</a:t>
            </a:r>
          </a:p>
        </p:txBody>
      </p:sp>
    </p:spTree>
    <p:extLst>
      <p:ext uri="{BB962C8B-B14F-4D97-AF65-F5344CB8AC3E}">
        <p14:creationId xmlns:p14="http://schemas.microsoft.com/office/powerpoint/2010/main" val="19537553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6687089-AF0D-44F0-8718-951DBE98486D}"/>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3239B520-6F3A-4449-A3FF-9CA9B81A59C0}"/>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DADOS E MÉTODO</a:t>
            </a:r>
          </a:p>
        </p:txBody>
      </p:sp>
      <p:sp>
        <p:nvSpPr>
          <p:cNvPr id="3" name="">
            <a:extLst xmlns:a="http://schemas.openxmlformats.org/drawingml/2006/main">
              <a:ext uri="{FF2B5EF4-FFF2-40B4-BE49-F238E27FC236}">
                <a16:creationId xmlns:a16="http://schemas.microsoft.com/office/drawing/2014/main" id="{A1F23AA2-BF4E-416C-9F9D-D755A01966A2}"/>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83F"/>
                </a:solidFill>
                <a:latin typeface="Arial"/>
                <a:ea typeface="Arial"/>
                <a:cs typeface="Arial"/>
              </a:defRPr>
            </a:pPr>
            <a:r>
              <a:rPr sz="3225" b="1">
                <a:solidFill>
                  <a:srgbClr val="14283F"/>
                </a:solidFill>
                <a:latin typeface="Arial"/>
                <a:ea typeface="Arial"/>
                <a:cs typeface="Arial"/>
              </a:rPr>
              <a:t>Base de dados e metodologia</a:t>
            </a:r>
          </a:p>
        </p:txBody>
      </p:sp>
      <p:sp>
        <p:nvSpPr>
          <p:cNvPr id="4" name="">
            <a:extLst xmlns:a="http://schemas.openxmlformats.org/drawingml/2006/main">
              <a:ext uri="{FF2B5EF4-FFF2-40B4-BE49-F238E27FC236}">
                <a16:creationId xmlns:a16="http://schemas.microsoft.com/office/drawing/2014/main" id="{B5931818-24C5-458C-9AD9-E63D1BBE5C01}"/>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5" name="">
            <a:extLst xmlns:a="http://schemas.openxmlformats.org/drawingml/2006/main">
              <a:ext uri="{FF2B5EF4-FFF2-40B4-BE49-F238E27FC236}">
                <a16:creationId xmlns:a16="http://schemas.microsoft.com/office/drawing/2014/main" id="{AB3FFB61-22D9-4F90-8E13-940258C38D71}"/>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02 / 08</a:t>
            </a:r>
          </a:p>
        </p:txBody>
      </p:sp>
      <p:sp>
        <p:nvSpPr>
          <p:cNvPr id="6" name="">
            <a:extLst xmlns:a="http://schemas.openxmlformats.org/drawingml/2006/main">
              <a:ext uri="{FF2B5EF4-FFF2-40B4-BE49-F238E27FC236}">
                <a16:creationId xmlns:a16="http://schemas.microsoft.com/office/drawing/2014/main" id="{8956E2D6-33AF-4619-8F06-FF61EC6DD984}"/>
              </a:ext>
            </a:extLst>
          </p:cNvPr>
          <p:cNvSpPr>
            <a:spLocks xmlns:a="http://schemas.openxmlformats.org/drawingml/2006/main" noGrp="1"/>
          </p:cNvSpPr>
          <p:nvPr/>
        </p:nvSpPr>
        <p:spPr>
          <a:xfrm xmlns:a="http://schemas.openxmlformats.org/drawingml/2006/main">
            <a:off x="609600" y="15049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2563EB"/>
                </a:solidFill>
                <a:latin typeface="Arial"/>
                <a:ea typeface="Arial"/>
                <a:cs typeface="Arial"/>
              </a:defRPr>
            </a:pPr>
            <a:r>
              <a:rPr sz="3900" b="1">
                <a:solidFill>
                  <a:srgbClr val="2563EB"/>
                </a:solidFill>
                <a:latin typeface="Arial"/>
                <a:ea typeface="Arial"/>
                <a:cs typeface="Arial"/>
              </a:rPr>
              <a:t>4 arquivos</a:t>
            </a:r>
          </a:p>
        </p:txBody>
      </p:sp>
      <p:sp>
        <p:nvSpPr>
          <p:cNvPr id="7" name="">
            <a:extLst xmlns:a="http://schemas.openxmlformats.org/drawingml/2006/main">
              <a:ext uri="{FF2B5EF4-FFF2-40B4-BE49-F238E27FC236}">
                <a16:creationId xmlns:a16="http://schemas.microsoft.com/office/drawing/2014/main" id="{66CD3175-9CBE-4124-AFCE-FC6B46A4A942}"/>
              </a:ext>
            </a:extLst>
          </p:cNvPr>
          <p:cNvSpPr>
            <a:spLocks xmlns:a="http://schemas.openxmlformats.org/drawingml/2006/main" noGrp="1"/>
          </p:cNvSpPr>
          <p:nvPr/>
        </p:nvSpPr>
        <p:spPr>
          <a:xfrm xmlns:a="http://schemas.openxmlformats.org/drawingml/2006/main">
            <a:off x="609600" y="2314575"/>
            <a:ext cx="3429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2024, recorte sistemático</a:t>
            </a:r>
          </a:p>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505.950 registros</a:t>
            </a:r>
          </a:p>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117 unidades gestoras</a:t>
            </a:r>
          </a:p>
        </p:txBody>
      </p:sp>
      <p:sp>
        <p:nvSpPr>
          <p:cNvPr id="8" name="">
            <a:extLst xmlns:a="http://schemas.openxmlformats.org/drawingml/2006/main">
              <a:ext uri="{FF2B5EF4-FFF2-40B4-BE49-F238E27FC236}">
                <a16:creationId xmlns:a16="http://schemas.microsoft.com/office/drawing/2014/main" id="{FB141FA4-740D-405A-BEAB-CFDC052E7515}"/>
              </a:ext>
            </a:extLst>
          </p:cNvPr>
          <p:cNvSpPr>
            <a:spLocks xmlns:a="http://schemas.openxmlformats.org/drawingml/2006/main" noGrp="1"/>
          </p:cNvSpPr>
          <p:nvPr/>
        </p:nvSpPr>
        <p:spPr>
          <a:xfrm xmlns:a="http://schemas.openxmlformats.org/drawingml/2006/main">
            <a:off x="609600" y="4057650"/>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2563EB"/>
                </a:solidFill>
                <a:latin typeface="Arial"/>
                <a:ea typeface="Arial"/>
                <a:cs typeface="Arial"/>
              </a:defRPr>
            </a:pPr>
            <a:r>
              <a:rPr sz="2700" b="1">
                <a:solidFill>
                  <a:srgbClr val="2563EB"/>
                </a:solidFill>
                <a:latin typeface="Arial"/>
                <a:ea typeface="Arial"/>
                <a:cs typeface="Arial"/>
              </a:rPr>
              <a:t>ValorPago</a:t>
            </a:r>
          </a:p>
        </p:txBody>
      </p:sp>
      <p:sp>
        <p:nvSpPr>
          <p:cNvPr id="9" name="">
            <a:extLst xmlns:a="http://schemas.openxmlformats.org/drawingml/2006/main">
              <a:ext uri="{FF2B5EF4-FFF2-40B4-BE49-F238E27FC236}">
                <a16:creationId xmlns:a16="http://schemas.microsoft.com/office/drawing/2014/main" id="{0D187729-54F5-4F44-A5A0-303B85310D79}"/>
              </a:ext>
            </a:extLst>
          </p:cNvPr>
          <p:cNvSpPr>
            <a:spLocks xmlns:a="http://schemas.openxmlformats.org/drawingml/2006/main" noGrp="1"/>
          </p:cNvSpPr>
          <p:nvPr/>
        </p:nvSpPr>
        <p:spPr>
          <a:xfrm xmlns:a="http://schemas.openxmlformats.org/drawingml/2006/main">
            <a:off x="609600" y="4657725"/>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Soma líquida em centavos.</a:t>
            </a:r>
          </a:p>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Zeros e negativos preservados.</a:t>
            </a:r>
          </a:p>
        </p:txBody>
      </p:sp>
      <p:sp>
        <p:nvSpPr>
          <p:cNvPr id="10" name="">
            <a:extLst xmlns:a="http://schemas.openxmlformats.org/drawingml/2006/main">
              <a:ext uri="{FF2B5EF4-FFF2-40B4-BE49-F238E27FC236}">
                <a16:creationId xmlns:a16="http://schemas.microsoft.com/office/drawing/2014/main" id="{95E5C9E1-F3B2-4C0D-941F-F000823E4DEF}"/>
              </a:ext>
            </a:extLst>
          </p:cNvPr>
          <p:cNvSpPr>
            <a:spLocks xmlns:a="http://schemas.openxmlformats.org/drawingml/2006/main" noGrp="1"/>
          </p:cNvSpPr>
          <p:nvPr/>
        </p:nvSpPr>
        <p:spPr>
          <a:xfrm xmlns:a="http://schemas.openxmlformats.org/drawingml/2006/main">
            <a:off x="4686300" y="1504950"/>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01  Importação</a:t>
            </a:r>
          </a:p>
        </p:txBody>
      </p:sp>
      <p:sp>
        <p:nvSpPr>
          <p:cNvPr id="11" name="">
            <a:extLst xmlns:a="http://schemas.openxmlformats.org/drawingml/2006/main">
              <a:ext uri="{FF2B5EF4-FFF2-40B4-BE49-F238E27FC236}">
                <a16:creationId xmlns:a16="http://schemas.microsoft.com/office/drawing/2014/main" id="{8333888C-B754-497A-B5F5-2947D3E7F64B}"/>
              </a:ext>
            </a:extLst>
          </p:cNvPr>
          <p:cNvSpPr>
            <a:spLocks xmlns:a="http://schemas.openxmlformats.org/drawingml/2006/main" noGrp="1"/>
          </p:cNvSpPr>
          <p:nvPr/>
        </p:nvSpPr>
        <p:spPr>
          <a:xfrm xmlns:a="http://schemas.openxmlformats.org/drawingml/2006/main">
            <a:off x="4686300" y="1914525"/>
            <a:ext cx="681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CSV com ;, UTF-8 BOM e vírgula decimal.</a:t>
            </a:r>
          </a:p>
        </p:txBody>
      </p:sp>
      <p:sp>
        <p:nvSpPr>
          <p:cNvPr id="12" name="">
            <a:extLst xmlns:a="http://schemas.openxmlformats.org/drawingml/2006/main">
              <a:ext uri="{FF2B5EF4-FFF2-40B4-BE49-F238E27FC236}">
                <a16:creationId xmlns:a16="http://schemas.microsoft.com/office/drawing/2014/main" id="{35DBF2C7-CB85-44B8-902D-D936A8D29608}"/>
              </a:ext>
            </a:extLst>
          </p:cNvPr>
          <p:cNvSpPr>
            <a:spLocks xmlns:a="http://schemas.openxmlformats.org/drawingml/2006/main" noGrp="1"/>
          </p:cNvSpPr>
          <p:nvPr/>
        </p:nvSpPr>
        <p:spPr>
          <a:xfrm xmlns:a="http://schemas.openxmlformats.org/drawingml/2006/main">
            <a:off x="4686300" y="2438400"/>
            <a:ext cx="68580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3" name="">
            <a:extLst xmlns:a="http://schemas.openxmlformats.org/drawingml/2006/main">
              <a:ext uri="{FF2B5EF4-FFF2-40B4-BE49-F238E27FC236}">
                <a16:creationId xmlns:a16="http://schemas.microsoft.com/office/drawing/2014/main" id="{915FAFA9-CE74-4D4E-932A-5F579402B1C3}"/>
              </a:ext>
            </a:extLst>
          </p:cNvPr>
          <p:cNvSpPr>
            <a:spLocks xmlns:a="http://schemas.openxmlformats.org/drawingml/2006/main" noGrp="1"/>
          </p:cNvSpPr>
          <p:nvPr/>
        </p:nvSpPr>
        <p:spPr>
          <a:xfrm xmlns:a="http://schemas.openxmlformats.org/drawingml/2006/main">
            <a:off x="4686300" y="2543175"/>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02  Auditoria</a:t>
            </a:r>
          </a:p>
        </p:txBody>
      </p:sp>
      <p:sp>
        <p:nvSpPr>
          <p:cNvPr id="14" name="">
            <a:extLst xmlns:a="http://schemas.openxmlformats.org/drawingml/2006/main">
              <a:ext uri="{FF2B5EF4-FFF2-40B4-BE49-F238E27FC236}">
                <a16:creationId xmlns:a16="http://schemas.microsoft.com/office/drawing/2014/main" id="{5A4B0D4C-1013-4E92-BD1A-181AD8E08935}"/>
              </a:ext>
            </a:extLst>
          </p:cNvPr>
          <p:cNvSpPr>
            <a:spLocks xmlns:a="http://schemas.openxmlformats.org/drawingml/2006/main" noGrp="1"/>
          </p:cNvSpPr>
          <p:nvPr/>
        </p:nvSpPr>
        <p:spPr>
          <a:xfrm xmlns:a="http://schemas.openxmlformats.org/drawingml/2006/main">
            <a:off x="4686300" y="2952750"/>
            <a:ext cx="681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Zero inválidos e duplicatas completas.</a:t>
            </a:r>
          </a:p>
        </p:txBody>
      </p:sp>
      <p:sp>
        <p:nvSpPr>
          <p:cNvPr id="15" name="">
            <a:extLst xmlns:a="http://schemas.openxmlformats.org/drawingml/2006/main">
              <a:ext uri="{FF2B5EF4-FFF2-40B4-BE49-F238E27FC236}">
                <a16:creationId xmlns:a16="http://schemas.microsoft.com/office/drawing/2014/main" id="{E4D55EB8-3124-44F8-95A8-E30FF13DD755}"/>
              </a:ext>
            </a:extLst>
          </p:cNvPr>
          <p:cNvSpPr>
            <a:spLocks xmlns:a="http://schemas.openxmlformats.org/drawingml/2006/main" noGrp="1"/>
          </p:cNvSpPr>
          <p:nvPr/>
        </p:nvSpPr>
        <p:spPr>
          <a:xfrm xmlns:a="http://schemas.openxmlformats.org/drawingml/2006/main">
            <a:off x="4686300" y="3476625"/>
            <a:ext cx="68580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6" name="">
            <a:extLst xmlns:a="http://schemas.openxmlformats.org/drawingml/2006/main">
              <a:ext uri="{FF2B5EF4-FFF2-40B4-BE49-F238E27FC236}">
                <a16:creationId xmlns:a16="http://schemas.microsoft.com/office/drawing/2014/main" id="{80E23D7A-6905-4E7F-9B0F-B88C754732C7}"/>
              </a:ext>
            </a:extLst>
          </p:cNvPr>
          <p:cNvSpPr>
            <a:spLocks xmlns:a="http://schemas.openxmlformats.org/drawingml/2006/main" noGrp="1"/>
          </p:cNvSpPr>
          <p:nvPr/>
        </p:nvSpPr>
        <p:spPr>
          <a:xfrm xmlns:a="http://schemas.openxmlformats.org/drawingml/2006/main">
            <a:off x="4686300" y="3581400"/>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03  Comparação</a:t>
            </a:r>
          </a:p>
        </p:txBody>
      </p:sp>
      <p:sp>
        <p:nvSpPr>
          <p:cNvPr id="17" name="">
            <a:extLst xmlns:a="http://schemas.openxmlformats.org/drawingml/2006/main">
              <a:ext uri="{FF2B5EF4-FFF2-40B4-BE49-F238E27FC236}">
                <a16:creationId xmlns:a16="http://schemas.microsoft.com/office/drawing/2014/main" id="{AA12B2D5-896C-49FF-B339-B0101EDF6267}"/>
              </a:ext>
            </a:extLst>
          </p:cNvPr>
          <p:cNvSpPr>
            <a:spLocks xmlns:a="http://schemas.openxmlformats.org/drawingml/2006/main" noGrp="1"/>
          </p:cNvSpPr>
          <p:nvPr/>
        </p:nvSpPr>
        <p:spPr>
          <a:xfrm xmlns:a="http://schemas.openxmlformats.org/drawingml/2006/main">
            <a:off x="4686300" y="3990975"/>
            <a:ext cx="681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Orgao vazio. Agrupamento por unidade gestora.</a:t>
            </a:r>
          </a:p>
        </p:txBody>
      </p:sp>
      <p:sp>
        <p:nvSpPr>
          <p:cNvPr id="18" name="">
            <a:extLst xmlns:a="http://schemas.openxmlformats.org/drawingml/2006/main">
              <a:ext uri="{FF2B5EF4-FFF2-40B4-BE49-F238E27FC236}">
                <a16:creationId xmlns:a16="http://schemas.microsoft.com/office/drawing/2014/main" id="{4F3781C6-7ABC-45EE-8DE4-614148578549}"/>
              </a:ext>
            </a:extLst>
          </p:cNvPr>
          <p:cNvSpPr>
            <a:spLocks xmlns:a="http://schemas.openxmlformats.org/drawingml/2006/main" noGrp="1"/>
          </p:cNvSpPr>
          <p:nvPr/>
        </p:nvSpPr>
        <p:spPr>
          <a:xfrm xmlns:a="http://schemas.openxmlformats.org/drawingml/2006/main">
            <a:off x="4686300" y="4514850"/>
            <a:ext cx="68580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9" name="">
            <a:extLst xmlns:a="http://schemas.openxmlformats.org/drawingml/2006/main">
              <a:ext uri="{FF2B5EF4-FFF2-40B4-BE49-F238E27FC236}">
                <a16:creationId xmlns:a16="http://schemas.microsoft.com/office/drawing/2014/main" id="{46672A2C-BECC-4F0F-B211-7A50AE6808BE}"/>
              </a:ext>
            </a:extLst>
          </p:cNvPr>
          <p:cNvSpPr>
            <a:spLocks xmlns:a="http://schemas.openxmlformats.org/drawingml/2006/main" noGrp="1"/>
          </p:cNvSpPr>
          <p:nvPr/>
        </p:nvSpPr>
        <p:spPr>
          <a:xfrm xmlns:a="http://schemas.openxmlformats.org/drawingml/2006/main">
            <a:off x="4686300" y="4619625"/>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04  Conferência</a:t>
            </a:r>
          </a:p>
        </p:txBody>
      </p:sp>
      <p:sp>
        <p:nvSpPr>
          <p:cNvPr id="20" name="">
            <a:extLst xmlns:a="http://schemas.openxmlformats.org/drawingml/2006/main">
              <a:ext uri="{FF2B5EF4-FFF2-40B4-BE49-F238E27FC236}">
                <a16:creationId xmlns:a16="http://schemas.microsoft.com/office/drawing/2014/main" id="{887EC5C4-0F9C-4AB0-9018-F3B0E2D90203}"/>
              </a:ext>
            </a:extLst>
          </p:cNvPr>
          <p:cNvSpPr>
            <a:spLocks xmlns:a="http://schemas.openxmlformats.org/drawingml/2006/main" noGrp="1"/>
          </p:cNvSpPr>
          <p:nvPr/>
        </p:nvSpPr>
        <p:spPr>
          <a:xfrm xmlns:a="http://schemas.openxmlformats.org/drawingml/2006/main">
            <a:off x="4686300" y="5029200"/>
            <a:ext cx="681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Cada registro preserva arquivo e linha de origem.</a:t>
            </a:r>
          </a:p>
        </p:txBody>
      </p:sp>
      <p:sp>
        <p:nvSpPr>
          <p:cNvPr id="21" name="">
            <a:extLst xmlns:a="http://schemas.openxmlformats.org/drawingml/2006/main">
              <a:ext uri="{FF2B5EF4-FFF2-40B4-BE49-F238E27FC236}">
                <a16:creationId xmlns:a16="http://schemas.microsoft.com/office/drawing/2014/main" id="{4D15C2D2-4BC5-4011-9B71-E308174DAF9B}"/>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Recorte fornecido pelo professor. Cobertura integral estadual não comprovada.</a:t>
            </a:r>
          </a:p>
        </p:txBody>
      </p:sp>
    </p:spTree>
    <p:extLst>
      <p:ext uri="{BB962C8B-B14F-4D97-AF65-F5344CB8AC3E}">
        <p14:creationId xmlns:p14="http://schemas.microsoft.com/office/powerpoint/2010/main" val="1504598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9AC591C-7D50-4681-A7C3-19A57F389766}"/>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09BF641F-8CB4-4AD2-BDAE-073842358756}"/>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CONCENTRAÇÃO</a:t>
            </a:r>
          </a:p>
        </p:txBody>
      </p:sp>
      <p:sp>
        <p:nvSpPr>
          <p:cNvPr id="3" name="">
            <a:extLst xmlns:a="http://schemas.openxmlformats.org/drawingml/2006/main">
              <a:ext uri="{FF2B5EF4-FFF2-40B4-BE49-F238E27FC236}">
                <a16:creationId xmlns:a16="http://schemas.microsoft.com/office/drawing/2014/main" id="{D5EDD4D9-D058-45FB-B913-A66BC7B811C5}"/>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83F"/>
                </a:solidFill>
                <a:latin typeface="Arial"/>
                <a:ea typeface="Arial"/>
                <a:cs typeface="Arial"/>
              </a:defRPr>
            </a:pPr>
            <a:r>
              <a:rPr sz="3225" b="1">
                <a:solidFill>
                  <a:srgbClr val="14283F"/>
                </a:solidFill>
                <a:latin typeface="Arial"/>
                <a:ea typeface="Arial"/>
                <a:cs typeface="Arial"/>
              </a:rPr>
              <a:t>Concentração por unidade gestora</a:t>
            </a:r>
          </a:p>
        </p:txBody>
      </p:sp>
      <p:sp>
        <p:nvSpPr>
          <p:cNvPr id="4" name="">
            <a:extLst xmlns:a="http://schemas.openxmlformats.org/drawingml/2006/main">
              <a:ext uri="{FF2B5EF4-FFF2-40B4-BE49-F238E27FC236}">
                <a16:creationId xmlns:a16="http://schemas.microsoft.com/office/drawing/2014/main" id="{A7C2D3D5-DA2D-4405-8464-99F9D8DA9B7F}"/>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5" name="">
            <a:extLst xmlns:a="http://schemas.openxmlformats.org/drawingml/2006/main">
              <a:ext uri="{FF2B5EF4-FFF2-40B4-BE49-F238E27FC236}">
                <a16:creationId xmlns:a16="http://schemas.microsoft.com/office/drawing/2014/main" id="{5F745176-DB7E-42C3-99B6-C83B003D3156}"/>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03 / 08</a:t>
            </a:r>
          </a:p>
        </p:txBody>
      </p:sp>
      <p:sp>
        <p:nvSpPr>
          <p:cNvPr id="6" name="">
            <a:extLst xmlns:a="http://schemas.openxmlformats.org/drawingml/2006/main">
              <a:ext uri="{FF2B5EF4-FFF2-40B4-BE49-F238E27FC236}">
                <a16:creationId xmlns:a16="http://schemas.microsoft.com/office/drawing/2014/main" id="{68926394-56B6-4AA5-AEF1-BA20187A04B1}"/>
              </a:ext>
            </a:extLst>
          </p:cNvPr>
          <p:cNvSpPr>
            <a:spLocks xmlns:a="http://schemas.openxmlformats.org/drawingml/2006/main" noGrp="1"/>
          </p:cNvSpPr>
          <p:nvPr/>
        </p:nvSpPr>
        <p:spPr>
          <a:xfrm xmlns:a="http://schemas.openxmlformats.org/drawingml/2006/main">
            <a:off x="609600" y="1190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D6D82"/>
                </a:solidFill>
                <a:latin typeface="Arial"/>
                <a:ea typeface="Arial"/>
                <a:cs typeface="Arial"/>
              </a:defRPr>
            </a:pPr>
            <a:r>
              <a:rPr sz="2100" b="0">
                <a:solidFill>
                  <a:srgbClr val="5D6D82"/>
                </a:solidFill>
                <a:latin typeface="Arial"/>
                <a:ea typeface="Arial"/>
                <a:cs typeface="Arial"/>
              </a:rPr>
              <a:t>Quais unidades concentram o valor pago líquido?</a:t>
            </a:r>
          </a:p>
        </p:txBody>
      </p:sp>
      <p:graphicFrame>
        <p:nvGraphicFramePr>
          <p:cNvPr id="21" name="Chart"/>
          <p:cNvGraphicFramePr/>
          <p:nvPr/>
        </p:nvGraphicFramePr>
        <p:xfrm>
          <a:off xmlns:a="http://schemas.openxmlformats.org/drawingml/2006/main" x="609600" y="2009775"/>
          <a:ext xmlns:a="http://schemas.openxmlformats.org/drawingml/2006/main" cx="7820025" cy="3352800"/>
        </p:xfrm>
        <a:graphic xmlns:a="http://schemas.openxmlformats.org/drawingml/2006/main">
          <a:graphicData uri="http://schemas.openxmlformats.org/drawingml/2006/chart">
            <c:chart xmlns:r="http://schemas.openxmlformats.org/officeDocument/2006/relationships" xmlns:c="http://schemas.openxmlformats.org/drawingml/2006/chart" r:id="R06521382a21c4409"/>
          </a:graphicData>
        </a:graphic>
      </p:graphicFrame>
      <p:sp>
        <p:nvSpPr>
          <p:cNvPr id="8" name="">
            <a:extLst xmlns:a="http://schemas.openxmlformats.org/drawingml/2006/main">
              <a:ext uri="{FF2B5EF4-FFF2-40B4-BE49-F238E27FC236}">
                <a16:creationId xmlns:a16="http://schemas.microsoft.com/office/drawing/2014/main" id="{555A7EB8-E71D-4716-A1EA-DE40C61A043B}"/>
              </a:ext>
            </a:extLst>
          </p:cNvPr>
          <p:cNvSpPr>
            <a:spLocks xmlns:a="http://schemas.openxmlformats.org/drawingml/2006/main" noGrp="1"/>
          </p:cNvSpPr>
          <p:nvPr/>
        </p:nvSpPr>
        <p:spPr>
          <a:xfrm xmlns:a="http://schemas.openxmlformats.org/drawingml/2006/main">
            <a:off x="8839200" y="2000250"/>
            <a:ext cx="2800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75" b="1">
                <a:solidFill>
                  <a:srgbClr val="2563EB"/>
                </a:solidFill>
                <a:latin typeface="Arial"/>
                <a:ea typeface="Arial"/>
                <a:cs typeface="Arial"/>
              </a:defRPr>
            </a:pPr>
            <a:r>
              <a:rPr sz="3975" b="1">
                <a:solidFill>
                  <a:srgbClr val="2563EB"/>
                </a:solidFill>
                <a:latin typeface="Arial"/>
                <a:ea typeface="Arial"/>
                <a:cs typeface="Arial"/>
              </a:rPr>
              <a:t>54,86%</a:t>
            </a:r>
          </a:p>
        </p:txBody>
      </p:sp>
      <p:sp>
        <p:nvSpPr>
          <p:cNvPr id="9" name="">
            <a:extLst xmlns:a="http://schemas.openxmlformats.org/drawingml/2006/main">
              <a:ext uri="{FF2B5EF4-FFF2-40B4-BE49-F238E27FC236}">
                <a16:creationId xmlns:a16="http://schemas.microsoft.com/office/drawing/2014/main" id="{32F761F3-9016-4FC4-8B03-75CA262661C5}"/>
              </a:ext>
            </a:extLst>
          </p:cNvPr>
          <p:cNvSpPr>
            <a:spLocks xmlns:a="http://schemas.openxmlformats.org/drawingml/2006/main" noGrp="1"/>
          </p:cNvSpPr>
          <p:nvPr/>
        </p:nvSpPr>
        <p:spPr>
          <a:xfrm xmlns:a="http://schemas.openxmlformats.org/drawingml/2006/main">
            <a:off x="8839200" y="2895600"/>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da soma líquida</a:t>
            </a:r>
          </a:p>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nas cinco primeiras</a:t>
            </a:r>
          </a:p>
        </p:txBody>
      </p:sp>
      <p:sp>
        <p:nvSpPr>
          <p:cNvPr id="10" name="">
            <a:extLst xmlns:a="http://schemas.openxmlformats.org/drawingml/2006/main">
              <a:ext uri="{FF2B5EF4-FFF2-40B4-BE49-F238E27FC236}">
                <a16:creationId xmlns:a16="http://schemas.microsoft.com/office/drawing/2014/main" id="{E90E8A0A-74F3-4ECE-9CCE-8AF3FE9D67C2}"/>
              </a:ext>
            </a:extLst>
          </p:cNvPr>
          <p:cNvSpPr>
            <a:spLocks xmlns:a="http://schemas.openxmlformats.org/drawingml/2006/main" noGrp="1"/>
          </p:cNvSpPr>
          <p:nvPr/>
        </p:nvSpPr>
        <p:spPr>
          <a:xfrm xmlns:a="http://schemas.openxmlformats.org/drawingml/2006/main">
            <a:off x="8839200" y="4057650"/>
            <a:ext cx="2800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4283F"/>
                </a:solidFill>
                <a:latin typeface="Arial"/>
                <a:ea typeface="Arial"/>
                <a:cs typeface="Arial"/>
              </a:defRPr>
            </a:pPr>
            <a:r>
              <a:rPr sz="2550" b="1">
                <a:solidFill>
                  <a:srgbClr val="14283F"/>
                </a:solidFill>
                <a:latin typeface="Arial"/>
                <a:ea typeface="Arial"/>
                <a:cs typeface="Arial"/>
              </a:rPr>
              <a:t>R$ 10,34 bi</a:t>
            </a:r>
          </a:p>
        </p:txBody>
      </p:sp>
      <p:sp>
        <p:nvSpPr>
          <p:cNvPr id="11" name="">
            <a:extLst xmlns:a="http://schemas.openxmlformats.org/drawingml/2006/main">
              <a:ext uri="{FF2B5EF4-FFF2-40B4-BE49-F238E27FC236}">
                <a16:creationId xmlns:a16="http://schemas.microsoft.com/office/drawing/2014/main" id="{8FCAE693-EA4C-49F2-9895-464B9F715E43}"/>
              </a:ext>
            </a:extLst>
          </p:cNvPr>
          <p:cNvSpPr>
            <a:spLocks xmlns:a="http://schemas.openxmlformats.org/drawingml/2006/main" noGrp="1"/>
          </p:cNvSpPr>
          <p:nvPr/>
        </p:nvSpPr>
        <p:spPr>
          <a:xfrm xmlns:a="http://schemas.openxmlformats.org/drawingml/2006/main">
            <a:off x="8839200" y="46005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total no conjunto</a:t>
            </a:r>
          </a:p>
        </p:txBody>
      </p:sp>
      <p:sp>
        <p:nvSpPr>
          <p:cNvPr id="12" name="">
            <a:extLst xmlns:a="http://schemas.openxmlformats.org/drawingml/2006/main">
              <a:ext uri="{FF2B5EF4-FFF2-40B4-BE49-F238E27FC236}">
                <a16:creationId xmlns:a16="http://schemas.microsoft.com/office/drawing/2014/main" id="{9C53A88A-EBBF-4F24-8D8E-DEA523EE2098}"/>
              </a:ext>
            </a:extLst>
          </p:cNvPr>
          <p:cNvSpPr>
            <a:spLocks xmlns:a="http://schemas.openxmlformats.org/drawingml/2006/main" noGrp="1"/>
          </p:cNvSpPr>
          <p:nvPr/>
        </p:nvSpPr>
        <p:spPr>
          <a:xfrm xmlns:a="http://schemas.openxmlformats.org/drawingml/2006/main">
            <a:off x="609600" y="5572125"/>
            <a:ext cx="3000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Decisão de produto</a:t>
            </a:r>
          </a:p>
        </p:txBody>
      </p:sp>
      <p:sp>
        <p:nvSpPr>
          <p:cNvPr id="13" name="">
            <a:extLst xmlns:a="http://schemas.openxmlformats.org/drawingml/2006/main">
              <a:ext uri="{FF2B5EF4-FFF2-40B4-BE49-F238E27FC236}">
                <a16:creationId xmlns:a16="http://schemas.microsoft.com/office/drawing/2014/main" id="{C4C21192-284D-4761-821F-F95BA3ABA731}"/>
              </a:ext>
            </a:extLst>
          </p:cNvPr>
          <p:cNvSpPr>
            <a:spLocks xmlns:a="http://schemas.openxmlformats.org/drawingml/2006/main" noGrp="1"/>
          </p:cNvSpPr>
          <p:nvPr/>
        </p:nvSpPr>
        <p:spPr>
          <a:xfrm xmlns:a="http://schemas.openxmlformats.org/drawingml/2006/main">
            <a:off x="3619500" y="5572125"/>
            <a:ext cx="7781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Ranking prioriza a unidade para consulta dos registros.</a:t>
            </a:r>
          </a:p>
        </p:txBody>
      </p:sp>
      <p:sp>
        <p:nvSpPr>
          <p:cNvPr id="14" name="">
            <a:extLst xmlns:a="http://schemas.openxmlformats.org/drawingml/2006/main">
              <a:ext uri="{FF2B5EF4-FFF2-40B4-BE49-F238E27FC236}">
                <a16:creationId xmlns:a16="http://schemas.microsoft.com/office/drawing/2014/main" id="{6356615F-653F-42D3-A6F2-2DAB6F338479}"/>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ValorPago líquido em R$ milhões. Todos os meses de 2024. 505.950 registros.</a:t>
            </a:r>
          </a:p>
        </p:txBody>
      </p:sp>
    </p:spTree>
    <p:extLst>
      <p:ext uri="{BB962C8B-B14F-4D97-AF65-F5344CB8AC3E}">
        <p14:creationId xmlns:p14="http://schemas.microsoft.com/office/powerpoint/2010/main" val="12318810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9AA9F0A-8409-451E-8876-664EFF17AFE5}"/>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C54B8EE9-166D-45CA-B03E-5196976F7FD2}"/>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CALENDÁRIO</a:t>
            </a:r>
          </a:p>
        </p:txBody>
      </p:sp>
      <p:sp>
        <p:nvSpPr>
          <p:cNvPr id="3" name="">
            <a:extLst xmlns:a="http://schemas.openxmlformats.org/drawingml/2006/main">
              <a:ext uri="{FF2B5EF4-FFF2-40B4-BE49-F238E27FC236}">
                <a16:creationId xmlns:a16="http://schemas.microsoft.com/office/drawing/2014/main" id="{5913D00C-94CD-4ED0-B5B2-58D905419F3D}"/>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83F"/>
                </a:solidFill>
                <a:latin typeface="Arial"/>
                <a:ea typeface="Arial"/>
                <a:cs typeface="Arial"/>
              </a:defRPr>
            </a:pPr>
            <a:r>
              <a:rPr sz="3225" b="1">
                <a:solidFill>
                  <a:srgbClr val="14283F"/>
                </a:solidFill>
                <a:latin typeface="Arial"/>
                <a:ea typeface="Arial"/>
                <a:cs typeface="Arial"/>
              </a:rPr>
              <a:t>Evolução mensal de ValorPago</a:t>
            </a:r>
          </a:p>
        </p:txBody>
      </p:sp>
      <p:sp>
        <p:nvSpPr>
          <p:cNvPr id="4" name="">
            <a:extLst xmlns:a="http://schemas.openxmlformats.org/drawingml/2006/main">
              <a:ext uri="{FF2B5EF4-FFF2-40B4-BE49-F238E27FC236}">
                <a16:creationId xmlns:a16="http://schemas.microsoft.com/office/drawing/2014/main" id="{FCDE3481-8B6E-4E05-ADD4-65D4DDACFA24}"/>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5" name="">
            <a:extLst xmlns:a="http://schemas.openxmlformats.org/drawingml/2006/main">
              <a:ext uri="{FF2B5EF4-FFF2-40B4-BE49-F238E27FC236}">
                <a16:creationId xmlns:a16="http://schemas.microsoft.com/office/drawing/2014/main" id="{97175FCE-8F7F-4FB2-B2A0-EB75E8CF86FB}"/>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04 / 08</a:t>
            </a:r>
          </a:p>
        </p:txBody>
      </p:sp>
      <p:sp>
        <p:nvSpPr>
          <p:cNvPr id="6" name="">
            <a:extLst xmlns:a="http://schemas.openxmlformats.org/drawingml/2006/main">
              <a:ext uri="{FF2B5EF4-FFF2-40B4-BE49-F238E27FC236}">
                <a16:creationId xmlns:a16="http://schemas.microsoft.com/office/drawing/2014/main" id="{0D4DB372-6C2E-42B5-A217-EEC0BF104EFD}"/>
              </a:ext>
            </a:extLst>
          </p:cNvPr>
          <p:cNvSpPr>
            <a:spLocks xmlns:a="http://schemas.openxmlformats.org/drawingml/2006/main" noGrp="1"/>
          </p:cNvSpPr>
          <p:nvPr/>
        </p:nvSpPr>
        <p:spPr>
          <a:xfrm xmlns:a="http://schemas.openxmlformats.org/drawingml/2006/main">
            <a:off x="609600" y="1190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D6D82"/>
                </a:solidFill>
                <a:latin typeface="Arial"/>
                <a:ea typeface="Arial"/>
                <a:cs typeface="Arial"/>
              </a:defRPr>
            </a:pPr>
            <a:r>
              <a:rPr sz="2100" b="0">
                <a:solidFill>
                  <a:srgbClr val="5D6D82"/>
                </a:solidFill>
                <a:latin typeface="Arial"/>
                <a:ea typeface="Arial"/>
                <a:cs typeface="Arial"/>
              </a:rPr>
              <a:t>Como o valor pago líquido varia ao longo do ano?</a:t>
            </a:r>
          </a:p>
        </p:txBody>
      </p:sp>
      <p:graphicFrame>
        <p:nvGraphicFramePr>
          <p:cNvPr id="22" name="Chart"/>
          <p:cNvGraphicFramePr/>
          <p:nvPr/>
        </p:nvGraphicFramePr>
        <p:xfrm>
          <a:off xmlns:a="http://schemas.openxmlformats.org/drawingml/2006/main" x="609600" y="1990725"/>
          <a:ext xmlns:a="http://schemas.openxmlformats.org/drawingml/2006/main" cx="7791450" cy="3238500"/>
        </p:xfrm>
        <a:graphic xmlns:a="http://schemas.openxmlformats.org/drawingml/2006/main">
          <a:graphicData uri="http://schemas.openxmlformats.org/drawingml/2006/chart">
            <c:chart xmlns:r="http://schemas.openxmlformats.org/officeDocument/2006/relationships" xmlns:c="http://schemas.openxmlformats.org/drawingml/2006/chart" r:id="Rff441aa545024ff4"/>
          </a:graphicData>
        </a:graphic>
      </p:graphicFrame>
      <p:sp>
        <p:nvSpPr>
          <p:cNvPr id="8" name="">
            <a:extLst xmlns:a="http://schemas.openxmlformats.org/drawingml/2006/main">
              <a:ext uri="{FF2B5EF4-FFF2-40B4-BE49-F238E27FC236}">
                <a16:creationId xmlns:a16="http://schemas.microsoft.com/office/drawing/2014/main" id="{93DB6CC6-6105-4CF3-B40E-B313028244E9}"/>
              </a:ext>
            </a:extLst>
          </p:cNvPr>
          <p:cNvSpPr>
            <a:spLocks xmlns:a="http://schemas.openxmlformats.org/drawingml/2006/main" noGrp="1"/>
          </p:cNvSpPr>
          <p:nvPr/>
        </p:nvSpPr>
        <p:spPr>
          <a:xfrm xmlns:a="http://schemas.openxmlformats.org/drawingml/2006/main">
            <a:off x="8848725" y="2009775"/>
            <a:ext cx="2743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563EB"/>
                </a:solidFill>
                <a:latin typeface="Arial"/>
                <a:ea typeface="Arial"/>
                <a:cs typeface="Arial"/>
              </a:defRPr>
            </a:pPr>
            <a:r>
              <a:rPr sz="3600" b="1">
                <a:solidFill>
                  <a:srgbClr val="2563EB"/>
                </a:solidFill>
                <a:latin typeface="Arial"/>
                <a:ea typeface="Arial"/>
                <a:cs typeface="Arial"/>
              </a:rPr>
              <a:t>R$ 1,65 bi</a:t>
            </a:r>
          </a:p>
        </p:txBody>
      </p:sp>
      <p:sp>
        <p:nvSpPr>
          <p:cNvPr id="9" name="">
            <a:extLst xmlns:a="http://schemas.openxmlformats.org/drawingml/2006/main">
              <a:ext uri="{FF2B5EF4-FFF2-40B4-BE49-F238E27FC236}">
                <a16:creationId xmlns:a16="http://schemas.microsoft.com/office/drawing/2014/main" id="{C6E80BC0-C0EB-4206-9F5F-141B2BCA4958}"/>
              </a:ext>
            </a:extLst>
          </p:cNvPr>
          <p:cNvSpPr>
            <a:spLocks xmlns:a="http://schemas.openxmlformats.org/drawingml/2006/main" noGrp="1"/>
          </p:cNvSpPr>
          <p:nvPr/>
        </p:nvSpPr>
        <p:spPr>
          <a:xfrm xmlns:a="http://schemas.openxmlformats.org/drawingml/2006/main">
            <a:off x="8848725" y="2828925"/>
            <a:ext cx="2676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em dezembro,</a:t>
            </a:r>
          </a:p>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maior soma mensal</a:t>
            </a:r>
          </a:p>
        </p:txBody>
      </p:sp>
      <p:sp>
        <p:nvSpPr>
          <p:cNvPr id="10" name="">
            <a:extLst xmlns:a="http://schemas.openxmlformats.org/drawingml/2006/main">
              <a:ext uri="{FF2B5EF4-FFF2-40B4-BE49-F238E27FC236}">
                <a16:creationId xmlns:a16="http://schemas.microsoft.com/office/drawing/2014/main" id="{B725BA96-303D-466E-B9BF-B69C5D483EFB}"/>
              </a:ext>
            </a:extLst>
          </p:cNvPr>
          <p:cNvSpPr>
            <a:spLocks xmlns:a="http://schemas.openxmlformats.org/drawingml/2006/main" noGrp="1"/>
          </p:cNvSpPr>
          <p:nvPr/>
        </p:nvSpPr>
        <p:spPr>
          <a:xfrm xmlns:a="http://schemas.openxmlformats.org/drawingml/2006/main">
            <a:off x="8848725" y="3705225"/>
            <a:ext cx="266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Média R$ 861,4 mi</a:t>
            </a:r>
          </a:p>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Mediana R$ 830,4 mi</a:t>
            </a:r>
          </a:p>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DP R$ 308,0 mi</a:t>
            </a:r>
          </a:p>
        </p:txBody>
      </p:sp>
      <p:sp>
        <p:nvSpPr>
          <p:cNvPr id="11" name="">
            <a:extLst xmlns:a="http://schemas.openxmlformats.org/drawingml/2006/main">
              <a:ext uri="{FF2B5EF4-FFF2-40B4-BE49-F238E27FC236}">
                <a16:creationId xmlns:a16="http://schemas.microsoft.com/office/drawing/2014/main" id="{DA6A28F5-DEAB-4EF6-BC12-CEBD6EBC877B}"/>
              </a:ext>
            </a:extLst>
          </p:cNvPr>
          <p:cNvSpPr>
            <a:spLocks xmlns:a="http://schemas.openxmlformats.org/drawingml/2006/main" noGrp="1"/>
          </p:cNvSpPr>
          <p:nvPr/>
        </p:nvSpPr>
        <p:spPr>
          <a:xfrm xmlns:a="http://schemas.openxmlformats.org/drawingml/2006/main">
            <a:off x="8848725" y="4838700"/>
            <a:ext cx="2733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2563EB"/>
                </a:solidFill>
                <a:latin typeface="Arial"/>
                <a:ea typeface="Arial"/>
                <a:cs typeface="Arial"/>
              </a:defRPr>
            </a:pPr>
            <a:r>
              <a:rPr sz="1650" b="1">
                <a:solidFill>
                  <a:srgbClr val="2563EB"/>
                </a:solidFill>
                <a:latin typeface="Arial"/>
                <a:ea typeface="Arial"/>
                <a:cs typeface="Arial"/>
              </a:rPr>
              <a:t>Produto: filtro mensal</a:t>
            </a:r>
          </a:p>
          <a:p xmlns:a="http://schemas.openxmlformats.org/drawingml/2006/main">
            <a:pPr>
              <a:defRPr sz="1650" b="1">
                <a:solidFill>
                  <a:srgbClr val="2563EB"/>
                </a:solidFill>
                <a:latin typeface="Arial"/>
                <a:ea typeface="Arial"/>
                <a:cs typeface="Arial"/>
              </a:defRPr>
            </a:pPr>
            <a:r>
              <a:rPr sz="1650" b="1">
                <a:solidFill>
                  <a:srgbClr val="2563EB"/>
                </a:solidFill>
                <a:latin typeface="Arial"/>
                <a:ea typeface="Arial"/>
                <a:cs typeface="Arial"/>
              </a:rPr>
              <a:t>e consulta da composição</a:t>
            </a:r>
          </a:p>
        </p:txBody>
      </p:sp>
      <p:sp>
        <p:nvSpPr>
          <p:cNvPr id="12" name="">
            <a:extLst xmlns:a="http://schemas.openxmlformats.org/drawingml/2006/main">
              <a:ext uri="{FF2B5EF4-FFF2-40B4-BE49-F238E27FC236}">
                <a16:creationId xmlns:a16="http://schemas.microsoft.com/office/drawing/2014/main" id="{221F194F-6FAB-4B16-BB8C-546C3C810735}"/>
              </a:ext>
            </a:extLst>
          </p:cNvPr>
          <p:cNvSpPr>
            <a:spLocks xmlns:a="http://schemas.openxmlformats.org/drawingml/2006/main" noGrp="1"/>
          </p:cNvSpPr>
          <p:nvPr/>
        </p:nvSpPr>
        <p:spPr>
          <a:xfrm xmlns:a="http://schemas.openxmlformats.org/drawingml/2006/main">
            <a:off x="609600" y="5543550"/>
            <a:ext cx="29432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2563EB"/>
                </a:solidFill>
                <a:latin typeface="Arial"/>
                <a:ea typeface="Arial"/>
                <a:cs typeface="Arial"/>
              </a:defRPr>
            </a:pPr>
            <a:r>
              <a:rPr sz="1725" b="1">
                <a:solidFill>
                  <a:srgbClr val="2563EB"/>
                </a:solidFill>
                <a:latin typeface="Arial"/>
                <a:ea typeface="Arial"/>
                <a:cs typeface="Arial"/>
              </a:rPr>
              <a:t>Amostragem interna</a:t>
            </a:r>
          </a:p>
        </p:txBody>
      </p:sp>
      <p:sp>
        <p:nvSpPr>
          <p:cNvPr id="13" name="">
            <a:extLst xmlns:a="http://schemas.openxmlformats.org/drawingml/2006/main">
              <a:ext uri="{FF2B5EF4-FFF2-40B4-BE49-F238E27FC236}">
                <a16:creationId xmlns:a16="http://schemas.microsoft.com/office/drawing/2014/main" id="{0FC73E88-3F76-40FE-8272-DB65C7B3FEEB}"/>
              </a:ext>
            </a:extLst>
          </p:cNvPr>
          <p:cNvSpPr>
            <a:spLocks xmlns:a="http://schemas.openxmlformats.org/drawingml/2006/main" noGrp="1"/>
          </p:cNvSpPr>
          <p:nvPr/>
        </p:nvSpPr>
        <p:spPr>
          <a:xfrm xmlns:a="http://schemas.openxmlformats.org/drawingml/2006/main">
            <a:off x="3619500" y="5543550"/>
            <a:ext cx="785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IC 95%: 30,36% a 32,18% de registros positivos na base local.</a:t>
            </a:r>
          </a:p>
        </p:txBody>
      </p:sp>
      <p:sp>
        <p:nvSpPr>
          <p:cNvPr id="14" name="">
            <a:extLst xmlns:a="http://schemas.openxmlformats.org/drawingml/2006/main">
              <a:ext uri="{FF2B5EF4-FFF2-40B4-BE49-F238E27FC236}">
                <a16:creationId xmlns:a16="http://schemas.microsoft.com/office/drawing/2014/main" id="{F650B96E-AF16-40D9-A0AF-F8534B88A840}"/>
              </a:ext>
            </a:extLst>
          </p:cNvPr>
          <p:cNvSpPr>
            <a:spLocks xmlns:a="http://schemas.openxmlformats.org/drawingml/2006/main" noGrp="1"/>
          </p:cNvSpPr>
          <p:nvPr/>
        </p:nvSpPr>
        <p:spPr>
          <a:xfrm xmlns:a="http://schemas.openxmlformats.org/drawingml/2006/main">
            <a:off x="3619500" y="5876925"/>
            <a:ext cx="7858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D6D82"/>
                </a:solidFill>
                <a:latin typeface="Arial"/>
                <a:ea typeface="Arial"/>
                <a:cs typeface="Arial"/>
              </a:defRPr>
            </a:pPr>
            <a:r>
              <a:rPr sz="1500" b="0">
                <a:solidFill>
                  <a:srgbClr val="5D6D82"/>
                </a:solidFill>
                <a:latin typeface="Arial"/>
                <a:ea typeface="Arial"/>
                <a:cs typeface="Arial"/>
              </a:rPr>
              <a:t>n = 10.000, semente 2024. Proporção amostral 31,26%. Método de Wilson.</a:t>
            </a:r>
          </a:p>
        </p:txBody>
      </p:sp>
      <p:sp>
        <p:nvSpPr>
          <p:cNvPr id="15" name="">
            <a:extLst xmlns:a="http://schemas.openxmlformats.org/drawingml/2006/main">
              <a:ext uri="{FF2B5EF4-FFF2-40B4-BE49-F238E27FC236}">
                <a16:creationId xmlns:a16="http://schemas.microsoft.com/office/drawing/2014/main" id="{1C9E4E59-0DF0-4B47-B5D1-07493E13EA97}"/>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ValorPago líquido em R$ milhões. Data do registro. 505.950 registros.</a:t>
            </a:r>
          </a:p>
        </p:txBody>
      </p:sp>
    </p:spTree>
    <p:extLst>
      <p:ext uri="{BB962C8B-B14F-4D97-AF65-F5344CB8AC3E}">
        <p14:creationId xmlns:p14="http://schemas.microsoft.com/office/powerpoint/2010/main" val="19756417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E1AE695-909B-4FA8-A74A-D2202279244F}"/>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34C9201F-D9C7-4D87-9D50-6FDB7D237D1B}"/>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DEMONSTRAÇÃO</a:t>
            </a:r>
          </a:p>
        </p:txBody>
      </p:sp>
      <p:sp>
        <p:nvSpPr>
          <p:cNvPr id="3" name="">
            <a:extLst xmlns:a="http://schemas.openxmlformats.org/drawingml/2006/main">
              <a:ext uri="{FF2B5EF4-FFF2-40B4-BE49-F238E27FC236}">
                <a16:creationId xmlns:a16="http://schemas.microsoft.com/office/drawing/2014/main" id="{FEF8E7E0-11F6-48FD-A44D-E97B8BB5EB85}"/>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83F"/>
                </a:solidFill>
                <a:latin typeface="Arial"/>
                <a:ea typeface="Arial"/>
                <a:cs typeface="Arial"/>
              </a:defRPr>
            </a:pPr>
            <a:r>
              <a:rPr sz="3225" b="1">
                <a:solidFill>
                  <a:srgbClr val="14283F"/>
                </a:solidFill>
                <a:latin typeface="Arial"/>
                <a:ea typeface="Arial"/>
                <a:cs typeface="Arial"/>
              </a:rPr>
              <a:t>Demonstração em quatro telas</a:t>
            </a:r>
          </a:p>
        </p:txBody>
      </p:sp>
      <p:sp>
        <p:nvSpPr>
          <p:cNvPr id="4" name="">
            <a:extLst xmlns:a="http://schemas.openxmlformats.org/drawingml/2006/main">
              <a:ext uri="{FF2B5EF4-FFF2-40B4-BE49-F238E27FC236}">
                <a16:creationId xmlns:a16="http://schemas.microsoft.com/office/drawing/2014/main" id="{67CA9540-B1F2-4352-B53E-1DEA20864E1B}"/>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5" name="">
            <a:extLst xmlns:a="http://schemas.openxmlformats.org/drawingml/2006/main">
              <a:ext uri="{FF2B5EF4-FFF2-40B4-BE49-F238E27FC236}">
                <a16:creationId xmlns:a16="http://schemas.microsoft.com/office/drawing/2014/main" id="{ACB50659-D74E-4FD4-A97A-907247D6D375}"/>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05 / 08</a:t>
            </a:r>
          </a:p>
        </p:txBody>
      </p:sp>
      <p:sp>
        <p:nvSpPr>
          <p:cNvPr id="6" name="">
            <a:extLst xmlns:a="http://schemas.openxmlformats.org/drawingml/2006/main">
              <a:ext uri="{FF2B5EF4-FFF2-40B4-BE49-F238E27FC236}">
                <a16:creationId xmlns:a16="http://schemas.microsoft.com/office/drawing/2014/main" id="{58B8CDC2-3AA3-4BA5-9A26-D75F8C6377DF}"/>
              </a:ext>
            </a:extLst>
          </p:cNvPr>
          <p:cNvSpPr>
            <a:spLocks xmlns:a="http://schemas.openxmlformats.org/drawingml/2006/main" noGrp="1"/>
          </p:cNvSpPr>
          <p:nvPr/>
        </p:nvSpPr>
        <p:spPr>
          <a:xfrm xmlns:a="http://schemas.openxmlformats.org/drawingml/2006/main">
            <a:off x="609600" y="1190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D6D82"/>
                </a:solidFill>
                <a:latin typeface="Arial"/>
                <a:ea typeface="Arial"/>
                <a:cs typeface="Arial"/>
              </a:defRPr>
            </a:pPr>
            <a:r>
              <a:rPr sz="2100" b="0">
                <a:solidFill>
                  <a:srgbClr val="5D6D82"/>
                </a:solidFill>
                <a:latin typeface="Arial"/>
                <a:ea typeface="Arial"/>
                <a:cs typeface="Arial"/>
              </a:rPr>
              <a:t>Um mesmo recorte, da visão geral à origem do registro</a:t>
            </a:r>
          </a:p>
        </p:txBody>
      </p:sp>
      <p:sp>
        <p:nvSpPr>
          <p:cNvPr id="7" name="">
            <a:extLst xmlns:a="http://schemas.openxmlformats.org/drawingml/2006/main">
              <a:ext uri="{FF2B5EF4-FFF2-40B4-BE49-F238E27FC236}">
                <a16:creationId xmlns:a16="http://schemas.microsoft.com/office/drawing/2014/main" id="{D84D527C-EBFC-4475-9DD9-787187CB83ED}"/>
              </a:ext>
            </a:extLst>
          </p:cNvPr>
          <p:cNvSpPr>
            <a:spLocks xmlns:a="http://schemas.openxmlformats.org/drawingml/2006/main" noGrp="1"/>
          </p:cNvSpPr>
          <p:nvPr/>
        </p:nvSpPr>
        <p:spPr>
          <a:xfrm xmlns:a="http://schemas.openxmlformats.org/drawingml/2006/main">
            <a:off x="609600" y="195262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01  Visão geral</a:t>
            </a:r>
          </a:p>
        </p:txBody>
      </p:sp>
      <p:sp>
        <p:nvSpPr>
          <p:cNvPr id="8" name="">
            <a:extLst xmlns:a="http://schemas.openxmlformats.org/drawingml/2006/main">
              <a:ext uri="{FF2B5EF4-FFF2-40B4-BE49-F238E27FC236}">
                <a16:creationId xmlns:a16="http://schemas.microsoft.com/office/drawing/2014/main" id="{9E9B21E2-6FF6-48C2-82D9-33B42C9F5987}"/>
              </a:ext>
            </a:extLst>
          </p:cNvPr>
          <p:cNvSpPr>
            <a:spLocks xmlns:a="http://schemas.openxmlformats.org/drawingml/2006/main" noGrp="1"/>
          </p:cNvSpPr>
          <p:nvPr/>
        </p:nvSpPr>
        <p:spPr>
          <a:xfrm xmlns:a="http://schemas.openxmlformats.org/drawingml/2006/main">
            <a:off x="609600" y="2352675"/>
            <a:ext cx="671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Indicadores e destaques do recorte.</a:t>
            </a:r>
          </a:p>
        </p:txBody>
      </p:sp>
      <p:sp>
        <p:nvSpPr>
          <p:cNvPr id="9" name="">
            <a:extLst xmlns:a="http://schemas.openxmlformats.org/drawingml/2006/main">
              <a:ext uri="{FF2B5EF4-FFF2-40B4-BE49-F238E27FC236}">
                <a16:creationId xmlns:a16="http://schemas.microsoft.com/office/drawing/2014/main" id="{F03B32C5-0BE4-4B60-A4D7-F9473D331FFD}"/>
              </a:ext>
            </a:extLst>
          </p:cNvPr>
          <p:cNvSpPr>
            <a:spLocks xmlns:a="http://schemas.openxmlformats.org/drawingml/2006/main" noGrp="1"/>
          </p:cNvSpPr>
          <p:nvPr/>
        </p:nvSpPr>
        <p:spPr>
          <a:xfrm xmlns:a="http://schemas.openxmlformats.org/drawingml/2006/main">
            <a:off x="609600" y="2771775"/>
            <a:ext cx="6715125"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0" name="">
            <a:extLst xmlns:a="http://schemas.openxmlformats.org/drawingml/2006/main">
              <a:ext uri="{FF2B5EF4-FFF2-40B4-BE49-F238E27FC236}">
                <a16:creationId xmlns:a16="http://schemas.microsoft.com/office/drawing/2014/main" id="{00756EBF-22F5-47B5-9B11-8D75BB7269E2}"/>
              </a:ext>
            </a:extLst>
          </p:cNvPr>
          <p:cNvSpPr>
            <a:spLocks xmlns:a="http://schemas.openxmlformats.org/drawingml/2006/main" noGrp="1"/>
          </p:cNvSpPr>
          <p:nvPr/>
        </p:nvSpPr>
        <p:spPr>
          <a:xfrm xmlns:a="http://schemas.openxmlformats.org/drawingml/2006/main">
            <a:off x="609600" y="28956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02  Distribuição</a:t>
            </a:r>
          </a:p>
        </p:txBody>
      </p:sp>
      <p:sp>
        <p:nvSpPr>
          <p:cNvPr id="11" name="">
            <a:extLst xmlns:a="http://schemas.openxmlformats.org/drawingml/2006/main">
              <a:ext uri="{FF2B5EF4-FFF2-40B4-BE49-F238E27FC236}">
                <a16:creationId xmlns:a16="http://schemas.microsoft.com/office/drawing/2014/main" id="{883E85D1-753A-41B1-A536-BA5CC414D279}"/>
              </a:ext>
            </a:extLst>
          </p:cNvPr>
          <p:cNvSpPr>
            <a:spLocks xmlns:a="http://schemas.openxmlformats.org/drawingml/2006/main" noGrp="1"/>
          </p:cNvSpPr>
          <p:nvPr/>
        </p:nvSpPr>
        <p:spPr>
          <a:xfrm xmlns:a="http://schemas.openxmlformats.org/drawingml/2006/main">
            <a:off x="609600" y="3295650"/>
            <a:ext cx="671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Ranking e evolução mensal.</a:t>
            </a:r>
          </a:p>
        </p:txBody>
      </p:sp>
      <p:sp>
        <p:nvSpPr>
          <p:cNvPr id="12" name="">
            <a:extLst xmlns:a="http://schemas.openxmlformats.org/drawingml/2006/main">
              <a:ext uri="{FF2B5EF4-FFF2-40B4-BE49-F238E27FC236}">
                <a16:creationId xmlns:a16="http://schemas.microsoft.com/office/drawing/2014/main" id="{38B95E8B-81D4-464A-992F-EEC73AFA09BB}"/>
              </a:ext>
            </a:extLst>
          </p:cNvPr>
          <p:cNvSpPr>
            <a:spLocks xmlns:a="http://schemas.openxmlformats.org/drawingml/2006/main" noGrp="1"/>
          </p:cNvSpPr>
          <p:nvPr/>
        </p:nvSpPr>
        <p:spPr>
          <a:xfrm xmlns:a="http://schemas.openxmlformats.org/drawingml/2006/main">
            <a:off x="609600" y="3714750"/>
            <a:ext cx="6715125"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3" name="">
            <a:extLst xmlns:a="http://schemas.openxmlformats.org/drawingml/2006/main">
              <a:ext uri="{FF2B5EF4-FFF2-40B4-BE49-F238E27FC236}">
                <a16:creationId xmlns:a16="http://schemas.microsoft.com/office/drawing/2014/main" id="{7B587BDC-7296-412F-8964-BD72632FEF28}"/>
              </a:ext>
            </a:extLst>
          </p:cNvPr>
          <p:cNvSpPr>
            <a:spLocks xmlns:a="http://schemas.openxmlformats.org/drawingml/2006/main" noGrp="1"/>
          </p:cNvSpPr>
          <p:nvPr/>
        </p:nvSpPr>
        <p:spPr>
          <a:xfrm xmlns:a="http://schemas.openxmlformats.org/drawingml/2006/main">
            <a:off x="609600" y="38385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03  Registros</a:t>
            </a:r>
          </a:p>
        </p:txBody>
      </p:sp>
      <p:sp>
        <p:nvSpPr>
          <p:cNvPr id="14" name="">
            <a:extLst xmlns:a="http://schemas.openxmlformats.org/drawingml/2006/main">
              <a:ext uri="{FF2B5EF4-FFF2-40B4-BE49-F238E27FC236}">
                <a16:creationId xmlns:a16="http://schemas.microsoft.com/office/drawing/2014/main" id="{0BE23145-8FE2-4CF4-B793-905127755183}"/>
              </a:ext>
            </a:extLst>
          </p:cNvPr>
          <p:cNvSpPr>
            <a:spLocks xmlns:a="http://schemas.openxmlformats.org/drawingml/2006/main" noGrp="1"/>
          </p:cNvSpPr>
          <p:nvPr/>
        </p:nvSpPr>
        <p:spPr>
          <a:xfrm xmlns:a="http://schemas.openxmlformats.org/drawingml/2006/main">
            <a:off x="609600" y="4238625"/>
            <a:ext cx="671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Arquivo e linha de origem, paginação e CSV.</a:t>
            </a:r>
          </a:p>
        </p:txBody>
      </p:sp>
      <p:sp>
        <p:nvSpPr>
          <p:cNvPr id="15" name="">
            <a:extLst xmlns:a="http://schemas.openxmlformats.org/drawingml/2006/main">
              <a:ext uri="{FF2B5EF4-FFF2-40B4-BE49-F238E27FC236}">
                <a16:creationId xmlns:a16="http://schemas.microsoft.com/office/drawing/2014/main" id="{A9F4C912-FF5E-435C-ABE3-4985FFFA3D1F}"/>
              </a:ext>
            </a:extLst>
          </p:cNvPr>
          <p:cNvSpPr>
            <a:spLocks xmlns:a="http://schemas.openxmlformats.org/drawingml/2006/main" noGrp="1"/>
          </p:cNvSpPr>
          <p:nvPr/>
        </p:nvSpPr>
        <p:spPr>
          <a:xfrm xmlns:a="http://schemas.openxmlformats.org/drawingml/2006/main">
            <a:off x="609600" y="4657725"/>
            <a:ext cx="6715125"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6" name="">
            <a:extLst xmlns:a="http://schemas.openxmlformats.org/drawingml/2006/main">
              <a:ext uri="{FF2B5EF4-FFF2-40B4-BE49-F238E27FC236}">
                <a16:creationId xmlns:a16="http://schemas.microsoft.com/office/drawing/2014/main" id="{44533AA6-22EB-467C-B16A-906701DADF88}"/>
              </a:ext>
            </a:extLst>
          </p:cNvPr>
          <p:cNvSpPr>
            <a:spLocks xmlns:a="http://schemas.openxmlformats.org/drawingml/2006/main" noGrp="1"/>
          </p:cNvSpPr>
          <p:nvPr/>
        </p:nvSpPr>
        <p:spPr>
          <a:xfrm xmlns:a="http://schemas.openxmlformats.org/drawingml/2006/main">
            <a:off x="609600" y="4781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04  Metodologia</a:t>
            </a:r>
          </a:p>
        </p:txBody>
      </p:sp>
      <p:sp>
        <p:nvSpPr>
          <p:cNvPr id="17" name="">
            <a:extLst xmlns:a="http://schemas.openxmlformats.org/drawingml/2006/main">
              <a:ext uri="{FF2B5EF4-FFF2-40B4-BE49-F238E27FC236}">
                <a16:creationId xmlns:a16="http://schemas.microsoft.com/office/drawing/2014/main" id="{54381058-50D5-49F7-AE7A-2666B965AD55}"/>
              </a:ext>
            </a:extLst>
          </p:cNvPr>
          <p:cNvSpPr>
            <a:spLocks xmlns:a="http://schemas.openxmlformats.org/drawingml/2006/main" noGrp="1"/>
          </p:cNvSpPr>
          <p:nvPr/>
        </p:nvSpPr>
        <p:spPr>
          <a:xfrm xmlns:a="http://schemas.openxmlformats.org/drawingml/2006/main">
            <a:off x="609600" y="5181600"/>
            <a:ext cx="671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Definições e limites da análise.</a:t>
            </a:r>
          </a:p>
        </p:txBody>
      </p:sp>
      <p:sp>
        <p:nvSpPr>
          <p:cNvPr id="18" name="">
            <a:extLst xmlns:a="http://schemas.openxmlformats.org/drawingml/2006/main">
              <a:ext uri="{FF2B5EF4-FFF2-40B4-BE49-F238E27FC236}">
                <a16:creationId xmlns:a16="http://schemas.microsoft.com/office/drawing/2014/main" id="{6B3108F7-5FEB-40F5-A75D-F4DAF3165C72}"/>
              </a:ext>
            </a:extLst>
          </p:cNvPr>
          <p:cNvSpPr>
            <a:spLocks xmlns:a="http://schemas.openxmlformats.org/drawingml/2006/main" noGrp="1"/>
          </p:cNvSpPr>
          <p:nvPr/>
        </p:nvSpPr>
        <p:spPr>
          <a:xfrm xmlns:a="http://schemas.openxmlformats.org/drawingml/2006/main">
            <a:off x="8020050" y="19526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EB"/>
                </a:solidFill>
                <a:latin typeface="Arial"/>
                <a:ea typeface="Arial"/>
                <a:cs typeface="Arial"/>
              </a:defRPr>
            </a:pPr>
            <a:r>
              <a:rPr sz="2100" b="1">
                <a:solidFill>
                  <a:srgbClr val="2563EB"/>
                </a:solidFill>
                <a:latin typeface="Arial"/>
                <a:ea typeface="Arial"/>
                <a:cs typeface="Arial"/>
              </a:rPr>
              <a:t>Saúde em dezembro</a:t>
            </a:r>
          </a:p>
        </p:txBody>
      </p:sp>
      <p:sp>
        <p:nvSpPr>
          <p:cNvPr id="19" name="">
            <a:extLst xmlns:a="http://schemas.openxmlformats.org/drawingml/2006/main">
              <a:ext uri="{FF2B5EF4-FFF2-40B4-BE49-F238E27FC236}">
                <a16:creationId xmlns:a16="http://schemas.microsoft.com/office/drawing/2014/main" id="{72EA448C-817B-438D-BC8E-A550950FF7B3}"/>
              </a:ext>
            </a:extLst>
          </p:cNvPr>
          <p:cNvSpPr>
            <a:spLocks xmlns:a="http://schemas.openxmlformats.org/drawingml/2006/main" noGrp="1"/>
          </p:cNvSpPr>
          <p:nvPr/>
        </p:nvSpPr>
        <p:spPr>
          <a:xfrm xmlns:a="http://schemas.openxmlformats.org/drawingml/2006/main">
            <a:off x="8020050" y="25812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7.790 registros</a:t>
            </a:r>
          </a:p>
        </p:txBody>
      </p:sp>
      <p:sp>
        <p:nvSpPr>
          <p:cNvPr id="20" name="">
            <a:extLst xmlns:a="http://schemas.openxmlformats.org/drawingml/2006/main">
              <a:ext uri="{FF2B5EF4-FFF2-40B4-BE49-F238E27FC236}">
                <a16:creationId xmlns:a16="http://schemas.microsoft.com/office/drawing/2014/main" id="{2680A437-1F3C-45EE-9683-55F3E05485AD}"/>
              </a:ext>
            </a:extLst>
          </p:cNvPr>
          <p:cNvSpPr>
            <a:spLocks xmlns:a="http://schemas.openxmlformats.org/drawingml/2006/main" noGrp="1"/>
          </p:cNvSpPr>
          <p:nvPr/>
        </p:nvSpPr>
        <p:spPr>
          <a:xfrm xmlns:a="http://schemas.openxmlformats.org/drawingml/2006/main">
            <a:off x="8020050" y="30956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R$ 185.199.026,38</a:t>
            </a:r>
          </a:p>
        </p:txBody>
      </p:sp>
      <p:sp>
        <p:nvSpPr>
          <p:cNvPr id="21" name="">
            <a:extLst xmlns:a="http://schemas.openxmlformats.org/drawingml/2006/main">
              <a:ext uri="{FF2B5EF4-FFF2-40B4-BE49-F238E27FC236}">
                <a16:creationId xmlns:a16="http://schemas.microsoft.com/office/drawing/2014/main" id="{368F442C-4352-4A25-8C26-4ADF35A306CA}"/>
              </a:ext>
            </a:extLst>
          </p:cNvPr>
          <p:cNvSpPr>
            <a:spLocks xmlns:a="http://schemas.openxmlformats.org/drawingml/2006/main" noGrp="1"/>
          </p:cNvSpPr>
          <p:nvPr/>
        </p:nvSpPr>
        <p:spPr>
          <a:xfrm xmlns:a="http://schemas.openxmlformats.org/drawingml/2006/main">
            <a:off x="8020050" y="3838575"/>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D82"/>
                </a:solidFill>
                <a:latin typeface="Arial"/>
                <a:ea typeface="Arial"/>
                <a:cs typeface="Arial"/>
              </a:defRPr>
            </a:pPr>
            <a:r>
              <a:rPr sz="1800" b="0">
                <a:solidFill>
                  <a:srgbClr val="5D6D82"/>
                </a:solidFill>
                <a:latin typeface="Arial"/>
                <a:ea typeface="Arial"/>
                <a:cs typeface="Arial"/>
              </a:rPr>
              <a:t>Abrir filtros permite escolher mês e unidade. Fechar filtros recolhe os controles.</a:t>
            </a:r>
          </a:p>
        </p:txBody>
      </p:sp>
      <p:sp>
        <p:nvSpPr>
          <p:cNvPr id="22" name="">
            <a:extLst xmlns:a="http://schemas.openxmlformats.org/drawingml/2006/main">
              <a:ext uri="{FF2B5EF4-FFF2-40B4-BE49-F238E27FC236}">
                <a16:creationId xmlns:a16="http://schemas.microsoft.com/office/drawing/2014/main" id="{2D95EAE1-AE54-42FA-829F-CF548B89287A}"/>
              </a:ext>
            </a:extLst>
          </p:cNvPr>
          <p:cNvSpPr>
            <a:spLocks xmlns:a="http://schemas.openxmlformats.org/drawingml/2006/main" noGrp="1"/>
          </p:cNvSpPr>
          <p:nvPr/>
        </p:nvSpPr>
        <p:spPr>
          <a:xfrm xmlns:a="http://schemas.openxmlformats.org/drawingml/2006/main">
            <a:off x="8020050" y="5153025"/>
            <a:ext cx="3524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Polícia Penal em janeiro: zero registros.</a:t>
            </a:r>
          </a:p>
        </p:txBody>
      </p:sp>
      <p:sp>
        <p:nvSpPr>
          <p:cNvPr id="23" name="">
            <a:extLst xmlns:a="http://schemas.openxmlformats.org/drawingml/2006/main">
              <a:ext uri="{FF2B5EF4-FFF2-40B4-BE49-F238E27FC236}">
                <a16:creationId xmlns:a16="http://schemas.microsoft.com/office/drawing/2014/main" id="{169A85DC-7107-4A13-901C-7775B2EC236D}"/>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A troca de tela preserva o recorte e não repete a consulta ao banco.</a:t>
            </a:r>
          </a:p>
        </p:txBody>
      </p:sp>
    </p:spTree>
    <p:extLst>
      <p:ext uri="{BB962C8B-B14F-4D97-AF65-F5344CB8AC3E}">
        <p14:creationId xmlns:p14="http://schemas.microsoft.com/office/powerpoint/2010/main" val="14642539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D9AEE53-DF93-4DF7-8359-37CC63D492F5}"/>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C994868B-A14F-4883-B09E-C97792A450A0}"/>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EQUIPE E PLANO</a:t>
            </a:r>
          </a:p>
        </p:txBody>
      </p:sp>
      <p:sp>
        <p:nvSpPr>
          <p:cNvPr id="3" name="">
            <a:extLst xmlns:a="http://schemas.openxmlformats.org/drawingml/2006/main">
              <a:ext uri="{FF2B5EF4-FFF2-40B4-BE49-F238E27FC236}">
                <a16:creationId xmlns:a16="http://schemas.microsoft.com/office/drawing/2014/main" id="{F0388D3D-A9A8-4A1A-AF5F-5E07DFF89946}"/>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83F"/>
                </a:solidFill>
                <a:latin typeface="Arial"/>
                <a:ea typeface="Arial"/>
                <a:cs typeface="Arial"/>
              </a:defRPr>
            </a:pPr>
            <a:r>
              <a:rPr sz="3225" b="1">
                <a:solidFill>
                  <a:srgbClr val="14283F"/>
                </a:solidFill>
                <a:latin typeface="Arial"/>
                <a:ea typeface="Arial"/>
                <a:cs typeface="Arial"/>
              </a:rPr>
              <a:t>Equipe e cronograma de 16 semanas</a:t>
            </a:r>
          </a:p>
        </p:txBody>
      </p:sp>
      <p:sp>
        <p:nvSpPr>
          <p:cNvPr id="4" name="">
            <a:extLst xmlns:a="http://schemas.openxmlformats.org/drawingml/2006/main">
              <a:ext uri="{FF2B5EF4-FFF2-40B4-BE49-F238E27FC236}">
                <a16:creationId xmlns:a16="http://schemas.microsoft.com/office/drawing/2014/main" id="{DE193D42-8E86-421E-8C52-7D352490E2BA}"/>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5" name="">
            <a:extLst xmlns:a="http://schemas.openxmlformats.org/drawingml/2006/main">
              <a:ext uri="{FF2B5EF4-FFF2-40B4-BE49-F238E27FC236}">
                <a16:creationId xmlns:a16="http://schemas.microsoft.com/office/drawing/2014/main" id="{4EE9B3C2-3578-40B7-968E-E1A739E7AE5A}"/>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06 / 08</a:t>
            </a:r>
          </a:p>
        </p:txBody>
      </p:sp>
      <p:sp>
        <p:nvSpPr>
          <p:cNvPr id="6" name="">
            <a:extLst xmlns:a="http://schemas.openxmlformats.org/drawingml/2006/main">
              <a:ext uri="{FF2B5EF4-FFF2-40B4-BE49-F238E27FC236}">
                <a16:creationId xmlns:a16="http://schemas.microsoft.com/office/drawing/2014/main" id="{3A816541-D058-439C-9F15-66035B6F52F3}"/>
              </a:ext>
            </a:extLst>
          </p:cNvPr>
          <p:cNvSpPr>
            <a:spLocks xmlns:a="http://schemas.openxmlformats.org/drawingml/2006/main" noGrp="1"/>
          </p:cNvSpPr>
          <p:nvPr/>
        </p:nvSpPr>
        <p:spPr>
          <a:xfrm xmlns:a="http://schemas.openxmlformats.org/drawingml/2006/main">
            <a:off x="609600" y="1409700"/>
            <a:ext cx="2533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Luigi</a:t>
            </a:r>
          </a:p>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Cabrini</a:t>
            </a:r>
          </a:p>
        </p:txBody>
      </p:sp>
      <p:sp>
        <p:nvSpPr>
          <p:cNvPr id="7" name="">
            <a:extLst xmlns:a="http://schemas.openxmlformats.org/drawingml/2006/main">
              <a:ext uri="{FF2B5EF4-FFF2-40B4-BE49-F238E27FC236}">
                <a16:creationId xmlns:a16="http://schemas.microsoft.com/office/drawing/2014/main" id="{F01BB1B7-A304-4AF7-A6FB-77C474020410}"/>
              </a:ext>
            </a:extLst>
          </p:cNvPr>
          <p:cNvSpPr>
            <a:spLocks xmlns:a="http://schemas.openxmlformats.org/drawingml/2006/main" noGrp="1"/>
          </p:cNvSpPr>
          <p:nvPr/>
        </p:nvSpPr>
        <p:spPr>
          <a:xfrm xmlns:a="http://schemas.openxmlformats.org/drawingml/2006/main">
            <a:off x="609600" y="2105025"/>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2563EB"/>
                </a:solidFill>
                <a:latin typeface="Arial"/>
                <a:ea typeface="Arial"/>
                <a:cs typeface="Arial"/>
              </a:defRPr>
            </a:pPr>
            <a:r>
              <a:rPr sz="1650" b="0">
                <a:solidFill>
                  <a:srgbClr val="2563EB"/>
                </a:solidFill>
                <a:latin typeface="Arial"/>
                <a:ea typeface="Arial"/>
                <a:cs typeface="Arial"/>
              </a:rPr>
              <a:t>Produto e gestão</a:t>
            </a:r>
          </a:p>
        </p:txBody>
      </p:sp>
      <p:sp>
        <p:nvSpPr>
          <p:cNvPr id="8" name="">
            <a:extLst xmlns:a="http://schemas.openxmlformats.org/drawingml/2006/main">
              <a:ext uri="{FF2B5EF4-FFF2-40B4-BE49-F238E27FC236}">
                <a16:creationId xmlns:a16="http://schemas.microsoft.com/office/drawing/2014/main" id="{DAFBA49E-43F4-4591-AFFC-432E0FEA2DF6}"/>
              </a:ext>
            </a:extLst>
          </p:cNvPr>
          <p:cNvSpPr>
            <a:spLocks xmlns:a="http://schemas.openxmlformats.org/drawingml/2006/main" noGrp="1"/>
          </p:cNvSpPr>
          <p:nvPr/>
        </p:nvSpPr>
        <p:spPr>
          <a:xfrm xmlns:a="http://schemas.openxmlformats.org/drawingml/2006/main">
            <a:off x="609600" y="2505075"/>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160 h · 10 h/semana</a:t>
            </a:r>
          </a:p>
        </p:txBody>
      </p:sp>
      <p:sp>
        <p:nvSpPr>
          <p:cNvPr id="9" name="">
            <a:extLst xmlns:a="http://schemas.openxmlformats.org/drawingml/2006/main">
              <a:ext uri="{FF2B5EF4-FFF2-40B4-BE49-F238E27FC236}">
                <a16:creationId xmlns:a16="http://schemas.microsoft.com/office/drawing/2014/main" id="{1B3A18E6-9989-4D41-9B2C-D12DDFE8DE30}"/>
              </a:ext>
            </a:extLst>
          </p:cNvPr>
          <p:cNvSpPr>
            <a:spLocks xmlns:a="http://schemas.openxmlformats.org/drawingml/2006/main" noGrp="1"/>
          </p:cNvSpPr>
          <p:nvPr/>
        </p:nvSpPr>
        <p:spPr>
          <a:xfrm xmlns:a="http://schemas.openxmlformats.org/drawingml/2006/main">
            <a:off x="3429000" y="1409700"/>
            <a:ext cx="2533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Bruno</a:t>
            </a:r>
          </a:p>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Koeke</a:t>
            </a:r>
          </a:p>
        </p:txBody>
      </p:sp>
      <p:sp>
        <p:nvSpPr>
          <p:cNvPr id="10" name="">
            <a:extLst xmlns:a="http://schemas.openxmlformats.org/drawingml/2006/main">
              <a:ext uri="{FF2B5EF4-FFF2-40B4-BE49-F238E27FC236}">
                <a16:creationId xmlns:a16="http://schemas.microsoft.com/office/drawing/2014/main" id="{88EA6312-424E-47BA-AEDE-3C52DC71F34A}"/>
              </a:ext>
            </a:extLst>
          </p:cNvPr>
          <p:cNvSpPr>
            <a:spLocks xmlns:a="http://schemas.openxmlformats.org/drawingml/2006/main" noGrp="1"/>
          </p:cNvSpPr>
          <p:nvPr/>
        </p:nvSpPr>
        <p:spPr>
          <a:xfrm xmlns:a="http://schemas.openxmlformats.org/drawingml/2006/main">
            <a:off x="3429000" y="2105025"/>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2563EB"/>
                </a:solidFill>
                <a:latin typeface="Arial"/>
                <a:ea typeface="Arial"/>
                <a:cs typeface="Arial"/>
              </a:defRPr>
            </a:pPr>
            <a:r>
              <a:rPr sz="1650" b="0">
                <a:solidFill>
                  <a:srgbClr val="2563EB"/>
                </a:solidFill>
                <a:latin typeface="Arial"/>
                <a:ea typeface="Arial"/>
                <a:cs typeface="Arial"/>
              </a:rPr>
              <a:t>Dados e análise</a:t>
            </a:r>
          </a:p>
        </p:txBody>
      </p:sp>
      <p:sp>
        <p:nvSpPr>
          <p:cNvPr id="11" name="">
            <a:extLst xmlns:a="http://schemas.openxmlformats.org/drawingml/2006/main">
              <a:ext uri="{FF2B5EF4-FFF2-40B4-BE49-F238E27FC236}">
                <a16:creationId xmlns:a16="http://schemas.microsoft.com/office/drawing/2014/main" id="{413F4577-DB48-46F0-B7F5-FE268FB852DC}"/>
              </a:ext>
            </a:extLst>
          </p:cNvPr>
          <p:cNvSpPr>
            <a:spLocks xmlns:a="http://schemas.openxmlformats.org/drawingml/2006/main" noGrp="1"/>
          </p:cNvSpPr>
          <p:nvPr/>
        </p:nvSpPr>
        <p:spPr>
          <a:xfrm xmlns:a="http://schemas.openxmlformats.org/drawingml/2006/main">
            <a:off x="3429000" y="2505075"/>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240 h · 15 h/semana</a:t>
            </a:r>
          </a:p>
        </p:txBody>
      </p:sp>
      <p:sp>
        <p:nvSpPr>
          <p:cNvPr id="12" name="">
            <a:extLst xmlns:a="http://schemas.openxmlformats.org/drawingml/2006/main">
              <a:ext uri="{FF2B5EF4-FFF2-40B4-BE49-F238E27FC236}">
                <a16:creationId xmlns:a16="http://schemas.microsoft.com/office/drawing/2014/main" id="{DE4C944E-93D0-49BC-AE08-3151C43E0151}"/>
              </a:ext>
            </a:extLst>
          </p:cNvPr>
          <p:cNvSpPr>
            <a:spLocks xmlns:a="http://schemas.openxmlformats.org/drawingml/2006/main" noGrp="1"/>
          </p:cNvSpPr>
          <p:nvPr/>
        </p:nvSpPr>
        <p:spPr>
          <a:xfrm xmlns:a="http://schemas.openxmlformats.org/drawingml/2006/main">
            <a:off x="6248400" y="1409700"/>
            <a:ext cx="2533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Rogério</a:t>
            </a:r>
          </a:p>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Arroyo</a:t>
            </a:r>
          </a:p>
        </p:txBody>
      </p:sp>
      <p:sp>
        <p:nvSpPr>
          <p:cNvPr id="13" name="">
            <a:extLst xmlns:a="http://schemas.openxmlformats.org/drawingml/2006/main">
              <a:ext uri="{FF2B5EF4-FFF2-40B4-BE49-F238E27FC236}">
                <a16:creationId xmlns:a16="http://schemas.microsoft.com/office/drawing/2014/main" id="{B7ABAD4F-66AB-4A9C-A2AF-5798AFA3EBCF}"/>
              </a:ext>
            </a:extLst>
          </p:cNvPr>
          <p:cNvSpPr>
            <a:spLocks xmlns:a="http://schemas.openxmlformats.org/drawingml/2006/main" noGrp="1"/>
          </p:cNvSpPr>
          <p:nvPr/>
        </p:nvSpPr>
        <p:spPr>
          <a:xfrm xmlns:a="http://schemas.openxmlformats.org/drawingml/2006/main">
            <a:off x="6248400" y="2105025"/>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2563EB"/>
                </a:solidFill>
                <a:latin typeface="Arial"/>
                <a:ea typeface="Arial"/>
                <a:cs typeface="Arial"/>
              </a:defRPr>
            </a:pPr>
            <a:r>
              <a:rPr sz="1650" b="0">
                <a:solidFill>
                  <a:srgbClr val="2563EB"/>
                </a:solidFill>
                <a:latin typeface="Arial"/>
                <a:ea typeface="Arial"/>
                <a:cs typeface="Arial"/>
              </a:rPr>
              <a:t>Desenvolvimento</a:t>
            </a:r>
          </a:p>
        </p:txBody>
      </p:sp>
      <p:sp>
        <p:nvSpPr>
          <p:cNvPr id="14" name="">
            <a:extLst xmlns:a="http://schemas.openxmlformats.org/drawingml/2006/main">
              <a:ext uri="{FF2B5EF4-FFF2-40B4-BE49-F238E27FC236}">
                <a16:creationId xmlns:a16="http://schemas.microsoft.com/office/drawing/2014/main" id="{F6E0CCE9-5062-4FC5-B63E-93AB19E482A4}"/>
              </a:ext>
            </a:extLst>
          </p:cNvPr>
          <p:cNvSpPr>
            <a:spLocks xmlns:a="http://schemas.openxmlformats.org/drawingml/2006/main" noGrp="1"/>
          </p:cNvSpPr>
          <p:nvPr/>
        </p:nvSpPr>
        <p:spPr>
          <a:xfrm xmlns:a="http://schemas.openxmlformats.org/drawingml/2006/main">
            <a:off x="6248400" y="2505075"/>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320 h · 20 h/semana</a:t>
            </a:r>
          </a:p>
        </p:txBody>
      </p:sp>
      <p:sp>
        <p:nvSpPr>
          <p:cNvPr id="15" name="">
            <a:extLst xmlns:a="http://schemas.openxmlformats.org/drawingml/2006/main">
              <a:ext uri="{FF2B5EF4-FFF2-40B4-BE49-F238E27FC236}">
                <a16:creationId xmlns:a16="http://schemas.microsoft.com/office/drawing/2014/main" id="{18E6CA98-D88B-422E-8018-8C369D981566}"/>
              </a:ext>
            </a:extLst>
          </p:cNvPr>
          <p:cNvSpPr>
            <a:spLocks xmlns:a="http://schemas.openxmlformats.org/drawingml/2006/main" noGrp="1"/>
          </p:cNvSpPr>
          <p:nvPr/>
        </p:nvSpPr>
        <p:spPr>
          <a:xfrm xmlns:a="http://schemas.openxmlformats.org/drawingml/2006/main">
            <a:off x="9067800" y="1409700"/>
            <a:ext cx="2533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Anthony</a:t>
            </a:r>
          </a:p>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Sforzin</a:t>
            </a:r>
          </a:p>
        </p:txBody>
      </p:sp>
      <p:sp>
        <p:nvSpPr>
          <p:cNvPr id="16" name="">
            <a:extLst xmlns:a="http://schemas.openxmlformats.org/drawingml/2006/main">
              <a:ext uri="{FF2B5EF4-FFF2-40B4-BE49-F238E27FC236}">
                <a16:creationId xmlns:a16="http://schemas.microsoft.com/office/drawing/2014/main" id="{9E9E479E-EAA6-4528-B5E7-5F59A7E7654B}"/>
              </a:ext>
            </a:extLst>
          </p:cNvPr>
          <p:cNvSpPr>
            <a:spLocks xmlns:a="http://schemas.openxmlformats.org/drawingml/2006/main" noGrp="1"/>
          </p:cNvSpPr>
          <p:nvPr/>
        </p:nvSpPr>
        <p:spPr>
          <a:xfrm xmlns:a="http://schemas.openxmlformats.org/drawingml/2006/main">
            <a:off x="9067800" y="2105025"/>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2563EB"/>
                </a:solidFill>
                <a:latin typeface="Arial"/>
                <a:ea typeface="Arial"/>
                <a:cs typeface="Arial"/>
              </a:defRPr>
            </a:pPr>
            <a:r>
              <a:rPr sz="1650" b="0">
                <a:solidFill>
                  <a:srgbClr val="2563EB"/>
                </a:solidFill>
                <a:latin typeface="Arial"/>
                <a:ea typeface="Arial"/>
                <a:cs typeface="Arial"/>
              </a:rPr>
              <a:t>Testes e documentação</a:t>
            </a:r>
          </a:p>
        </p:txBody>
      </p:sp>
      <p:sp>
        <p:nvSpPr>
          <p:cNvPr id="17" name="">
            <a:extLst xmlns:a="http://schemas.openxmlformats.org/drawingml/2006/main">
              <a:ext uri="{FF2B5EF4-FFF2-40B4-BE49-F238E27FC236}">
                <a16:creationId xmlns:a16="http://schemas.microsoft.com/office/drawing/2014/main" id="{69F7B8F2-5AE3-4754-9630-8D46E9A562C2}"/>
              </a:ext>
            </a:extLst>
          </p:cNvPr>
          <p:cNvSpPr>
            <a:spLocks xmlns:a="http://schemas.openxmlformats.org/drawingml/2006/main" noGrp="1"/>
          </p:cNvSpPr>
          <p:nvPr/>
        </p:nvSpPr>
        <p:spPr>
          <a:xfrm xmlns:a="http://schemas.openxmlformats.org/drawingml/2006/main">
            <a:off x="9067800" y="2505075"/>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160 h · 10 h/semana</a:t>
            </a:r>
          </a:p>
        </p:txBody>
      </p:sp>
      <p:sp>
        <p:nvSpPr>
          <p:cNvPr id="18" name="">
            <a:extLst xmlns:a="http://schemas.openxmlformats.org/drawingml/2006/main">
              <a:ext uri="{FF2B5EF4-FFF2-40B4-BE49-F238E27FC236}">
                <a16:creationId xmlns:a16="http://schemas.microsoft.com/office/drawing/2014/main" id="{23DF8A64-9F64-401B-A3B4-3199D633CD9B}"/>
              </a:ext>
            </a:extLst>
          </p:cNvPr>
          <p:cNvSpPr>
            <a:spLocks xmlns:a="http://schemas.openxmlformats.org/drawingml/2006/main" noGrp="1"/>
          </p:cNvSpPr>
          <p:nvPr/>
        </p:nvSpPr>
        <p:spPr>
          <a:xfrm xmlns:a="http://schemas.openxmlformats.org/drawingml/2006/main">
            <a:off x="609600" y="287655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9" name="">
            <a:extLst xmlns:a="http://schemas.openxmlformats.org/drawingml/2006/main">
              <a:ext uri="{FF2B5EF4-FFF2-40B4-BE49-F238E27FC236}">
                <a16:creationId xmlns:a16="http://schemas.microsoft.com/office/drawing/2014/main" id="{A2055468-E6E0-465E-A025-77F74E7C301B}"/>
              </a:ext>
            </a:extLst>
          </p:cNvPr>
          <p:cNvSpPr>
            <a:spLocks xmlns:a="http://schemas.openxmlformats.org/drawingml/2006/main" noGrp="1"/>
          </p:cNvSpPr>
          <p:nvPr/>
        </p:nvSpPr>
        <p:spPr>
          <a:xfrm xmlns:a="http://schemas.openxmlformats.org/drawingml/2006/main">
            <a:off x="609600" y="325755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563EB"/>
                </a:solidFill>
                <a:latin typeface="Arial"/>
                <a:ea typeface="Arial"/>
                <a:cs typeface="Arial"/>
              </a:defRPr>
            </a:pPr>
            <a:r>
              <a:rPr sz="1500" b="1">
                <a:solidFill>
                  <a:srgbClr val="2563EB"/>
                </a:solidFill>
                <a:latin typeface="Arial"/>
                <a:ea typeface="Arial"/>
                <a:cs typeface="Arial"/>
              </a:rPr>
              <a:t>SEMANAS 01–02</a:t>
            </a:r>
          </a:p>
        </p:txBody>
      </p:sp>
      <p:sp>
        <p:nvSpPr>
          <p:cNvPr id="20" name="">
            <a:extLst xmlns:a="http://schemas.openxmlformats.org/drawingml/2006/main">
              <a:ext uri="{FF2B5EF4-FFF2-40B4-BE49-F238E27FC236}">
                <a16:creationId xmlns:a16="http://schemas.microsoft.com/office/drawing/2014/main" id="{983FB048-660C-42EC-8D35-4CA5EA27023B}"/>
              </a:ext>
            </a:extLst>
          </p:cNvPr>
          <p:cNvSpPr>
            <a:spLocks xmlns:a="http://schemas.openxmlformats.org/drawingml/2006/main" noGrp="1"/>
          </p:cNvSpPr>
          <p:nvPr/>
        </p:nvSpPr>
        <p:spPr>
          <a:xfrm xmlns:a="http://schemas.openxmlformats.org/drawingml/2006/main">
            <a:off x="609600" y="362902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Validação com usuários</a:t>
            </a:r>
          </a:p>
        </p:txBody>
      </p:sp>
      <p:sp>
        <p:nvSpPr>
          <p:cNvPr id="21" name="">
            <a:extLst xmlns:a="http://schemas.openxmlformats.org/drawingml/2006/main">
              <a:ext uri="{FF2B5EF4-FFF2-40B4-BE49-F238E27FC236}">
                <a16:creationId xmlns:a16="http://schemas.microsoft.com/office/drawing/2014/main" id="{9402165D-0808-44AA-AD95-18AD1B34AF04}"/>
              </a:ext>
            </a:extLst>
          </p:cNvPr>
          <p:cNvSpPr>
            <a:spLocks xmlns:a="http://schemas.openxmlformats.org/drawingml/2006/main" noGrp="1"/>
          </p:cNvSpPr>
          <p:nvPr/>
        </p:nvSpPr>
        <p:spPr>
          <a:xfrm xmlns:a="http://schemas.openxmlformats.org/drawingml/2006/main">
            <a:off x="609600" y="40576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Perguntas e indicadores</a:t>
            </a:r>
          </a:p>
        </p:txBody>
      </p:sp>
      <p:sp>
        <p:nvSpPr>
          <p:cNvPr id="22" name="">
            <a:extLst xmlns:a="http://schemas.openxmlformats.org/drawingml/2006/main">
              <a:ext uri="{FF2B5EF4-FFF2-40B4-BE49-F238E27FC236}">
                <a16:creationId xmlns:a16="http://schemas.microsoft.com/office/drawing/2014/main" id="{CE4B4D7A-245B-4336-A319-70A6B653D522}"/>
              </a:ext>
            </a:extLst>
          </p:cNvPr>
          <p:cNvSpPr>
            <a:spLocks xmlns:a="http://schemas.openxmlformats.org/drawingml/2006/main" noGrp="1"/>
          </p:cNvSpPr>
          <p:nvPr/>
        </p:nvSpPr>
        <p:spPr>
          <a:xfrm xmlns:a="http://schemas.openxmlformats.org/drawingml/2006/main">
            <a:off x="4381500" y="325755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563EB"/>
                </a:solidFill>
                <a:latin typeface="Arial"/>
                <a:ea typeface="Arial"/>
                <a:cs typeface="Arial"/>
              </a:defRPr>
            </a:pPr>
            <a:r>
              <a:rPr sz="1500" b="1">
                <a:solidFill>
                  <a:srgbClr val="2563EB"/>
                </a:solidFill>
                <a:latin typeface="Arial"/>
                <a:ea typeface="Arial"/>
                <a:cs typeface="Arial"/>
              </a:rPr>
              <a:t>SEMANAS 03–04</a:t>
            </a:r>
          </a:p>
        </p:txBody>
      </p:sp>
      <p:sp>
        <p:nvSpPr>
          <p:cNvPr id="23" name="">
            <a:extLst xmlns:a="http://schemas.openxmlformats.org/drawingml/2006/main">
              <a:ext uri="{FF2B5EF4-FFF2-40B4-BE49-F238E27FC236}">
                <a16:creationId xmlns:a16="http://schemas.microsoft.com/office/drawing/2014/main" id="{344D8C9F-63B1-47DC-8F41-6F1C5A7927FC}"/>
              </a:ext>
            </a:extLst>
          </p:cNvPr>
          <p:cNvSpPr>
            <a:spLocks xmlns:a="http://schemas.openxmlformats.org/drawingml/2006/main" noGrp="1"/>
          </p:cNvSpPr>
          <p:nvPr/>
        </p:nvSpPr>
        <p:spPr>
          <a:xfrm xmlns:a="http://schemas.openxmlformats.org/drawingml/2006/main">
            <a:off x="4381500" y="362902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Auditoria ampliada</a:t>
            </a:r>
          </a:p>
        </p:txBody>
      </p:sp>
      <p:sp>
        <p:nvSpPr>
          <p:cNvPr id="24" name="">
            <a:extLst xmlns:a="http://schemas.openxmlformats.org/drawingml/2006/main">
              <a:ext uri="{FF2B5EF4-FFF2-40B4-BE49-F238E27FC236}">
                <a16:creationId xmlns:a16="http://schemas.microsoft.com/office/drawing/2014/main" id="{C280CDF7-1CB4-4CD7-A255-4041596AA5C5}"/>
              </a:ext>
            </a:extLst>
          </p:cNvPr>
          <p:cNvSpPr>
            <a:spLocks xmlns:a="http://schemas.openxmlformats.org/drawingml/2006/main" noGrp="1"/>
          </p:cNvSpPr>
          <p:nvPr/>
        </p:nvSpPr>
        <p:spPr>
          <a:xfrm xmlns:a="http://schemas.openxmlformats.org/drawingml/2006/main">
            <a:off x="4381500" y="40576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Totais e carga repetível</a:t>
            </a:r>
          </a:p>
        </p:txBody>
      </p:sp>
      <p:sp>
        <p:nvSpPr>
          <p:cNvPr id="25" name="">
            <a:extLst xmlns:a="http://schemas.openxmlformats.org/drawingml/2006/main">
              <a:ext uri="{FF2B5EF4-FFF2-40B4-BE49-F238E27FC236}">
                <a16:creationId xmlns:a16="http://schemas.microsoft.com/office/drawing/2014/main" id="{87D466EE-44FF-41BF-8F3E-656C36699BEA}"/>
              </a:ext>
            </a:extLst>
          </p:cNvPr>
          <p:cNvSpPr>
            <a:spLocks xmlns:a="http://schemas.openxmlformats.org/drawingml/2006/main" noGrp="1"/>
          </p:cNvSpPr>
          <p:nvPr/>
        </p:nvSpPr>
        <p:spPr>
          <a:xfrm xmlns:a="http://schemas.openxmlformats.org/drawingml/2006/main">
            <a:off x="8153400" y="325755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563EB"/>
                </a:solidFill>
                <a:latin typeface="Arial"/>
                <a:ea typeface="Arial"/>
                <a:cs typeface="Arial"/>
              </a:defRPr>
            </a:pPr>
            <a:r>
              <a:rPr sz="1500" b="1">
                <a:solidFill>
                  <a:srgbClr val="2563EB"/>
                </a:solidFill>
                <a:latin typeface="Arial"/>
                <a:ea typeface="Arial"/>
                <a:cs typeface="Arial"/>
              </a:rPr>
              <a:t>SEMANAS 05–08</a:t>
            </a:r>
          </a:p>
        </p:txBody>
      </p:sp>
      <p:sp>
        <p:nvSpPr>
          <p:cNvPr id="26" name="">
            <a:extLst xmlns:a="http://schemas.openxmlformats.org/drawingml/2006/main">
              <a:ext uri="{FF2B5EF4-FFF2-40B4-BE49-F238E27FC236}">
                <a16:creationId xmlns:a16="http://schemas.microsoft.com/office/drawing/2014/main" id="{5D06E242-1C96-4764-9AB9-B954E75BB454}"/>
              </a:ext>
            </a:extLst>
          </p:cNvPr>
          <p:cNvSpPr>
            <a:spLocks xmlns:a="http://schemas.openxmlformats.org/drawingml/2006/main" noGrp="1"/>
          </p:cNvSpPr>
          <p:nvPr/>
        </p:nvSpPr>
        <p:spPr>
          <a:xfrm xmlns:a="http://schemas.openxmlformats.org/drawingml/2006/main">
            <a:off x="8153400" y="362902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Usabilidade</a:t>
            </a:r>
          </a:p>
        </p:txBody>
      </p:sp>
      <p:sp>
        <p:nvSpPr>
          <p:cNvPr id="27" name="">
            <a:extLst xmlns:a="http://schemas.openxmlformats.org/drawingml/2006/main">
              <a:ext uri="{FF2B5EF4-FFF2-40B4-BE49-F238E27FC236}">
                <a16:creationId xmlns:a16="http://schemas.microsoft.com/office/drawing/2014/main" id="{8D8BE261-6CB5-45E3-9B2E-1BEAE5D1C9EF}"/>
              </a:ext>
            </a:extLst>
          </p:cNvPr>
          <p:cNvSpPr>
            <a:spLocks xmlns:a="http://schemas.openxmlformats.org/drawingml/2006/main" noGrp="1"/>
          </p:cNvSpPr>
          <p:nvPr/>
        </p:nvSpPr>
        <p:spPr>
          <a:xfrm xmlns:a="http://schemas.openxmlformats.org/drawingml/2006/main">
            <a:off x="8153400" y="40576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Jornada por usuário externo</a:t>
            </a:r>
          </a:p>
        </p:txBody>
      </p:sp>
      <p:sp>
        <p:nvSpPr>
          <p:cNvPr id="28" name="">
            <a:extLst xmlns:a="http://schemas.openxmlformats.org/drawingml/2006/main">
              <a:ext uri="{FF2B5EF4-FFF2-40B4-BE49-F238E27FC236}">
                <a16:creationId xmlns:a16="http://schemas.microsoft.com/office/drawing/2014/main" id="{33590861-156C-4F66-87D6-618CA06B718E}"/>
              </a:ext>
            </a:extLst>
          </p:cNvPr>
          <p:cNvSpPr>
            <a:spLocks xmlns:a="http://schemas.openxmlformats.org/drawingml/2006/main" noGrp="1"/>
          </p:cNvSpPr>
          <p:nvPr/>
        </p:nvSpPr>
        <p:spPr>
          <a:xfrm xmlns:a="http://schemas.openxmlformats.org/drawingml/2006/main">
            <a:off x="609600" y="46863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563EB"/>
                </a:solidFill>
                <a:latin typeface="Arial"/>
                <a:ea typeface="Arial"/>
                <a:cs typeface="Arial"/>
              </a:defRPr>
            </a:pPr>
            <a:r>
              <a:rPr sz="1500" b="1">
                <a:solidFill>
                  <a:srgbClr val="2563EB"/>
                </a:solidFill>
                <a:latin typeface="Arial"/>
                <a:ea typeface="Arial"/>
                <a:cs typeface="Arial"/>
              </a:rPr>
              <a:t>SEMANAS 09–12</a:t>
            </a:r>
          </a:p>
        </p:txBody>
      </p:sp>
      <p:sp>
        <p:nvSpPr>
          <p:cNvPr id="29" name="">
            <a:extLst xmlns:a="http://schemas.openxmlformats.org/drawingml/2006/main">
              <a:ext uri="{FF2B5EF4-FFF2-40B4-BE49-F238E27FC236}">
                <a16:creationId xmlns:a16="http://schemas.microsoft.com/office/drawing/2014/main" id="{20690750-BAE2-4018-BDC1-C061D6859C80}"/>
              </a:ext>
            </a:extLst>
          </p:cNvPr>
          <p:cNvSpPr>
            <a:spLocks xmlns:a="http://schemas.openxmlformats.org/drawingml/2006/main" noGrp="1"/>
          </p:cNvSpPr>
          <p:nvPr/>
        </p:nvSpPr>
        <p:spPr>
          <a:xfrm xmlns:a="http://schemas.openxmlformats.org/drawingml/2006/main">
            <a:off x="609600" y="5057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Comparação com 2025</a:t>
            </a:r>
          </a:p>
        </p:txBody>
      </p:sp>
      <p:sp>
        <p:nvSpPr>
          <p:cNvPr id="30" name="">
            <a:extLst xmlns:a="http://schemas.openxmlformats.org/drawingml/2006/main">
              <a:ext uri="{FF2B5EF4-FFF2-40B4-BE49-F238E27FC236}">
                <a16:creationId xmlns:a16="http://schemas.microsoft.com/office/drawing/2014/main" id="{82D29D4E-70B1-4F4C-A3CE-76CA45EC7DC2}"/>
              </a:ext>
            </a:extLst>
          </p:cNvPr>
          <p:cNvSpPr>
            <a:spLocks xmlns:a="http://schemas.openxmlformats.org/drawingml/2006/main" noGrp="1"/>
          </p:cNvSpPr>
          <p:nvPr/>
        </p:nvSpPr>
        <p:spPr>
          <a:xfrm xmlns:a="http://schemas.openxmlformats.org/drawingml/2006/main">
            <a:off x="609600" y="54864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Medidas e períodos equivalentes</a:t>
            </a:r>
          </a:p>
        </p:txBody>
      </p:sp>
      <p:sp>
        <p:nvSpPr>
          <p:cNvPr id="31" name="">
            <a:extLst xmlns:a="http://schemas.openxmlformats.org/drawingml/2006/main">
              <a:ext uri="{FF2B5EF4-FFF2-40B4-BE49-F238E27FC236}">
                <a16:creationId xmlns:a16="http://schemas.microsoft.com/office/drawing/2014/main" id="{88A25A64-98CA-4E28-8854-37A0A8E0B651}"/>
              </a:ext>
            </a:extLst>
          </p:cNvPr>
          <p:cNvSpPr>
            <a:spLocks xmlns:a="http://schemas.openxmlformats.org/drawingml/2006/main" noGrp="1"/>
          </p:cNvSpPr>
          <p:nvPr/>
        </p:nvSpPr>
        <p:spPr>
          <a:xfrm xmlns:a="http://schemas.openxmlformats.org/drawingml/2006/main">
            <a:off x="4381500" y="46863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563EB"/>
                </a:solidFill>
                <a:latin typeface="Arial"/>
                <a:ea typeface="Arial"/>
                <a:cs typeface="Arial"/>
              </a:defRPr>
            </a:pPr>
            <a:r>
              <a:rPr sz="1500" b="1">
                <a:solidFill>
                  <a:srgbClr val="2563EB"/>
                </a:solidFill>
                <a:latin typeface="Arial"/>
                <a:ea typeface="Arial"/>
                <a:cs typeface="Arial"/>
              </a:rPr>
              <a:t>SEMANAS 13–14</a:t>
            </a:r>
          </a:p>
        </p:txBody>
      </p:sp>
      <p:sp>
        <p:nvSpPr>
          <p:cNvPr id="32" name="">
            <a:extLst xmlns:a="http://schemas.openxmlformats.org/drawingml/2006/main">
              <a:ext uri="{FF2B5EF4-FFF2-40B4-BE49-F238E27FC236}">
                <a16:creationId xmlns:a16="http://schemas.microsoft.com/office/drawing/2014/main" id="{E7FC2192-8342-4C8A-82A6-4DFB65C25BA5}"/>
              </a:ext>
            </a:extLst>
          </p:cNvPr>
          <p:cNvSpPr>
            <a:spLocks xmlns:a="http://schemas.openxmlformats.org/drawingml/2006/main" noGrp="1"/>
          </p:cNvSpPr>
          <p:nvPr/>
        </p:nvSpPr>
        <p:spPr>
          <a:xfrm xmlns:a="http://schemas.openxmlformats.org/drawingml/2006/main">
            <a:off x="4381500" y="5057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Validação integrada</a:t>
            </a:r>
          </a:p>
        </p:txBody>
      </p:sp>
      <p:sp>
        <p:nvSpPr>
          <p:cNvPr id="33" name="">
            <a:extLst xmlns:a="http://schemas.openxmlformats.org/drawingml/2006/main">
              <a:ext uri="{FF2B5EF4-FFF2-40B4-BE49-F238E27FC236}">
                <a16:creationId xmlns:a16="http://schemas.microsoft.com/office/drawing/2014/main" id="{F0902F51-EA36-4D1E-9645-CBC37E9F64FE}"/>
              </a:ext>
            </a:extLst>
          </p:cNvPr>
          <p:cNvSpPr>
            <a:spLocks xmlns:a="http://schemas.openxmlformats.org/drawingml/2006/main" noGrp="1"/>
          </p:cNvSpPr>
          <p:nvPr/>
        </p:nvSpPr>
        <p:spPr>
          <a:xfrm xmlns:a="http://schemas.openxmlformats.org/drawingml/2006/main">
            <a:off x="4381500" y="54864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Testes e exportação aprovada</a:t>
            </a:r>
          </a:p>
        </p:txBody>
      </p:sp>
      <p:sp>
        <p:nvSpPr>
          <p:cNvPr id="34" name="">
            <a:extLst xmlns:a="http://schemas.openxmlformats.org/drawingml/2006/main">
              <a:ext uri="{FF2B5EF4-FFF2-40B4-BE49-F238E27FC236}">
                <a16:creationId xmlns:a16="http://schemas.microsoft.com/office/drawing/2014/main" id="{1C36AB48-A6FD-4653-90E3-DE724FF62C6D}"/>
              </a:ext>
            </a:extLst>
          </p:cNvPr>
          <p:cNvSpPr>
            <a:spLocks xmlns:a="http://schemas.openxmlformats.org/drawingml/2006/main" noGrp="1"/>
          </p:cNvSpPr>
          <p:nvPr/>
        </p:nvSpPr>
        <p:spPr>
          <a:xfrm xmlns:a="http://schemas.openxmlformats.org/drawingml/2006/main">
            <a:off x="8153400" y="46863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563EB"/>
                </a:solidFill>
                <a:latin typeface="Arial"/>
                <a:ea typeface="Arial"/>
                <a:cs typeface="Arial"/>
              </a:defRPr>
            </a:pPr>
            <a:r>
              <a:rPr sz="1500" b="1">
                <a:solidFill>
                  <a:srgbClr val="2563EB"/>
                </a:solidFill>
                <a:latin typeface="Arial"/>
                <a:ea typeface="Arial"/>
                <a:cs typeface="Arial"/>
              </a:rPr>
              <a:t>SEMANAS 15–16</a:t>
            </a:r>
          </a:p>
        </p:txBody>
      </p:sp>
      <p:sp>
        <p:nvSpPr>
          <p:cNvPr id="35" name="">
            <a:extLst xmlns:a="http://schemas.openxmlformats.org/drawingml/2006/main">
              <a:ext uri="{FF2B5EF4-FFF2-40B4-BE49-F238E27FC236}">
                <a16:creationId xmlns:a16="http://schemas.microsoft.com/office/drawing/2014/main" id="{5BB4022C-27E7-494E-A696-9756964D2B5A}"/>
              </a:ext>
            </a:extLst>
          </p:cNvPr>
          <p:cNvSpPr>
            <a:spLocks xmlns:a="http://schemas.openxmlformats.org/drawingml/2006/main" noGrp="1"/>
          </p:cNvSpPr>
          <p:nvPr/>
        </p:nvSpPr>
        <p:spPr>
          <a:xfrm xmlns:a="http://schemas.openxmlformats.org/drawingml/2006/main">
            <a:off x="8153400" y="5057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Piloto e documentação</a:t>
            </a:r>
          </a:p>
        </p:txBody>
      </p:sp>
      <p:sp>
        <p:nvSpPr>
          <p:cNvPr id="36" name="">
            <a:extLst xmlns:a="http://schemas.openxmlformats.org/drawingml/2006/main">
              <a:ext uri="{FF2B5EF4-FFF2-40B4-BE49-F238E27FC236}">
                <a16:creationId xmlns:a16="http://schemas.microsoft.com/office/drawing/2014/main" id="{8863ECFE-3D7B-4D7F-A34D-3BDF33D5E674}"/>
              </a:ext>
            </a:extLst>
          </p:cNvPr>
          <p:cNvSpPr>
            <a:spLocks xmlns:a="http://schemas.openxmlformats.org/drawingml/2006/main" noGrp="1"/>
          </p:cNvSpPr>
          <p:nvPr/>
        </p:nvSpPr>
        <p:spPr>
          <a:xfrm xmlns:a="http://schemas.openxmlformats.org/drawingml/2006/main">
            <a:off x="8153400" y="54864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Reprodução em ambiente limpo</a:t>
            </a:r>
          </a:p>
        </p:txBody>
      </p:sp>
      <p:sp>
        <p:nvSpPr>
          <p:cNvPr id="37" name="">
            <a:extLst xmlns:a="http://schemas.openxmlformats.org/drawingml/2006/main">
              <a:ext uri="{FF2B5EF4-FFF2-40B4-BE49-F238E27FC236}">
                <a16:creationId xmlns:a16="http://schemas.microsoft.com/office/drawing/2014/main" id="{AEEA0E39-67DB-4E67-9A1F-E602E783D9B7}"/>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Planejamento proposto. Responsáveis, dependências, entregáveis e aceite detalhados no relatório.</a:t>
            </a:r>
          </a:p>
        </p:txBody>
      </p:sp>
    </p:spTree>
    <p:extLst>
      <p:ext uri="{BB962C8B-B14F-4D97-AF65-F5344CB8AC3E}">
        <p14:creationId xmlns:p14="http://schemas.microsoft.com/office/powerpoint/2010/main" val="21221830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12FFF4E-3A51-4476-8D1B-122498BE3151}"/>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718D32A8-8CD5-49EC-B923-BC16FCF1D06B}"/>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2563EB"/>
                </a:solidFill>
                <a:latin typeface="Arial"/>
                <a:ea typeface="Arial"/>
                <a:cs typeface="Arial"/>
              </a:defRPr>
            </a:pPr>
            <a:r>
              <a:rPr sz="1125" b="1">
                <a:solidFill>
                  <a:srgbClr val="2563EB"/>
                </a:solidFill>
                <a:latin typeface="Arial"/>
                <a:ea typeface="Arial"/>
                <a:cs typeface="Arial"/>
              </a:rPr>
              <a:t>VIABILIDADE</a:t>
            </a:r>
          </a:p>
        </p:txBody>
      </p:sp>
      <p:sp>
        <p:nvSpPr>
          <p:cNvPr id="3" name="">
            <a:extLst xmlns:a="http://schemas.openxmlformats.org/drawingml/2006/main">
              <a:ext uri="{FF2B5EF4-FFF2-40B4-BE49-F238E27FC236}">
                <a16:creationId xmlns:a16="http://schemas.microsoft.com/office/drawing/2014/main" id="{3E27FCD8-9515-4669-869D-9C7D9532C39B}"/>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83F"/>
                </a:solidFill>
                <a:latin typeface="Arial"/>
                <a:ea typeface="Arial"/>
                <a:cs typeface="Arial"/>
              </a:defRPr>
            </a:pPr>
            <a:r>
              <a:rPr sz="3225" b="1">
                <a:solidFill>
                  <a:srgbClr val="14283F"/>
                </a:solidFill>
                <a:latin typeface="Arial"/>
                <a:ea typeface="Arial"/>
                <a:cs typeface="Arial"/>
              </a:rPr>
              <a:t>Orçamento e gestão de riscos</a:t>
            </a:r>
          </a:p>
        </p:txBody>
      </p:sp>
      <p:sp>
        <p:nvSpPr>
          <p:cNvPr id="4" name="">
            <a:extLst xmlns:a="http://schemas.openxmlformats.org/drawingml/2006/main">
              <a:ext uri="{FF2B5EF4-FFF2-40B4-BE49-F238E27FC236}">
                <a16:creationId xmlns:a16="http://schemas.microsoft.com/office/drawing/2014/main" id="{10BC9BB4-6722-4B9D-BCAC-B55222593860}"/>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5" name="">
            <a:extLst xmlns:a="http://schemas.openxmlformats.org/drawingml/2006/main">
              <a:ext uri="{FF2B5EF4-FFF2-40B4-BE49-F238E27FC236}">
                <a16:creationId xmlns:a16="http://schemas.microsoft.com/office/drawing/2014/main" id="{0B062525-1B1E-4E42-B999-7D0B16C884E5}"/>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07 / 08</a:t>
            </a:r>
          </a:p>
        </p:txBody>
      </p:sp>
      <p:graphicFrame>
        <p:nvGraphicFramePr>
          <p:cNvPr id="24" name=""/>
          <p:cNvGraphicFramePr/>
          <p:nvPr/>
        </p:nvGraphicFramePr>
        <p:xfrm>
          <a:off xmlns:a="http://schemas.openxmlformats.org/drawingml/2006/main" x="609600" y="1504950"/>
          <a:ext xmlns:a="http://schemas.openxmlformats.org/drawingml/2006/main" cx="6448425" cy="3105150"/>
        </p:xfrm>
        <a:graphic xmlns:a="http://schemas.openxmlformats.org/drawingml/2006/main">
          <a:graphicData uri="http://schemas.openxmlformats.org/drawingml/2006/table">
            <a:tbl>
              <a:tblPr/>
              <a:tblGrid>
                <a:gridCol w="4800600"/>
                <a:gridCol w="1647825"/>
              </a:tblGrid>
              <a:tr h="388144">
                <a:tc>
                  <a:txBody>
                    <a:bodyPr lIns="114300" tIns="66675" rIns="114300" bIns="57150">
                      <a:noAutofit/>
                    </a:bodyPr>
                    <a:lstStyle/>
                    <a:p>
                      <a:pPr algn="l"/>
                      <a:r>
                        <a:rPr sz="1650" b="1">
                          <a:solidFill>
                            <a:srgbClr val="FFFFFF"/>
                          </a:solidFill>
                          <a:latin typeface="Arial"/>
                          <a:ea typeface="Arial"/>
                          <a:cs typeface="Arial"/>
                        </a:rPr>
                        <a:t>Memória de cálculo</a:t>
                      </a:r>
                    </a:p>
                  </a:txBody>
                  <a:tcPr marL="91440" marR="91440" marT="45720" marB="45720">
                    <a:lnL w="3810">
                      <a:solidFill>
                        <a:srgbClr val="DCE3EC"/>
                      </a:solidFill>
                      <a:prstDash val="solid"/>
                    </a:lnL>
                    <a:lnR w="1429">
                      <a:solidFill>
                        <a:srgbClr val="DCE3EC"/>
                      </a:solidFill>
                      <a:prstDash val="solid"/>
                    </a:lnR>
                    <a:lnT w="3810">
                      <a:solidFill>
                        <a:srgbClr val="DCE3EC"/>
                      </a:solidFill>
                      <a:prstDash val="solid"/>
                    </a:lnT>
                    <a:lnB w="4763">
                      <a:solidFill>
                        <a:srgbClr val="DCE3EC"/>
                      </a:solidFill>
                      <a:prstDash val="solid"/>
                    </a:lnB>
                    <a:solidFill>
                      <a:srgbClr val="14283F"/>
                    </a:solidFill>
                  </a:tcPr>
                </a:tc>
                <a:tc>
                  <a:txBody>
                    <a:bodyPr lIns="114300" tIns="66675" rIns="114300" bIns="57150">
                      <a:noAutofit/>
                    </a:bodyPr>
                    <a:lstStyle/>
                    <a:p>
                      <a:pPr algn="r"/>
                      <a:r>
                        <a:rPr sz="1650" b="1">
                          <a:solidFill>
                            <a:srgbClr val="FFFFFF"/>
                          </a:solidFill>
                          <a:latin typeface="Arial"/>
                          <a:ea typeface="Arial"/>
                          <a:cs typeface="Arial"/>
                        </a:rPr>
                        <a:t>Valor (R$)</a:t>
                      </a:r>
                    </a:p>
                  </a:txBody>
                  <a:tcPr marL="91440" marR="91440" marT="45720" marB="45720">
                    <a:lnR w="3810">
                      <a:solidFill>
                        <a:srgbClr val="DCE3EC"/>
                      </a:solidFill>
                      <a:prstDash val="solid"/>
                    </a:lnR>
                    <a:lnT w="3810">
                      <a:solidFill>
                        <a:srgbClr val="DCE3EC"/>
                      </a:solidFill>
                      <a:prstDash val="solid"/>
                    </a:lnT>
                    <a:lnB w="4763">
                      <a:solidFill>
                        <a:srgbClr val="DCE3EC"/>
                      </a:solidFill>
                      <a:prstDash val="solid"/>
                    </a:lnB>
                    <a:solidFill>
                      <a:srgbClr val="14283F"/>
                    </a:solidFill>
                  </a:tcPr>
                </a:tc>
              </a:tr>
              <a:tr h="388144">
                <a:tc>
                  <a:txBody>
                    <a:bodyPr lIns="114300" tIns="66675" rIns="114300" bIns="57150">
                      <a:noAutofit/>
                    </a:bodyPr>
                    <a:lstStyle/>
                    <a:p>
                      <a:pPr algn="l"/>
                      <a:r>
                        <a:rPr sz="1650" b="0">
                          <a:solidFill>
                            <a:srgbClr val="14283F"/>
                          </a:solidFill>
                          <a:latin typeface="Arial"/>
                          <a:ea typeface="Arial"/>
                          <a:cs typeface="Arial"/>
                        </a:rPr>
                        <a:t>Produto · 160 h × R$ 70</a:t>
                      </a:r>
                    </a:p>
                  </a:txBody>
                  <a:tcPr marL="91440" marR="91440" marT="45720" marB="45720">
                    <a:lnL w="3810">
                      <a:solidFill>
                        <a:srgbClr val="DCE3EC"/>
                      </a:solidFill>
                      <a:prstDash val="solid"/>
                    </a:lnL>
                    <a:lnR w="1429">
                      <a:solidFill>
                        <a:srgbClr val="DCE3EC"/>
                      </a:solidFill>
                      <a:prstDash val="solid"/>
                    </a:lnR>
                    <a:lnB w="4763">
                      <a:solidFill>
                        <a:srgbClr val="DCE3EC"/>
                      </a:solidFill>
                      <a:prstDash val="solid"/>
                    </a:lnB>
                    <a:solidFill>
                      <a:srgbClr val="FFFFFF"/>
                    </a:solidFill>
                  </a:tcPr>
                </a:tc>
                <a:tc>
                  <a:txBody>
                    <a:bodyPr lIns="114300" tIns="66675" rIns="114300" bIns="57150">
                      <a:noAutofit/>
                    </a:bodyPr>
                    <a:lstStyle/>
                    <a:p>
                      <a:pPr algn="r"/>
                      <a:r>
                        <a:rPr sz="1650" b="0">
                          <a:solidFill>
                            <a:srgbClr val="14283F"/>
                          </a:solidFill>
                          <a:latin typeface="Arial"/>
                          <a:ea typeface="Arial"/>
                          <a:cs typeface="Arial"/>
                        </a:rPr>
                        <a:t>11.200</a:t>
                      </a:r>
                    </a:p>
                  </a:txBody>
                  <a:tcPr marL="91440" marR="91440" marT="45720" marB="45720">
                    <a:lnR w="3810">
                      <a:solidFill>
                        <a:srgbClr val="DCE3EC"/>
                      </a:solidFill>
                      <a:prstDash val="solid"/>
                    </a:lnR>
                    <a:lnB w="4763">
                      <a:solidFill>
                        <a:srgbClr val="DCE3EC"/>
                      </a:solidFill>
                      <a:prstDash val="solid"/>
                    </a:lnB>
                    <a:solidFill>
                      <a:srgbClr val="FFFFFF"/>
                    </a:solidFill>
                  </a:tcPr>
                </a:tc>
              </a:tr>
              <a:tr h="388144">
                <a:tc>
                  <a:txBody>
                    <a:bodyPr lIns="114300" tIns="66675" rIns="114300" bIns="57150">
                      <a:noAutofit/>
                    </a:bodyPr>
                    <a:lstStyle/>
                    <a:p>
                      <a:pPr algn="l"/>
                      <a:r>
                        <a:rPr sz="1650" b="0">
                          <a:solidFill>
                            <a:srgbClr val="14283F"/>
                          </a:solidFill>
                          <a:latin typeface="Arial"/>
                          <a:ea typeface="Arial"/>
                          <a:cs typeface="Arial"/>
                        </a:rPr>
                        <a:t>Dados · 240 h × R$ 80</a:t>
                      </a:r>
                    </a:p>
                  </a:txBody>
                  <a:tcPr marL="91440" marR="91440" marT="45720" marB="45720">
                    <a:lnL w="3810">
                      <a:solidFill>
                        <a:srgbClr val="DCE3EC"/>
                      </a:solidFill>
                      <a:prstDash val="solid"/>
                    </a:lnL>
                    <a:lnR w="1429">
                      <a:solidFill>
                        <a:srgbClr val="DCE3EC"/>
                      </a:solidFill>
                      <a:prstDash val="solid"/>
                    </a:lnR>
                    <a:lnB w="4763">
                      <a:solidFill>
                        <a:srgbClr val="DCE3EC"/>
                      </a:solidFill>
                      <a:prstDash val="solid"/>
                    </a:lnB>
                    <a:solidFill>
                      <a:srgbClr val="EAF1FA"/>
                    </a:solidFill>
                  </a:tcPr>
                </a:tc>
                <a:tc>
                  <a:txBody>
                    <a:bodyPr lIns="114300" tIns="66675" rIns="114300" bIns="57150">
                      <a:noAutofit/>
                    </a:bodyPr>
                    <a:lstStyle/>
                    <a:p>
                      <a:pPr algn="r"/>
                      <a:r>
                        <a:rPr sz="1650" b="0">
                          <a:solidFill>
                            <a:srgbClr val="14283F"/>
                          </a:solidFill>
                          <a:latin typeface="Arial"/>
                          <a:ea typeface="Arial"/>
                          <a:cs typeface="Arial"/>
                        </a:rPr>
                        <a:t>19.200</a:t>
                      </a:r>
                    </a:p>
                  </a:txBody>
                  <a:tcPr marL="91440" marR="91440" marT="45720" marB="45720">
                    <a:lnR w="3810">
                      <a:solidFill>
                        <a:srgbClr val="DCE3EC"/>
                      </a:solidFill>
                      <a:prstDash val="solid"/>
                    </a:lnR>
                    <a:lnB w="4763">
                      <a:solidFill>
                        <a:srgbClr val="DCE3EC"/>
                      </a:solidFill>
                      <a:prstDash val="solid"/>
                    </a:lnB>
                    <a:solidFill>
                      <a:srgbClr val="EAF1FA"/>
                    </a:solidFill>
                  </a:tcPr>
                </a:tc>
              </a:tr>
              <a:tr h="388144">
                <a:tc>
                  <a:txBody>
                    <a:bodyPr lIns="114300" tIns="66675" rIns="114300" bIns="57150">
                      <a:noAutofit/>
                    </a:bodyPr>
                    <a:lstStyle/>
                    <a:p>
                      <a:pPr algn="l"/>
                      <a:r>
                        <a:rPr sz="1650" b="0">
                          <a:solidFill>
                            <a:srgbClr val="14283F"/>
                          </a:solidFill>
                          <a:latin typeface="Arial"/>
                          <a:ea typeface="Arial"/>
                          <a:cs typeface="Arial"/>
                        </a:rPr>
                        <a:t>Desenvolvimento · 320 h × R$ 90</a:t>
                      </a:r>
                    </a:p>
                  </a:txBody>
                  <a:tcPr marL="91440" marR="91440" marT="45720" marB="45720">
                    <a:lnL w="3810">
                      <a:solidFill>
                        <a:srgbClr val="DCE3EC"/>
                      </a:solidFill>
                      <a:prstDash val="solid"/>
                    </a:lnL>
                    <a:lnR w="1429">
                      <a:solidFill>
                        <a:srgbClr val="DCE3EC"/>
                      </a:solidFill>
                      <a:prstDash val="solid"/>
                    </a:lnR>
                    <a:lnB w="4763">
                      <a:solidFill>
                        <a:srgbClr val="DCE3EC"/>
                      </a:solidFill>
                      <a:prstDash val="solid"/>
                    </a:lnB>
                    <a:solidFill>
                      <a:srgbClr val="FFFFFF"/>
                    </a:solidFill>
                  </a:tcPr>
                </a:tc>
                <a:tc>
                  <a:txBody>
                    <a:bodyPr lIns="114300" tIns="66675" rIns="114300" bIns="57150">
                      <a:noAutofit/>
                    </a:bodyPr>
                    <a:lstStyle/>
                    <a:p>
                      <a:pPr algn="r"/>
                      <a:r>
                        <a:rPr sz="1650" b="0">
                          <a:solidFill>
                            <a:srgbClr val="14283F"/>
                          </a:solidFill>
                          <a:latin typeface="Arial"/>
                          <a:ea typeface="Arial"/>
                          <a:cs typeface="Arial"/>
                        </a:rPr>
                        <a:t>28.800</a:t>
                      </a:r>
                    </a:p>
                  </a:txBody>
                  <a:tcPr marL="91440" marR="91440" marT="45720" marB="45720">
                    <a:lnR w="3810">
                      <a:solidFill>
                        <a:srgbClr val="DCE3EC"/>
                      </a:solidFill>
                      <a:prstDash val="solid"/>
                    </a:lnR>
                    <a:lnB w="4763">
                      <a:solidFill>
                        <a:srgbClr val="DCE3EC"/>
                      </a:solidFill>
                      <a:prstDash val="solid"/>
                    </a:lnB>
                    <a:solidFill>
                      <a:srgbClr val="FFFFFF"/>
                    </a:solidFill>
                  </a:tcPr>
                </a:tc>
              </a:tr>
              <a:tr h="388144">
                <a:tc>
                  <a:txBody>
                    <a:bodyPr lIns="114300" tIns="66675" rIns="114300" bIns="57150">
                      <a:noAutofit/>
                    </a:bodyPr>
                    <a:lstStyle/>
                    <a:p>
                      <a:pPr algn="l"/>
                      <a:r>
                        <a:rPr sz="1650" b="0">
                          <a:solidFill>
                            <a:srgbClr val="14283F"/>
                          </a:solidFill>
                          <a:latin typeface="Arial"/>
                          <a:ea typeface="Arial"/>
                          <a:cs typeface="Arial"/>
                        </a:rPr>
                        <a:t>Testes · 160 h × R$ 60</a:t>
                      </a:r>
                    </a:p>
                  </a:txBody>
                  <a:tcPr marL="91440" marR="91440" marT="45720" marB="45720">
                    <a:lnL w="3810">
                      <a:solidFill>
                        <a:srgbClr val="DCE3EC"/>
                      </a:solidFill>
                      <a:prstDash val="solid"/>
                    </a:lnL>
                    <a:lnR w="1429">
                      <a:solidFill>
                        <a:srgbClr val="DCE3EC"/>
                      </a:solidFill>
                      <a:prstDash val="solid"/>
                    </a:lnR>
                    <a:lnB w="4763">
                      <a:solidFill>
                        <a:srgbClr val="DCE3EC"/>
                      </a:solidFill>
                      <a:prstDash val="solid"/>
                    </a:lnB>
                    <a:solidFill>
                      <a:srgbClr val="EAF1FA"/>
                    </a:solidFill>
                  </a:tcPr>
                </a:tc>
                <a:tc>
                  <a:txBody>
                    <a:bodyPr lIns="114300" tIns="66675" rIns="114300" bIns="57150">
                      <a:noAutofit/>
                    </a:bodyPr>
                    <a:lstStyle/>
                    <a:p>
                      <a:pPr algn="r"/>
                      <a:r>
                        <a:rPr sz="1650" b="0">
                          <a:solidFill>
                            <a:srgbClr val="14283F"/>
                          </a:solidFill>
                          <a:latin typeface="Arial"/>
                          <a:ea typeface="Arial"/>
                          <a:cs typeface="Arial"/>
                        </a:rPr>
                        <a:t>9.600</a:t>
                      </a:r>
                    </a:p>
                  </a:txBody>
                  <a:tcPr marL="91440" marR="91440" marT="45720" marB="45720">
                    <a:lnR w="3810">
                      <a:solidFill>
                        <a:srgbClr val="DCE3EC"/>
                      </a:solidFill>
                      <a:prstDash val="solid"/>
                    </a:lnR>
                    <a:lnB w="4763">
                      <a:solidFill>
                        <a:srgbClr val="DCE3EC"/>
                      </a:solidFill>
                      <a:prstDash val="solid"/>
                    </a:lnB>
                    <a:solidFill>
                      <a:srgbClr val="EAF1FA"/>
                    </a:solidFill>
                  </a:tcPr>
                </a:tc>
              </a:tr>
              <a:tr h="388144">
                <a:tc>
                  <a:txBody>
                    <a:bodyPr lIns="114300" tIns="66675" rIns="114300" bIns="57150">
                      <a:noAutofit/>
                    </a:bodyPr>
                    <a:lstStyle/>
                    <a:p>
                      <a:pPr algn="l"/>
                      <a:r>
                        <a:rPr sz="1650" b="0">
                          <a:solidFill>
                            <a:srgbClr val="14283F"/>
                          </a:solidFill>
                          <a:latin typeface="Arial"/>
                          <a:ea typeface="Arial"/>
                          <a:cs typeface="Arial"/>
                        </a:rPr>
                        <a:t>Infraestrutura e licenças</a:t>
                      </a:r>
                    </a:p>
                  </a:txBody>
                  <a:tcPr marL="91440" marR="91440" marT="45720" marB="45720">
                    <a:lnL w="3810">
                      <a:solidFill>
                        <a:srgbClr val="DCE3EC"/>
                      </a:solidFill>
                      <a:prstDash val="solid"/>
                    </a:lnL>
                    <a:lnR w="1429">
                      <a:solidFill>
                        <a:srgbClr val="DCE3EC"/>
                      </a:solidFill>
                      <a:prstDash val="solid"/>
                    </a:lnR>
                    <a:lnB w="4763">
                      <a:solidFill>
                        <a:srgbClr val="DCE3EC"/>
                      </a:solidFill>
                      <a:prstDash val="solid"/>
                    </a:lnB>
                    <a:solidFill>
                      <a:srgbClr val="FFFFFF"/>
                    </a:solidFill>
                  </a:tcPr>
                </a:tc>
                <a:tc>
                  <a:txBody>
                    <a:bodyPr lIns="114300" tIns="66675" rIns="114300" bIns="57150">
                      <a:noAutofit/>
                    </a:bodyPr>
                    <a:lstStyle/>
                    <a:p>
                      <a:pPr algn="r"/>
                      <a:r>
                        <a:rPr sz="1650" b="0">
                          <a:solidFill>
                            <a:srgbClr val="14283F"/>
                          </a:solidFill>
                          <a:latin typeface="Arial"/>
                          <a:ea typeface="Arial"/>
                          <a:cs typeface="Arial"/>
                        </a:rPr>
                        <a:t>3.200</a:t>
                      </a:r>
                    </a:p>
                  </a:txBody>
                  <a:tcPr marL="91440" marR="91440" marT="45720" marB="45720">
                    <a:lnR w="3810">
                      <a:solidFill>
                        <a:srgbClr val="DCE3EC"/>
                      </a:solidFill>
                      <a:prstDash val="solid"/>
                    </a:lnR>
                    <a:lnB w="4763">
                      <a:solidFill>
                        <a:srgbClr val="DCE3EC"/>
                      </a:solidFill>
                      <a:prstDash val="solid"/>
                    </a:lnB>
                    <a:solidFill>
                      <a:srgbClr val="FFFFFF"/>
                    </a:solidFill>
                  </a:tcPr>
                </a:tc>
              </a:tr>
              <a:tr h="388144">
                <a:tc>
                  <a:txBody>
                    <a:bodyPr lIns="114300" tIns="66675" rIns="114300" bIns="57150">
                      <a:noAutofit/>
                    </a:bodyPr>
                    <a:lstStyle/>
                    <a:p>
                      <a:pPr algn="l"/>
                      <a:r>
                        <a:rPr sz="1650" b="0">
                          <a:solidFill>
                            <a:srgbClr val="14283F"/>
                          </a:solidFill>
                          <a:latin typeface="Arial"/>
                          <a:ea typeface="Arial"/>
                          <a:cs typeface="Arial"/>
                        </a:rPr>
                        <a:t>Contingência · 20% de R$ 72.000</a:t>
                      </a:r>
                    </a:p>
                  </a:txBody>
                  <a:tcPr marL="91440" marR="91440" marT="45720" marB="45720">
                    <a:lnL w="3810">
                      <a:solidFill>
                        <a:srgbClr val="DCE3EC"/>
                      </a:solidFill>
                      <a:prstDash val="solid"/>
                    </a:lnL>
                    <a:lnR w="1429">
                      <a:solidFill>
                        <a:srgbClr val="DCE3EC"/>
                      </a:solidFill>
                      <a:prstDash val="solid"/>
                    </a:lnR>
                    <a:lnB w="4763">
                      <a:solidFill>
                        <a:srgbClr val="DCE3EC"/>
                      </a:solidFill>
                      <a:prstDash val="solid"/>
                    </a:lnB>
                    <a:solidFill>
                      <a:srgbClr val="EAF1FA"/>
                    </a:solidFill>
                  </a:tcPr>
                </a:tc>
                <a:tc>
                  <a:txBody>
                    <a:bodyPr lIns="114300" tIns="66675" rIns="114300" bIns="57150">
                      <a:noAutofit/>
                    </a:bodyPr>
                    <a:lstStyle/>
                    <a:p>
                      <a:pPr algn="r"/>
                      <a:r>
                        <a:rPr sz="1650" b="0">
                          <a:solidFill>
                            <a:srgbClr val="14283F"/>
                          </a:solidFill>
                          <a:latin typeface="Arial"/>
                          <a:ea typeface="Arial"/>
                          <a:cs typeface="Arial"/>
                        </a:rPr>
                        <a:t>14.400</a:t>
                      </a:r>
                    </a:p>
                  </a:txBody>
                  <a:tcPr marL="91440" marR="91440" marT="45720" marB="45720">
                    <a:lnR w="3810">
                      <a:solidFill>
                        <a:srgbClr val="DCE3EC"/>
                      </a:solidFill>
                      <a:prstDash val="solid"/>
                    </a:lnR>
                    <a:lnB w="4763">
                      <a:solidFill>
                        <a:srgbClr val="DCE3EC"/>
                      </a:solidFill>
                      <a:prstDash val="solid"/>
                    </a:lnB>
                    <a:solidFill>
                      <a:srgbClr val="EAF1FA"/>
                    </a:solidFill>
                  </a:tcPr>
                </a:tc>
              </a:tr>
              <a:tr h="388144">
                <a:tc>
                  <a:txBody>
                    <a:bodyPr lIns="114300" tIns="66675" rIns="114300" bIns="57150">
                      <a:noAutofit/>
                    </a:bodyPr>
                    <a:lstStyle/>
                    <a:p>
                      <a:pPr algn="l"/>
                      <a:r>
                        <a:rPr sz="1650" b="1">
                          <a:solidFill>
                            <a:srgbClr val="14283F"/>
                          </a:solidFill>
                          <a:latin typeface="Arial"/>
                          <a:ea typeface="Arial"/>
                          <a:cs typeface="Arial"/>
                        </a:rPr>
                        <a:t>Total do ciclo de 16 semanas</a:t>
                      </a:r>
                    </a:p>
                  </a:txBody>
                  <a:tcPr marL="91440" marR="91440" marT="45720" marB="45720">
                    <a:lnL w="3810">
                      <a:solidFill>
                        <a:srgbClr val="DCE3EC"/>
                      </a:solidFill>
                      <a:prstDash val="solid"/>
                    </a:lnL>
                    <a:lnR w="1429">
                      <a:solidFill>
                        <a:srgbClr val="DCE3EC"/>
                      </a:solidFill>
                      <a:prstDash val="solid"/>
                    </a:lnR>
                    <a:lnB w="3810">
                      <a:solidFill>
                        <a:srgbClr val="DCE3EC"/>
                      </a:solidFill>
                      <a:prstDash val="solid"/>
                    </a:lnB>
                    <a:solidFill>
                      <a:srgbClr val="EAF1FA"/>
                    </a:solidFill>
                  </a:tcPr>
                </a:tc>
                <a:tc>
                  <a:txBody>
                    <a:bodyPr lIns="114300" tIns="66675" rIns="114300" bIns="57150">
                      <a:noAutofit/>
                    </a:bodyPr>
                    <a:lstStyle/>
                    <a:p>
                      <a:pPr algn="r"/>
                      <a:r>
                        <a:rPr sz="1650" b="1">
                          <a:solidFill>
                            <a:srgbClr val="14283F"/>
                          </a:solidFill>
                          <a:latin typeface="Arial"/>
                          <a:ea typeface="Arial"/>
                          <a:cs typeface="Arial"/>
                        </a:rPr>
                        <a:t>86.400</a:t>
                      </a:r>
                    </a:p>
                  </a:txBody>
                  <a:tcPr marL="91440" marR="91440" marT="45720" marB="45720">
                    <a:lnR w="3810">
                      <a:solidFill>
                        <a:srgbClr val="DCE3EC"/>
                      </a:solidFill>
                      <a:prstDash val="solid"/>
                    </a:lnR>
                    <a:lnB w="3810">
                      <a:solidFill>
                        <a:srgbClr val="DCE3EC"/>
                      </a:solidFill>
                      <a:prstDash val="solid"/>
                    </a:lnB>
                    <a:solidFill>
                      <a:srgbClr val="EAF1FA"/>
                    </a:solidFill>
                  </a:tcPr>
                </a:tc>
              </a:tr>
            </a:tbl>
          </a:graphicData>
        </a:graphic>
      </p:graphicFrame>
      <p:sp>
        <p:nvSpPr>
          <p:cNvPr id="7" name="">
            <a:extLst xmlns:a="http://schemas.openxmlformats.org/drawingml/2006/main">
              <a:ext uri="{FF2B5EF4-FFF2-40B4-BE49-F238E27FC236}">
                <a16:creationId xmlns:a16="http://schemas.microsoft.com/office/drawing/2014/main" id="{8376993C-ED62-4296-8A78-2E8FE29964EF}"/>
              </a:ext>
            </a:extLst>
          </p:cNvPr>
          <p:cNvSpPr>
            <a:spLocks xmlns:a="http://schemas.openxmlformats.org/drawingml/2006/main" noGrp="1"/>
          </p:cNvSpPr>
          <p:nvPr/>
        </p:nvSpPr>
        <p:spPr>
          <a:xfrm xmlns:a="http://schemas.openxmlformats.org/drawingml/2006/main">
            <a:off x="7600950" y="1524000"/>
            <a:ext cx="4000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563EB"/>
                </a:solidFill>
                <a:latin typeface="Arial"/>
                <a:ea typeface="Arial"/>
                <a:cs typeface="Arial"/>
              </a:defRPr>
            </a:pPr>
            <a:r>
              <a:rPr sz="4050" b="1">
                <a:solidFill>
                  <a:srgbClr val="2563EB"/>
                </a:solidFill>
                <a:latin typeface="Arial"/>
                <a:ea typeface="Arial"/>
                <a:cs typeface="Arial"/>
              </a:rPr>
              <a:t>R$ 86.400</a:t>
            </a:r>
          </a:p>
        </p:txBody>
      </p:sp>
      <p:sp>
        <p:nvSpPr>
          <p:cNvPr id="8" name="">
            <a:extLst xmlns:a="http://schemas.openxmlformats.org/drawingml/2006/main">
              <a:ext uri="{FF2B5EF4-FFF2-40B4-BE49-F238E27FC236}">
                <a16:creationId xmlns:a16="http://schemas.microsoft.com/office/drawing/2014/main" id="{814736E2-3478-41C1-AEF8-2EC322148E35}"/>
              </a:ext>
            </a:extLst>
          </p:cNvPr>
          <p:cNvSpPr>
            <a:spLocks xmlns:a="http://schemas.openxmlformats.org/drawingml/2006/main" noGrp="1"/>
          </p:cNvSpPr>
          <p:nvPr/>
        </p:nvSpPr>
        <p:spPr>
          <a:xfrm xmlns:a="http://schemas.openxmlformats.org/drawingml/2006/main">
            <a:off x="7600950" y="2362200"/>
            <a:ext cx="39719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total simulado</a:t>
            </a:r>
          </a:p>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Teto: R$ 180.000</a:t>
            </a:r>
          </a:p>
        </p:txBody>
      </p:sp>
      <p:sp>
        <p:nvSpPr>
          <p:cNvPr id="9" name="">
            <a:extLst xmlns:a="http://schemas.openxmlformats.org/drawingml/2006/main">
              <a:ext uri="{FF2B5EF4-FFF2-40B4-BE49-F238E27FC236}">
                <a16:creationId xmlns:a16="http://schemas.microsoft.com/office/drawing/2014/main" id="{04D27442-A67B-4C7A-A203-011E429836FE}"/>
              </a:ext>
            </a:extLst>
          </p:cNvPr>
          <p:cNvSpPr>
            <a:spLocks xmlns:a="http://schemas.openxmlformats.org/drawingml/2006/main" noGrp="1"/>
          </p:cNvSpPr>
          <p:nvPr/>
        </p:nvSpPr>
        <p:spPr>
          <a:xfrm xmlns:a="http://schemas.openxmlformats.org/drawingml/2006/main">
            <a:off x="7600950" y="3476625"/>
            <a:ext cx="39719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14283F"/>
                </a:solidFill>
                <a:latin typeface="Arial"/>
                <a:ea typeface="Arial"/>
                <a:cs typeface="Arial"/>
              </a:defRPr>
            </a:pPr>
            <a:r>
              <a:rPr sz="2625" b="1">
                <a:solidFill>
                  <a:srgbClr val="14283F"/>
                </a:solidFill>
                <a:latin typeface="Arial"/>
                <a:ea typeface="Arial"/>
                <a:cs typeface="Arial"/>
              </a:rPr>
              <a:t>R$ 1.800 / mês</a:t>
            </a:r>
          </a:p>
        </p:txBody>
      </p:sp>
      <p:sp>
        <p:nvSpPr>
          <p:cNvPr id="10" name="">
            <a:extLst xmlns:a="http://schemas.openxmlformats.org/drawingml/2006/main">
              <a:ext uri="{FF2B5EF4-FFF2-40B4-BE49-F238E27FC236}">
                <a16:creationId xmlns:a16="http://schemas.microsoft.com/office/drawing/2014/main" id="{78DCAF47-887B-4DB8-9114-A7F3C68B895F}"/>
              </a:ext>
            </a:extLst>
          </p:cNvPr>
          <p:cNvSpPr>
            <a:spLocks xmlns:a="http://schemas.openxmlformats.org/drawingml/2006/main" noGrp="1"/>
          </p:cNvSpPr>
          <p:nvPr/>
        </p:nvSpPr>
        <p:spPr>
          <a:xfrm xmlns:a="http://schemas.openxmlformats.org/drawingml/2006/main">
            <a:off x="7600950" y="4057650"/>
            <a:ext cx="3971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D6D82"/>
                </a:solidFill>
                <a:latin typeface="Arial"/>
                <a:ea typeface="Arial"/>
                <a:cs typeface="Arial"/>
              </a:defRPr>
            </a:pPr>
            <a:r>
              <a:rPr sz="1725" b="0">
                <a:solidFill>
                  <a:srgbClr val="5D6D82"/>
                </a:solidFill>
                <a:latin typeface="Arial"/>
                <a:ea typeface="Arial"/>
                <a:cs typeface="Arial"/>
              </a:rPr>
              <a:t>12 h × R$ 100 + R$ 600</a:t>
            </a:r>
          </a:p>
          <a:p xmlns:a="http://schemas.openxmlformats.org/drawingml/2006/main">
            <a:pPr>
              <a:defRPr sz="1725" b="0">
                <a:solidFill>
                  <a:srgbClr val="5D6D82"/>
                </a:solidFill>
                <a:latin typeface="Arial"/>
                <a:ea typeface="Arial"/>
                <a:cs typeface="Arial"/>
              </a:defRPr>
            </a:pPr>
            <a:r>
              <a:rPr sz="1725" b="0">
                <a:solidFill>
                  <a:srgbClr val="5D6D82"/>
                </a:solidFill>
                <a:latin typeface="Arial"/>
                <a:ea typeface="Arial"/>
                <a:cs typeface="Arial"/>
              </a:rPr>
              <a:t>de infraestrutura</a:t>
            </a:r>
          </a:p>
        </p:txBody>
      </p:sp>
      <p:sp>
        <p:nvSpPr>
          <p:cNvPr id="11" name="">
            <a:extLst xmlns:a="http://schemas.openxmlformats.org/drawingml/2006/main">
              <a:ext uri="{FF2B5EF4-FFF2-40B4-BE49-F238E27FC236}">
                <a16:creationId xmlns:a16="http://schemas.microsoft.com/office/drawing/2014/main" id="{40F56567-16A3-483A-B4C4-CC54FD0DAC23}"/>
              </a:ext>
            </a:extLst>
          </p:cNvPr>
          <p:cNvSpPr>
            <a:spLocks xmlns:a="http://schemas.openxmlformats.org/drawingml/2006/main" noGrp="1"/>
          </p:cNvSpPr>
          <p:nvPr/>
        </p:nvSpPr>
        <p:spPr>
          <a:xfrm xmlns:a="http://schemas.openxmlformats.org/drawingml/2006/main">
            <a:off x="609600" y="50292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ln>
        </p:spPr>
      </p:sp>
      <p:sp>
        <p:nvSpPr>
          <p:cNvPr id="12" name="">
            <a:extLst xmlns:a="http://schemas.openxmlformats.org/drawingml/2006/main">
              <a:ext uri="{FF2B5EF4-FFF2-40B4-BE49-F238E27FC236}">
                <a16:creationId xmlns:a16="http://schemas.microsoft.com/office/drawing/2014/main" id="{7D0D3A6C-13CE-4275-83D0-9991F5587904}"/>
              </a:ext>
            </a:extLst>
          </p:cNvPr>
          <p:cNvSpPr>
            <a:spLocks xmlns:a="http://schemas.openxmlformats.org/drawingml/2006/main" noGrp="1"/>
          </p:cNvSpPr>
          <p:nvPr/>
        </p:nvSpPr>
        <p:spPr>
          <a:xfrm xmlns:a="http://schemas.openxmlformats.org/drawingml/2006/main">
            <a:off x="609600" y="52673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Cobertura incompleta</a:t>
            </a:r>
          </a:p>
        </p:txBody>
      </p:sp>
      <p:sp>
        <p:nvSpPr>
          <p:cNvPr id="13" name="">
            <a:extLst xmlns:a="http://schemas.openxmlformats.org/drawingml/2006/main">
              <a:ext uri="{FF2B5EF4-FFF2-40B4-BE49-F238E27FC236}">
                <a16:creationId xmlns:a16="http://schemas.microsoft.com/office/drawing/2014/main" id="{6B1FE02D-EADF-484E-8E78-9ED282DFD25C}"/>
              </a:ext>
            </a:extLst>
          </p:cNvPr>
          <p:cNvSpPr>
            <a:spLocks xmlns:a="http://schemas.openxmlformats.org/drawingml/2006/main" noGrp="1"/>
          </p:cNvSpPr>
          <p:nvPr/>
        </p:nvSpPr>
        <p:spPr>
          <a:xfrm xmlns:a="http://schemas.openxmlformats.org/drawingml/2006/main">
            <a:off x="609600" y="5667375"/>
            <a:ext cx="352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Bruno audita cada carga</a:t>
            </a:r>
          </a:p>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e preserva a versão validada.</a:t>
            </a:r>
          </a:p>
        </p:txBody>
      </p:sp>
      <p:sp>
        <p:nvSpPr>
          <p:cNvPr id="14" name="">
            <a:extLst xmlns:a="http://schemas.openxmlformats.org/drawingml/2006/main">
              <a:ext uri="{FF2B5EF4-FFF2-40B4-BE49-F238E27FC236}">
                <a16:creationId xmlns:a16="http://schemas.microsoft.com/office/drawing/2014/main" id="{9842DC53-04E5-4A76-A57D-233A25D8CA88}"/>
              </a:ext>
            </a:extLst>
          </p:cNvPr>
          <p:cNvSpPr>
            <a:spLocks xmlns:a="http://schemas.openxmlformats.org/drawingml/2006/main" noGrp="1"/>
          </p:cNvSpPr>
          <p:nvPr/>
        </p:nvSpPr>
        <p:spPr>
          <a:xfrm xmlns:a="http://schemas.openxmlformats.org/drawingml/2006/main">
            <a:off x="4381500" y="52673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Total incorreto</a:t>
            </a:r>
          </a:p>
        </p:txBody>
      </p:sp>
      <p:sp>
        <p:nvSpPr>
          <p:cNvPr id="15" name="">
            <a:extLst xmlns:a="http://schemas.openxmlformats.org/drawingml/2006/main">
              <a:ext uri="{FF2B5EF4-FFF2-40B4-BE49-F238E27FC236}">
                <a16:creationId xmlns:a16="http://schemas.microsoft.com/office/drawing/2014/main" id="{CAEBF204-2EDE-4717-8D84-6C1F61B7C340}"/>
              </a:ext>
            </a:extLst>
          </p:cNvPr>
          <p:cNvSpPr>
            <a:spLocks xmlns:a="http://schemas.openxmlformats.org/drawingml/2006/main" noGrp="1"/>
          </p:cNvSpPr>
          <p:nvPr/>
        </p:nvSpPr>
        <p:spPr>
          <a:xfrm xmlns:a="http://schemas.openxmlformats.org/drawingml/2006/main">
            <a:off x="4381500" y="5667375"/>
            <a:ext cx="352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Anthony reconcilia centavos</a:t>
            </a:r>
          </a:p>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e verifica a medida usada.</a:t>
            </a:r>
          </a:p>
        </p:txBody>
      </p:sp>
      <p:sp>
        <p:nvSpPr>
          <p:cNvPr id="16" name="">
            <a:extLst xmlns:a="http://schemas.openxmlformats.org/drawingml/2006/main">
              <a:ext uri="{FF2B5EF4-FFF2-40B4-BE49-F238E27FC236}">
                <a16:creationId xmlns:a16="http://schemas.microsoft.com/office/drawing/2014/main" id="{670ECBBA-9213-47B2-AAFF-22454FC356F7}"/>
              </a:ext>
            </a:extLst>
          </p:cNvPr>
          <p:cNvSpPr>
            <a:spLocks xmlns:a="http://schemas.openxmlformats.org/drawingml/2006/main" noGrp="1"/>
          </p:cNvSpPr>
          <p:nvPr/>
        </p:nvSpPr>
        <p:spPr>
          <a:xfrm xmlns:a="http://schemas.openxmlformats.org/drawingml/2006/main">
            <a:off x="8153400" y="52673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Atraso de dados</a:t>
            </a:r>
          </a:p>
        </p:txBody>
      </p:sp>
      <p:sp>
        <p:nvSpPr>
          <p:cNvPr id="17" name="">
            <a:extLst xmlns:a="http://schemas.openxmlformats.org/drawingml/2006/main">
              <a:ext uri="{FF2B5EF4-FFF2-40B4-BE49-F238E27FC236}">
                <a16:creationId xmlns:a16="http://schemas.microsoft.com/office/drawing/2014/main" id="{E9472D87-2D24-4394-8722-DF97B08A479B}"/>
              </a:ext>
            </a:extLst>
          </p:cNvPr>
          <p:cNvSpPr>
            <a:spLocks xmlns:a="http://schemas.openxmlformats.org/drawingml/2006/main" noGrp="1"/>
          </p:cNvSpPr>
          <p:nvPr/>
        </p:nvSpPr>
        <p:spPr>
          <a:xfrm xmlns:a="http://schemas.openxmlformats.org/drawingml/2006/main">
            <a:off x="8153400" y="5667375"/>
            <a:ext cx="352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Luigi mantém o recorte de 2024</a:t>
            </a:r>
          </a:p>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e revisa os marcos.</a:t>
            </a:r>
          </a:p>
        </p:txBody>
      </p:sp>
      <p:sp>
        <p:nvSpPr>
          <p:cNvPr id="18" name="">
            <a:extLst xmlns:a="http://schemas.openxmlformats.org/drawingml/2006/main">
              <a:ext uri="{FF2B5EF4-FFF2-40B4-BE49-F238E27FC236}">
                <a16:creationId xmlns:a16="http://schemas.microsoft.com/office/drawing/2014/main" id="{D10D5D59-0784-421E-BEA6-DCFE437CD97A}"/>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Estimativas acadêmicas de evolução e operação. A demonstração local não exige contratação.</a:t>
            </a:r>
          </a:p>
        </p:txBody>
      </p:sp>
    </p:spTree>
    <p:extLst>
      <p:ext uri="{BB962C8B-B14F-4D97-AF65-F5344CB8AC3E}">
        <p14:creationId xmlns:p14="http://schemas.microsoft.com/office/powerpoint/2010/main" val="559702032"/>
      </p:ext>
    </p:extLst>
  </p:cSld>
</p:sld>
</file>

<file path=ppt/slides/slide8.xml><?xml version="1.0" encoding="utf-8"?>
<p:sld xmlns:p="http://schemas.openxmlformats.org/presentationml/2006/main">
  <p:cSld>
    <p:bg>
      <p:bgPr>
        <a:solidFill xmlns:a="http://schemas.openxmlformats.org/drawingml/2006/main">
          <a:srgbClr val="14283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12DC9B0-CC05-4B8C-8FD2-37633B4D7DC0}"/>
              </a:ext>
            </a:extLst>
          </p:cNvPr>
          <p:cNvSpPr>
            <a:spLocks xmlns:a="http://schemas.openxmlformats.org/drawingml/2006/main" noGrp="1"/>
          </p:cNvSpPr>
          <p:nvPr/>
        </p:nvSpPr>
        <p:spPr>
          <a:xfrm xmlns:a="http://schemas.openxmlformats.org/drawingml/2006/main">
            <a:off x="609600" y="2095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9FC2F3"/>
                </a:solidFill>
                <a:latin typeface="Arial"/>
                <a:ea typeface="Arial"/>
                <a:cs typeface="Arial"/>
              </a:defRPr>
            </a:pPr>
            <a:r>
              <a:rPr sz="1125" b="1">
                <a:solidFill>
                  <a:srgbClr val="9FC2F3"/>
                </a:solidFill>
                <a:latin typeface="Arial"/>
                <a:ea typeface="Arial"/>
                <a:cs typeface="Arial"/>
              </a:rPr>
              <a:t>PAGAMENTOS ES 2024</a:t>
            </a:r>
          </a:p>
        </p:txBody>
      </p:sp>
      <p:sp>
        <p:nvSpPr>
          <p:cNvPr id="2" name="">
            <a:extLst xmlns:a="http://schemas.openxmlformats.org/drawingml/2006/main">
              <a:ext uri="{FF2B5EF4-FFF2-40B4-BE49-F238E27FC236}">
                <a16:creationId xmlns:a16="http://schemas.microsoft.com/office/drawing/2014/main" id="{C9EB1F18-A969-4E9D-8681-A623FD8A05A9}"/>
              </a:ext>
            </a:extLst>
          </p:cNvPr>
          <p:cNvSpPr>
            <a:spLocks xmlns:a="http://schemas.openxmlformats.org/drawingml/2006/main" noGrp="1"/>
          </p:cNvSpPr>
          <p:nvPr/>
        </p:nvSpPr>
        <p:spPr>
          <a:xfrm xmlns:a="http://schemas.openxmlformats.org/drawingml/2006/main">
            <a:off x="9001125" y="2095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1">
                <a:solidFill>
                  <a:srgbClr val="9FC2F3"/>
                </a:solidFill>
                <a:latin typeface="Arial"/>
                <a:ea typeface="Arial"/>
                <a:cs typeface="Arial"/>
              </a:defRPr>
            </a:pPr>
            <a:r>
              <a:rPr sz="1125" b="1">
                <a:solidFill>
                  <a:srgbClr val="9FC2F3"/>
                </a:solidFill>
                <a:latin typeface="Arial"/>
                <a:ea typeface="Arial"/>
                <a:cs typeface="Arial"/>
              </a:rPr>
              <a:t>ENTREGA</a:t>
            </a:r>
          </a:p>
        </p:txBody>
      </p:sp>
      <p:sp>
        <p:nvSpPr>
          <p:cNvPr id="3" name="">
            <a:extLst xmlns:a="http://schemas.openxmlformats.org/drawingml/2006/main">
              <a:ext uri="{FF2B5EF4-FFF2-40B4-BE49-F238E27FC236}">
                <a16:creationId xmlns:a16="http://schemas.microsoft.com/office/drawing/2014/main" id="{AEF896C4-4C19-4DBC-993C-14756DCDE7F5}"/>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Entregas, limites e próximos passos</a:t>
            </a:r>
          </a:p>
        </p:txBody>
      </p:sp>
      <p:sp>
        <p:nvSpPr>
          <p:cNvPr id="4" name="">
            <a:extLst xmlns:a="http://schemas.openxmlformats.org/drawingml/2006/main">
              <a:ext uri="{FF2B5EF4-FFF2-40B4-BE49-F238E27FC236}">
                <a16:creationId xmlns:a16="http://schemas.microsoft.com/office/drawing/2014/main" id="{A0E14C9B-21D6-4BB0-B719-0F0C343EFF7A}"/>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42576F"/>
            </a:solidFill>
          </a:ln>
        </p:spPr>
      </p:sp>
      <p:sp>
        <p:nvSpPr>
          <p:cNvPr id="5" name="">
            <a:extLst xmlns:a="http://schemas.openxmlformats.org/drawingml/2006/main">
              <a:ext uri="{FF2B5EF4-FFF2-40B4-BE49-F238E27FC236}">
                <a16:creationId xmlns:a16="http://schemas.microsoft.com/office/drawing/2014/main" id="{EE40AB0D-2CF5-4332-9BAA-18CF686D292B}"/>
              </a:ext>
            </a:extLst>
          </p:cNvPr>
          <p:cNvSpPr>
            <a:spLocks xmlns:a="http://schemas.openxmlformats.org/drawingml/2006/main" noGrp="1"/>
          </p:cNvSpPr>
          <p:nvPr/>
        </p:nvSpPr>
        <p:spPr>
          <a:xfrm xmlns:a="http://schemas.openxmlformats.org/drawingml/2006/main">
            <a:off x="10801350" y="641985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CCDE2"/>
                </a:solidFill>
                <a:latin typeface="Arial"/>
                <a:ea typeface="Arial"/>
                <a:cs typeface="Arial"/>
              </a:defRPr>
            </a:pPr>
            <a:r>
              <a:rPr sz="1200" b="0">
                <a:solidFill>
                  <a:srgbClr val="BCCDE2"/>
                </a:solidFill>
                <a:latin typeface="Arial"/>
                <a:ea typeface="Arial"/>
                <a:cs typeface="Arial"/>
              </a:rPr>
              <a:t>08 / 08</a:t>
            </a:r>
          </a:p>
        </p:txBody>
      </p:sp>
      <p:sp>
        <p:nvSpPr>
          <p:cNvPr id="6" name="">
            <a:extLst xmlns:a="http://schemas.openxmlformats.org/drawingml/2006/main">
              <a:ext uri="{FF2B5EF4-FFF2-40B4-BE49-F238E27FC236}">
                <a16:creationId xmlns:a16="http://schemas.microsoft.com/office/drawing/2014/main" id="{26FD87D9-68A5-414C-8AB2-5C4379BFA97D}"/>
              </a:ext>
            </a:extLst>
          </p:cNvPr>
          <p:cNvSpPr>
            <a:spLocks xmlns:a="http://schemas.openxmlformats.org/drawingml/2006/main" noGrp="1"/>
          </p:cNvSpPr>
          <p:nvPr/>
        </p:nvSpPr>
        <p:spPr>
          <a:xfrm xmlns:a="http://schemas.openxmlformats.org/drawingml/2006/main">
            <a:off x="609600" y="1685925"/>
            <a:ext cx="476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9FC2F3"/>
                </a:solidFill>
                <a:latin typeface="Arial"/>
                <a:ea typeface="Arial"/>
                <a:cs typeface="Arial"/>
              </a:defRPr>
            </a:pPr>
            <a:r>
              <a:rPr sz="1725" b="1">
                <a:solidFill>
                  <a:srgbClr val="9FC2F3"/>
                </a:solidFill>
                <a:latin typeface="Arial"/>
                <a:ea typeface="Arial"/>
                <a:cs typeface="Arial"/>
              </a:rPr>
              <a:t>FUNCIONA HOJE</a:t>
            </a:r>
          </a:p>
        </p:txBody>
      </p:sp>
      <p:sp>
        <p:nvSpPr>
          <p:cNvPr id="7" name="">
            <a:extLst xmlns:a="http://schemas.openxmlformats.org/drawingml/2006/main">
              <a:ext uri="{FF2B5EF4-FFF2-40B4-BE49-F238E27FC236}">
                <a16:creationId xmlns:a16="http://schemas.microsoft.com/office/drawing/2014/main" id="{BA5AD20F-304B-41BA-B44B-5A620C7391C5}"/>
              </a:ext>
            </a:extLst>
          </p:cNvPr>
          <p:cNvSpPr>
            <a:spLocks xmlns:a="http://schemas.openxmlformats.org/drawingml/2006/main" noGrp="1"/>
          </p:cNvSpPr>
          <p:nvPr/>
        </p:nvSpPr>
        <p:spPr>
          <a:xfrm xmlns:a="http://schemas.openxmlformats.org/drawingml/2006/main">
            <a:off x="609600" y="2276475"/>
            <a:ext cx="5362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Filtros por mês e unidade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Ranking e evolução mensal</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Registros com arquivo e linha</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CSV do recorte completo</a:t>
            </a:r>
          </a:p>
        </p:txBody>
      </p:sp>
      <p:sp>
        <p:nvSpPr>
          <p:cNvPr id="8" name="">
            <a:extLst xmlns:a="http://schemas.openxmlformats.org/drawingml/2006/main">
              <a:ext uri="{FF2B5EF4-FFF2-40B4-BE49-F238E27FC236}">
                <a16:creationId xmlns:a16="http://schemas.microsoft.com/office/drawing/2014/main" id="{0B2F2E6A-8FF0-47FA-8816-F6C9F62BEDF4}"/>
              </a:ext>
            </a:extLst>
          </p:cNvPr>
          <p:cNvSpPr>
            <a:spLocks xmlns:a="http://schemas.openxmlformats.org/drawingml/2006/main" noGrp="1"/>
          </p:cNvSpPr>
          <p:nvPr/>
        </p:nvSpPr>
        <p:spPr>
          <a:xfrm xmlns:a="http://schemas.openxmlformats.org/drawingml/2006/main">
            <a:off x="6858000" y="1685925"/>
            <a:ext cx="4724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9FC2F3"/>
                </a:solidFill>
                <a:latin typeface="Arial"/>
                <a:ea typeface="Arial"/>
                <a:cs typeface="Arial"/>
              </a:defRPr>
            </a:pPr>
            <a:r>
              <a:rPr sz="1725" b="1">
                <a:solidFill>
                  <a:srgbClr val="9FC2F3"/>
                </a:solidFill>
                <a:latin typeface="Arial"/>
                <a:ea typeface="Arial"/>
                <a:cs typeface="Arial"/>
              </a:rPr>
              <a:t>ALCANCE DOS RESULTADOS</a:t>
            </a:r>
          </a:p>
        </p:txBody>
      </p:sp>
      <p:sp>
        <p:nvSpPr>
          <p:cNvPr id="9" name="">
            <a:extLst xmlns:a="http://schemas.openxmlformats.org/drawingml/2006/main">
              <a:ext uri="{FF2B5EF4-FFF2-40B4-BE49-F238E27FC236}">
                <a16:creationId xmlns:a16="http://schemas.microsoft.com/office/drawing/2014/main" id="{CEE6550A-E843-4369-84D2-8FBA4032A7DE}"/>
              </a:ext>
            </a:extLst>
          </p:cNvPr>
          <p:cNvSpPr>
            <a:spLocks xmlns:a="http://schemas.openxmlformats.org/drawingml/2006/main" noGrp="1"/>
          </p:cNvSpPr>
          <p:nvPr/>
        </p:nvSpPr>
        <p:spPr>
          <a:xfrm xmlns:a="http://schemas.openxmlformats.org/drawingml/2006/main">
            <a:off x="6858000" y="2276475"/>
            <a:ext cx="47244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D9E5F4"/>
                </a:solidFill>
                <a:latin typeface="Arial"/>
                <a:ea typeface="Arial"/>
                <a:cs typeface="Arial"/>
              </a:defRPr>
            </a:pPr>
            <a:r>
              <a:rPr sz="1950" b="0">
                <a:solidFill>
                  <a:srgbClr val="D9E5F4"/>
                </a:solidFill>
                <a:latin typeface="Arial"/>
                <a:ea typeface="Arial"/>
                <a:cs typeface="Arial"/>
              </a:rPr>
              <a:t>Base fornecida de 2024</a:t>
            </a:r>
          </a:p>
          <a:p xmlns:a="http://schemas.openxmlformats.org/drawingml/2006/main">
            <a:pPr>
              <a:defRPr sz="1950" b="0">
                <a:solidFill>
                  <a:srgbClr val="D9E5F4"/>
                </a:solidFill>
                <a:latin typeface="Arial"/>
                <a:ea typeface="Arial"/>
                <a:cs typeface="Arial"/>
              </a:defRPr>
            </a:pPr>
            <a:r>
              <a:rPr sz="1950" b="0">
                <a:solidFill>
                  <a:srgbClr val="D9E5F4"/>
                </a:solidFill>
                <a:latin typeface="Arial"/>
                <a:ea typeface="Arial"/>
                <a:cs typeface="Arial"/>
              </a:rPr>
              <a:t>Cobertura estadual não comprovada</a:t>
            </a:r>
          </a:p>
          <a:p xmlns:a="http://schemas.openxmlformats.org/drawingml/2006/main">
            <a:pPr>
              <a:defRPr sz="1950" b="0">
                <a:solidFill>
                  <a:srgbClr val="D9E5F4"/>
                </a:solidFill>
                <a:latin typeface="Arial"/>
                <a:ea typeface="Arial"/>
                <a:cs typeface="Arial"/>
              </a:defRPr>
            </a:pPr>
            <a:r>
              <a:rPr sz="1950" b="0">
                <a:solidFill>
                  <a:srgbClr val="D9E5F4"/>
                </a:solidFill>
                <a:latin typeface="Arial"/>
                <a:ea typeface="Arial"/>
                <a:cs typeface="Arial"/>
              </a:rPr>
              <a:t>Data do registro, sem prova de caixa</a:t>
            </a:r>
          </a:p>
          <a:p xmlns:a="http://schemas.openxmlformats.org/drawingml/2006/main">
            <a:pPr>
              <a:defRPr sz="1950" b="0">
                <a:solidFill>
                  <a:srgbClr val="D9E5F4"/>
                </a:solidFill>
                <a:latin typeface="Arial"/>
                <a:ea typeface="Arial"/>
                <a:cs typeface="Arial"/>
              </a:defRPr>
            </a:pPr>
            <a:r>
              <a:rPr sz="1950" b="0">
                <a:solidFill>
                  <a:srgbClr val="D9E5F4"/>
                </a:solidFill>
                <a:latin typeface="Arial"/>
                <a:ea typeface="Arial"/>
                <a:cs typeface="Arial"/>
              </a:rPr>
              <a:t>IC para proporção na base local</a:t>
            </a:r>
          </a:p>
        </p:txBody>
      </p:sp>
      <p:sp>
        <p:nvSpPr>
          <p:cNvPr id="10" name="">
            <a:extLst xmlns:a="http://schemas.openxmlformats.org/drawingml/2006/main">
              <a:ext uri="{FF2B5EF4-FFF2-40B4-BE49-F238E27FC236}">
                <a16:creationId xmlns:a16="http://schemas.microsoft.com/office/drawing/2014/main" id="{8555938F-6AF8-459B-93BF-9F2E17C031B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9525">
            <a:solidFill>
              <a:srgbClr val="42576F"/>
            </a:solidFill>
          </a:ln>
        </p:spPr>
      </p:sp>
      <p:sp>
        <p:nvSpPr>
          <p:cNvPr id="11" name="">
            <a:extLst xmlns:a="http://schemas.openxmlformats.org/drawingml/2006/main">
              <a:ext uri="{FF2B5EF4-FFF2-40B4-BE49-F238E27FC236}">
                <a16:creationId xmlns:a16="http://schemas.microsoft.com/office/drawing/2014/main" id="{FCEE0CB9-9E5C-4BB2-96F5-714936326530}"/>
              </a:ext>
            </a:extLst>
          </p:cNvPr>
          <p:cNvSpPr>
            <a:spLocks xmlns:a="http://schemas.openxmlformats.org/drawingml/2006/main" noGrp="1"/>
          </p:cNvSpPr>
          <p:nvPr/>
        </p:nvSpPr>
        <p:spPr>
          <a:xfrm xmlns:a="http://schemas.openxmlformats.org/drawingml/2006/main">
            <a:off x="609600" y="50196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9FC2F3"/>
                </a:solidFill>
                <a:latin typeface="Arial"/>
                <a:ea typeface="Arial"/>
                <a:cs typeface="Arial"/>
              </a:defRPr>
            </a:pPr>
            <a:r>
              <a:rPr sz="1950" b="1">
                <a:solidFill>
                  <a:srgbClr val="9FC2F3"/>
                </a:solidFill>
                <a:latin typeface="Arial"/>
                <a:ea typeface="Arial"/>
                <a:cs typeface="Arial"/>
              </a:rPr>
              <a:t>Próximos marcos</a:t>
            </a:r>
          </a:p>
        </p:txBody>
      </p:sp>
      <p:sp>
        <p:nvSpPr>
          <p:cNvPr id="12" name="">
            <a:extLst xmlns:a="http://schemas.openxmlformats.org/drawingml/2006/main">
              <a:ext uri="{FF2B5EF4-FFF2-40B4-BE49-F238E27FC236}">
                <a16:creationId xmlns:a16="http://schemas.microsoft.com/office/drawing/2014/main" id="{5E1F66AA-950B-4734-BEB2-A670C4412D07}"/>
              </a:ext>
            </a:extLst>
          </p:cNvPr>
          <p:cNvSpPr>
            <a:spLocks xmlns:a="http://schemas.openxmlformats.org/drawingml/2006/main" noGrp="1"/>
          </p:cNvSpPr>
          <p:nvPr/>
        </p:nvSpPr>
        <p:spPr>
          <a:xfrm xmlns:a="http://schemas.openxmlformats.org/drawingml/2006/main">
            <a:off x="4095750" y="5029200"/>
            <a:ext cx="7448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Validar com usuários, comparar 2025 e preparar o piloto.</a:t>
            </a:r>
          </a:p>
        </p:txBody>
      </p:sp>
      <p:sp>
        <p:nvSpPr>
          <p:cNvPr id="13" name="">
            <a:extLst xmlns:a="http://schemas.openxmlformats.org/drawingml/2006/main">
              <a:ext uri="{FF2B5EF4-FFF2-40B4-BE49-F238E27FC236}">
                <a16:creationId xmlns:a16="http://schemas.microsoft.com/office/drawing/2014/main" id="{110AF72A-DA5F-4970-86A6-2812C484465A}"/>
              </a:ext>
            </a:extLst>
          </p:cNvPr>
          <p:cNvSpPr>
            <a:spLocks xmlns:a="http://schemas.openxmlformats.org/drawingml/2006/main" noGrp="1"/>
          </p:cNvSpPr>
          <p:nvPr/>
        </p:nvSpPr>
        <p:spPr>
          <a:xfrm xmlns:a="http://schemas.openxmlformats.org/drawingml/2006/main">
            <a:off x="609600" y="5829300"/>
            <a:ext cx="10382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D9E5F4"/>
                </a:solidFill>
                <a:latin typeface="Arial"/>
                <a:ea typeface="Arial"/>
                <a:cs typeface="Arial"/>
              </a:defRPr>
            </a:pPr>
            <a:r>
              <a:rPr sz="1950" b="0">
                <a:solidFill>
                  <a:srgbClr val="D9E5F4"/>
                </a:solidFill>
                <a:latin typeface="Arial"/>
                <a:ea typeface="Arial"/>
                <a:cs typeface="Arial"/>
              </a:rPr>
              <a:t>github.com/Stratfy/cp5-data</a:t>
            </a:r>
          </a:p>
        </p:txBody>
      </p:sp>
      <p:sp>
        <p:nvSpPr>
          <p:cNvPr id="14" name="">
            <a:extLst xmlns:a="http://schemas.openxmlformats.org/drawingml/2006/main">
              <a:ext uri="{FF2B5EF4-FFF2-40B4-BE49-F238E27FC236}">
                <a16:creationId xmlns:a16="http://schemas.microsoft.com/office/drawing/2014/main" id="{3FFCDB40-3049-4A81-B060-038155BC3B3F}"/>
              </a:ext>
            </a:extLst>
          </p:cNvPr>
          <p:cNvSpPr>
            <a:spLocks xmlns:a="http://schemas.openxmlformats.org/drawingml/2006/main" noGrp="1"/>
          </p:cNvSpPr>
          <p:nvPr/>
        </p:nvSpPr>
        <p:spPr>
          <a:xfrm xmlns:a="http://schemas.openxmlformats.org/drawingml/2006/main">
            <a:off x="609600" y="64198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CCDE2"/>
                </a:solidFill>
                <a:latin typeface="Arial"/>
                <a:ea typeface="Arial"/>
                <a:cs typeface="Arial"/>
              </a:defRPr>
            </a:pPr>
            <a:r>
              <a:rPr sz="1200" b="0">
                <a:solidFill>
                  <a:srgbClr val="BCCDE2"/>
                </a:solidFill>
                <a:latin typeface="Arial"/>
                <a:ea typeface="Arial"/>
                <a:cs typeface="Arial"/>
              </a:rPr>
              <a:t>Relatório, apresentação e código reproduzível. Assistência de IA declarada nos materiais.</a:t>
            </a:r>
          </a:p>
        </p:txBody>
      </p:sp>
    </p:spTree>
    <p:extLst>
      <p:ext uri="{BB962C8B-B14F-4D97-AF65-F5344CB8AC3E}">
        <p14:creationId xmlns:p14="http://schemas.microsoft.com/office/powerpoint/2010/main" val="6467087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2026-10-06T00:07:22.0530000Z</dcterms:created>
  <dcterms:modified xsi:type="dcterms:W3CDTF">2026-10-06T00:07:22.0530000Z</dcterms:modified>
</coreProperties>
</file>