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9df7bda13944d5d" /><Relationship Type="http://schemas.openxmlformats.org/officeDocument/2006/relationships/extended-properties" Target="/docProps/app.xml" Id="R639d13976685489d" /><Relationship Type="http://schemas.openxmlformats.org/officeDocument/2006/relationships/officeDocument" Target="/ppt/presentation.xml" Id="Rcca02f5d15604281" /></Relationships>
</file>

<file path=ppt/presentation.xml><?xml version="1.0" encoding="utf-8"?>
<p:presentation xmlns:p="http://schemas.openxmlformats.org/presentationml/2006/main">
  <p:sldMasterIdLst>
    <p:sldMasterId xmlns:r="http://schemas.openxmlformats.org/officeDocument/2006/relationships" id="2147483648" r:id="R55b8c605549d41b8"/>
  </p:sldMasterIdLst>
  <p:notesMasterIdLst>
    <p:notesMasterId xmlns:r="http://schemas.openxmlformats.org/officeDocument/2006/relationships" r:id="Rcb07aa4b80ae4758"/>
  </p:notesMasterIdLst>
  <p:sldIdLst>
    <p:sldId xmlns:r="http://schemas.openxmlformats.org/officeDocument/2006/relationships" id="256" r:id="Rcd0f63dcecca4eca"/>
    <p:sldId xmlns:r="http://schemas.openxmlformats.org/officeDocument/2006/relationships" id="257" r:id="R58a3d79eb1e64f16"/>
    <p:sldId xmlns:r="http://schemas.openxmlformats.org/officeDocument/2006/relationships" id="258" r:id="Rd2e7e420ba97493e"/>
    <p:sldId xmlns:r="http://schemas.openxmlformats.org/officeDocument/2006/relationships" id="259" r:id="Rc5977e3616714445"/>
    <p:sldId xmlns:r="http://schemas.openxmlformats.org/officeDocument/2006/relationships" id="260" r:id="R5827e4c987f64d9f"/>
    <p:sldId xmlns:r="http://schemas.openxmlformats.org/officeDocument/2006/relationships" id="261" r:id="Rce014f287a464f8e"/>
    <p:sldId xmlns:r="http://schemas.openxmlformats.org/officeDocument/2006/relationships" id="262" r:id="Re4217211f5ab495d"/>
    <p:sldId xmlns:r="http://schemas.openxmlformats.org/officeDocument/2006/relationships" id="263" r:id="R2c14da5cd60e42c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cb46005dc34620" /><Relationship Type="http://schemas.openxmlformats.org/officeDocument/2006/relationships/slideMaster" Target="/ppt/slideMasters/slideMaster1.xml" Id="R55b8c605549d41b8" /><Relationship Type="http://schemas.openxmlformats.org/officeDocument/2006/relationships/notesMaster" Target="/ppt/notesMasters/notesMaster1.xml" Id="Rcb07aa4b80ae4758" /><Relationship Type="http://schemas.openxmlformats.org/officeDocument/2006/relationships/presProps" Target="/ppt/presProps.xml" Id="R694ddbff9ae647b3" /><Relationship Type="http://schemas.openxmlformats.org/officeDocument/2006/relationships/tableStyles" Target="/ppt/tableStyles.xml" Id="R64d162a7b4d441c6" /><Relationship Type="http://schemas.openxmlformats.org/officeDocument/2006/relationships/slide" Target="/ppt/slides/slide1.xml" Id="Rcd0f63dcecca4eca" /><Relationship Type="http://schemas.openxmlformats.org/officeDocument/2006/relationships/slide" Target="/ppt/slides/slide2.xml" Id="R58a3d79eb1e64f16" /><Relationship Type="http://schemas.openxmlformats.org/officeDocument/2006/relationships/slide" Target="/ppt/slides/slide3.xml" Id="Rd2e7e420ba97493e" /><Relationship Type="http://schemas.openxmlformats.org/officeDocument/2006/relationships/slide" Target="/ppt/slides/slide4.xml" Id="Rc5977e3616714445" /><Relationship Type="http://schemas.openxmlformats.org/officeDocument/2006/relationships/slide" Target="/ppt/slides/slide5.xml" Id="R5827e4c987f64d9f" /><Relationship Type="http://schemas.openxmlformats.org/officeDocument/2006/relationships/slide" Target="/ppt/slides/slide6.xml" Id="Rce014f287a464f8e" /><Relationship Type="http://schemas.openxmlformats.org/officeDocument/2006/relationships/slide" Target="/ppt/slides/slide7.xml" Id="Re4217211f5ab495d" /><Relationship Type="http://schemas.openxmlformats.org/officeDocument/2006/relationships/slide" Target="/ppt/slides/slide8.xml" Id="R2c14da5cd60e42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4dc2d2af474d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fe70af795614c15" /><Relationship Type="http://schemas.openxmlformats.org/officeDocument/2006/relationships/notesMaster" Target="/ppt/notesMasters/notesMaster1.xml" Id="Rf0bdf44b406541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b559006894451b" /><Relationship Type="http://schemas.openxmlformats.org/officeDocument/2006/relationships/notesMaster" Target="/ppt/notesMasters/notesMaster1.xml" Id="Rb3912499d5d648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8cb0b9d98c4366" /><Relationship Type="http://schemas.openxmlformats.org/officeDocument/2006/relationships/notesMaster" Target="/ppt/notesMasters/notesMaster1.xml" Id="R1f8ee482d59e4f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ea6e68a7ec419f" /><Relationship Type="http://schemas.openxmlformats.org/officeDocument/2006/relationships/notesMaster" Target="/ppt/notesMasters/notesMaster1.xml" Id="R91c1740463df4b1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3c4e86469194e70" /><Relationship Type="http://schemas.openxmlformats.org/officeDocument/2006/relationships/notesMaster" Target="/ppt/notesMasters/notesMaster1.xml" Id="Rc39ab9a097c641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b5f4c641a3084562" /><Relationship Type="http://schemas.openxmlformats.org/officeDocument/2006/relationships/notesMaster" Target="/ppt/notesMasters/notesMaster1.xml" Id="Rae619cb1b8c5491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b4613a8ec544450" /><Relationship Type="http://schemas.openxmlformats.org/officeDocument/2006/relationships/notesMaster" Target="/ppt/notesMasters/notesMaster1.xml" Id="R216fe4b8990d49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7aed70a404f4b1b" /><Relationship Type="http://schemas.openxmlformats.org/officeDocument/2006/relationships/notesMaster" Target="/ppt/notesMasters/notesMaster1.xml" Id="R4e5b6dd30cfb4e2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Luigi Mendes Cabrini · RM 563552. Tempo 65 segundos.</a:t>
            </a:r>
          </a:p>
          <a:p xmlns:a="http://schemas.openxmlformats.org/drawingml/2006/main">
            <a:r>
              <a:t>Apresentar a solução e o público. Explicar que a consulta concentra os dados fornecidos pelo professor em um painel. O benefício esperado é obter um total por unidade e período com acesso ao recorte que produziu o número. O CPSI é uma simulação de Contrato Público para Solução Inovadora, sem contratação real.</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Luigi Mendes Cabrini · RM 563552. Tempo 85 segundos.</a:t>
            </a:r>
          </a:p>
          <a:p xmlns:a="http://schemas.openxmlformats.org/drawingml/2006/main">
            <a:r>
              <a:t>Mostrar como reproduzir a importação. Os arquivos de 2024 somam 505.950 registros analisados. O campo Orgao está vazio em 100% dos quatro CSVs, enquanto UnidadeGestora aparece nos 505.950 registros. Por isso a POC usa unidades gestoras como dimensão de comparação. Explicar a auditoria encontrou zero datas inválidas, zero ValorPago ausentes/inválidos e zero duplicatas exatas. 339.887 registros têm ValorPago zero. 9.886 registros trazem ajustes negativos, cuja soma é R$ -381.794.044,19 e permanece no total líquido. Nenhuma linha foi deduplicada. Diferenciar ValorPago de empenhado, liquidado e restos a pagar. A base publicada no portal oficial é maior que os quatro arquivos locais, portanto a cobertura integral estadual não foi comprovada.</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Dicionário de despesas fornecido em Downloads/dicionario_despesas.pdf</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Bruno Koeke · RM 561309. Tempo 80 segundos.</a:t>
            </a:r>
          </a:p>
          <a:p xmlns:a="http://schemas.openxmlformats.org/drawingml/2006/main">
            <a:r>
              <a:t>Descrever a pergunta 1. As cinco maiores unidades totalizam 54,86% da soma líquida de ValorPago, R$ 10.337.098.858,62. O conjunto tem 117 unidades gestoras. A primeira é FUNDO ESTADUAL DE SAÚDE, com R$ 1.560.443.755,54 e 69.006 registros. Os valores não incluem ValorRap. O ranking é descritivo. Cada barra agrega ValorPago do conjunto por unidade gestora. Os nomes abreviados no gráfico são: Fundo Estadual de Saúde = 440901 FUNDO ESTADUAL DE SAÚDE; Fundo Financeiro = 600210 FUNDO FINANCEIRO; Educação = 420101 SECRETARIA DE ESTADO DA EDUCAÇÃO; Administração SEFAZ = 800102 ADMINISTRAÇÃO GERAL A CARGO DA SEFAZ; Proteção Social Militar = 600212 FUNDO DE PROTEÇÃO SOCIAL DOS MILITARES. Explicar que concentração é descritiva e não demonstra irregularidade. O achado orientou o ranking e o filtro por unidade na POC.</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Resumo calculado em data/resumo_analise.json, sem combinar medidas monetárias distintas.</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Bruno Koeke · RM 561309. Tempo 100 segundos.</a:t>
            </a:r>
          </a:p>
          <a:p xmlns:a="http://schemas.openxmlformats.org/drawingml/2006/main">
            <a:r>
              <a:t>Descrever a pergunta 2 e a série mensal. Dezembro soma R$ 1.648.054.158,32, em 55.327 registros. A média dos 12 totais é R$ 861.424.904,89, mediana R$ 830.429.539,28 e desvio padrão amostral R$ 308.017.812,38. Os 12 meses observados são completos dentro dos arquivos locais. Não há evidência suficiente para atribuir causalidade ao aumento. A data representa a data do documento/registro conforme o dicionário, não prova a data de saída efetiva de caixa. O total do conjunto é uma soma observada. Média, mediana e desvio padrão mensal são estatísticas descritivas. Não calcular IC da média mensal porque há possível sazonalidade e dependência entre meses. O complemento didático usa uma amostra aleatória simples interna de registros com semente 2024 e intervalo de Wilson de 95% para a proporção de linhas com ValorPago &gt; 0. A população-alvo é somente o conjunto fornecido e não todo o Estado. O recorte sistemático de origem não permite extrapolação estadual. O sorteio interno é aleatório e reprodutível. A amostra tem n=10000 e k=3126 registros positivos, proporção 31,26%. Wilson resulta em 30,36% a 32,18%. A proporção exata conhecida na base é 30,87%. O intervalo usa aproximação binomial sem correção da população finita, conservadora frente ao sorteio sem reposição. O conjunto tem N=505950 linhas elegíveis e amostra de 1,98%</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Dicionário de despesas fornecido em Downloads/dicionario_despesas.pdf</a:t>
            </a:r>
          </a:p>
          <a:p xmlns:a="http://schemas.openxmlformats.org/drawingml/2006/main">
            <a:r>
              <a:t>NIST, intervalo de Wilson para proporções. https://www.itl.nist.gov/div898/handbook/prc/section2/prc241.htm</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Rogério Cruz Arroyo · RM 563517. Tempo 210 segundos.</a:t>
            </a:r>
          </a:p>
          <a:p xmlns:a="http://schemas.openxmlformats.org/drawingml/2006/main">
            <a:r>
              <a:t>Abrir o painel local. Mostrar a base carregada e selecionar uma unidade no ranking. Filtrar um mês e ler os indicadores. Consultar composição e abrir a rastreabilidade de um resultado. Exibir arquivo e linha, sem dados bancários ou pessoais. Selecionar uma combinação sem dados e observar a resposta. Mostrar o roteiro de execução do README e os testes. A tecnologia web local foi escolhida para reduzir dependências da POC, enquanto o SQLite mantém agregações reproduzíveis. Demonstrar apenas recursos implementados e explicar as limitações. Alternativa de contingência: material capturado, mantendo a demonstração ao vivo como principal.</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Código da POC no projeto cp5-data, Python biblioteca padrão e SQLite.</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Anthony Sforzin · RM 562096. Tempo 70 segundos.</a:t>
            </a:r>
          </a:p>
          <a:p xmlns:a="http://schemas.openxmlformats.org/drawingml/2006/main">
            <a:r>
              <a:t>Explicar que esta tabela propõe a divisão futura, sem afirmar contribuições já realizadas. Os marcos descrevem a evolução da POC que já funciona e coincidem com o relatório. Semanas 1–2: produto e dados revisam perguntas e indicadores com usuários. Semanas 3–4: dados e testes ampliam a auditoria, conciliam totais e repetem a carga. Semanas 5–8: desenvolvimento melhora a usabilidade, com uma jornada executável por usuário externo. Semanas 9–12: dados e desenvolvimento integram 2025 somente com períodos e medidas comparáveis. Semanas 13–14: testes e produto entregam relatório de validação, testes sem falhas e aprovação documentada dos campos exportados. Semanas 15–16: toda a equipe entrega piloto, README e pacote, reproduzindo a jornada e o total de referência em ambiente limpo. Se 2025 ou uma integração atrasar, manter o conjunto validado de 2024 e registrar o recorte. O enunciado exige 5 a 8 estudantes. O grupo optou por manter quatro integrantes. A exceção com o professor permanece pendente.</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Anthony Sforzin · RM 562096. Tempo 60 segundos.</a:t>
            </a:r>
          </a:p>
          <a:p xmlns:a="http://schemas.openxmlformats.org/drawingml/2006/main">
            <a:r>
              <a:t>Explicar a memória de cálculo. Pessoal: 11.200 + 19.200 + 28.800 + 9.600 = 68.800 reais. Somando infraestrutura/licenças de 3.200, a base é 72.000 reais. Contingência de 20% soma 14.400, totalizando 86.400. O custo de operação combina 1.200 de manutenção com 600 de infraestrutura, 1.800 por mês, ou 21.600 por 12 meses. Estes valores estimam uma evolução profissional de até 16 semanas, sem afirmar que o grupo gastou esse montante. Relacionar cada risco ao responsável e à mitigação apresentada.</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Anthony Sforzin · RM 562096. Tempo 50 segundos.</a:t>
            </a:r>
          </a:p>
          <a:p xmlns:a="http://schemas.openxmlformats.org/drawingml/2006/main">
            <a:r>
              <a:t>Concluir retomando o valor da jornada demonstrada. Identificar o que funciona e o que pertence ao plano posterior. Explicar que dados incompletos e a semântica de Data limitam as conclusões. Informar que os links estão preenchidos e que o acesso da banca ainda deve ser validado. Preparar respostas sobre as duas perguntas, o indicador, a rastreabilidade, as funções, o cronograma e o orçamento. A soma dos tempos sugeridos é 720 segundos, 12 minutos.</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NIST, intervalo de Wilson para proporções. https://www.itl.nist.gov/div898/handbook/prc/section2/prc241.htm</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91e7c460799499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b5871c5393a483c" /><Relationship Type="http://schemas.openxmlformats.org/officeDocument/2006/relationships/slideLayout" Target="/ppt/slideLayouts/slideLayout1.xml" Id="R4c1748d7a66b40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1748d7a66b40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cd9a8f1c1334719" /><Relationship Type="http://schemas.openxmlformats.org/officeDocument/2006/relationships/notesSlide" Target="/ppt/notesSlides/notesSlide1.xml" Id="R17626528beaf479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5d2fe736193495b" /><Relationship Type="http://schemas.openxmlformats.org/officeDocument/2006/relationships/notesSlide" Target="/ppt/notesSlides/notesSlide2.xml" Id="Ra49216f4a5ae445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8ad7bb9d76e4a01" /><Relationship Type="http://schemas.openxmlformats.org/officeDocument/2006/relationships/chart" Target="/ppt/slides/charts/chart1.xml" Id="Rafdf025559d1421d" /><Relationship Type="http://schemas.openxmlformats.org/officeDocument/2006/relationships/notesSlide" Target="/ppt/notesSlides/notesSlide3.xml" Id="R31f62ca429ee477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8d5308f0b1346fd" /><Relationship Type="http://schemas.openxmlformats.org/officeDocument/2006/relationships/chart" Target="/ppt/slides/charts/chart2.xml" Id="Raaf3c670b1834ddd" /><Relationship Type="http://schemas.openxmlformats.org/officeDocument/2006/relationships/notesSlide" Target="/ppt/notesSlides/notesSlide4.xml" Id="Rd8f1c62738c44a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502cc01c4e5418e" /><Relationship Type="http://schemas.openxmlformats.org/officeDocument/2006/relationships/notesSlide" Target="/ppt/notesSlides/notesSlide5.xml" Id="R6dc4e49c595746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eeb7d4af6194ad1" /><Relationship Type="http://schemas.openxmlformats.org/officeDocument/2006/relationships/notesSlide" Target="/ppt/notesSlides/notesSlide6.xml" Id="R096d22f0c74e4c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2e04d57b58c465a" /><Relationship Type="http://schemas.openxmlformats.org/officeDocument/2006/relationships/notesSlide" Target="/ppt/notesSlides/notesSlide7.xml" Id="R4d912b5e4ccc48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013ca5c46c64f61" /><Relationship Type="http://schemas.openxmlformats.org/officeDocument/2006/relationships/notesSlide" Target="/ppt/notesSlides/notesSlide8.xml" Id="R6ec5bec842ce418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ValorPago em reais</c:v>
          </c:tx>
          <c:spPr>
            <a:solidFill xmlns:a="http://schemas.openxmlformats.org/drawingml/2006/main">
              <a:srgbClr val="087E8B"/>
            </a:solidFill>
          </c:spPr>
          <c:cat>
            <c:strRef>
              <c:f>'Chart Data'!$A$2:$A$6</c:f>
              <c:strCache>
                <c:ptCount val="5"/>
                <c:pt idx="0">
                  <c:v>Proteção Social Militar</c:v>
                </c:pt>
                <c:pt idx="1">
                  <c:v>Administração SEFAZ</c:v>
                </c:pt>
                <c:pt idx="2">
                  <c:v>Educação</c:v>
                </c:pt>
                <c:pt idx="3">
                  <c:v>Fundo Financeiro</c:v>
                </c:pt>
                <c:pt idx="4">
                  <c:v>Fundo Estadual de Saúde</c:v>
                </c:pt>
              </c:strCache>
            </c:strRef>
          </c:cat>
          <c:val>
            <c:numRef>
              <c:f>'Chart Data'!$B$2:$B$6</c:f>
              <c:numCache>
                <c:formatCode>0.00,,,</c:formatCode>
                <c:ptCount val="5"/>
                <c:pt idx="0">
                  <c:v>623324025.8</c:v>
                </c:pt>
                <c:pt idx="1">
                  <c:v>844205114.2</c:v>
                </c:pt>
                <c:pt idx="2">
                  <c:v>1165257763.44</c:v>
                </c:pt>
                <c:pt idx="3">
                  <c:v>1477602046.31</c:v>
                </c:pt>
                <c:pt idx="4">
                  <c:v>1560443755.54</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122D3D"/>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122D3D"/>
                </a:solidFill>
                <a:latin typeface="Arial"/>
                <a:ea typeface="Arial"/>
                <a:cs typeface="Arial"/>
              </a:defRPr>
            </a:pPr>
          </a:p>
        </c:txPr>
        <c:crossAx val="48672768"/>
      </c:catAx>
      <c:valAx>
        <c:axId val="48672768"/>
        <c:scaling>
          <c:orientation val="minMax"/>
          <c:min val="0"/>
        </c:scaling>
        <c:delete val="0"/>
        <c:axPos val="b"/>
        <c:majorGridlines>
          <c:spPr>
            <a:ln xmlns:a="http://schemas.openxmlformats.org/drawingml/2006/main" w="9525">
              <a:solidFill>
                <a:srgbClr val="DDE8EB"/>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4F6570"/>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ValorPago em reais</c:v>
          </c:tx>
          <c:spPr>
            <a:ln xmlns:a="http://schemas.openxmlformats.org/drawingml/2006/main" w="38100">
              <a:solidFill>
                <a:srgbClr val="087E8B"/>
              </a:solidFill>
            </a:ln>
          </c:spPr>
          <c:marker>
            <c:symbol val="circle"/>
            <c:size val="6"/>
            <c:spPr>
              <a:solidFill xmlns:a="http://schemas.openxmlformats.org/drawingml/2006/main">
                <a:srgbClr val="087E8B"/>
              </a:solidFill>
            </c:spPr>
          </c:marker>
          <c:cat>
            <c:strRef>
              <c:f>'Chart Data'!$A$2:$A$13</c:f>
              <c:strCache>
                <c:ptCount val="12"/>
                <c:pt idx="0">
                  <c:v>Jan</c:v>
                </c:pt>
                <c:pt idx="1">
                  <c:v>Fev</c:v>
                </c:pt>
                <c:pt idx="2">
                  <c:v>Mar</c:v>
                </c:pt>
                <c:pt idx="3">
                  <c:v>Abr</c:v>
                </c:pt>
                <c:pt idx="4">
                  <c:v>Mai</c:v>
                </c:pt>
                <c:pt idx="5">
                  <c:v>Jun</c:v>
                </c:pt>
                <c:pt idx="6">
                  <c:v>Jul</c:v>
                </c:pt>
                <c:pt idx="7">
                  <c:v>Ago</c:v>
                </c:pt>
                <c:pt idx="8">
                  <c:v>Set</c:v>
                </c:pt>
                <c:pt idx="9">
                  <c:v>Out</c:v>
                </c:pt>
                <c:pt idx="10">
                  <c:v>Nov</c:v>
                </c:pt>
                <c:pt idx="11">
                  <c:v>Dez</c:v>
                </c:pt>
              </c:strCache>
            </c:strRef>
          </c:cat>
          <c:val>
            <c:numRef>
              <c:f>'Chart Data'!$B$2:$B$13</c:f>
              <c:numCache>
                <c:formatCode>0.00,,,</c:formatCode>
                <c:ptCount val="12"/>
                <c:pt idx="0">
                  <c:v>634743988.43</c:v>
                </c:pt>
                <c:pt idx="1">
                  <c:v>562144515.02</c:v>
                </c:pt>
                <c:pt idx="2">
                  <c:v>461747982.32</c:v>
                </c:pt>
                <c:pt idx="3">
                  <c:v>707726095.49</c:v>
                </c:pt>
                <c:pt idx="4">
                  <c:v>903260092.09</c:v>
                </c:pt>
                <c:pt idx="5">
                  <c:v>812296918.61</c:v>
                </c:pt>
                <c:pt idx="6">
                  <c:v>1094517404.33</c:v>
                </c:pt>
                <c:pt idx="7">
                  <c:v>848562159.94</c:v>
                </c:pt>
                <c:pt idx="8">
                  <c:v>745545694.26</c:v>
                </c:pt>
                <c:pt idx="9">
                  <c:v>1027412949.33</c:v>
                </c:pt>
                <c:pt idx="10">
                  <c:v>891086900.48</c:v>
                </c:pt>
                <c:pt idx="11">
                  <c:v>1648054158.32</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DE8EB"/>
            </a:solidFill>
          </a:ln>
        </c:spPr>
        <c:txPr>
          <a:bodyPr xmlns:a="http://schemas.openxmlformats.org/drawingml/2006/main" anchorCtr="1"/>
          <a:lstStyle xmlns:a="http://schemas.openxmlformats.org/drawingml/2006/main"/>
          <a:p xmlns:a="http://schemas.openxmlformats.org/drawingml/2006/main">
            <a:pPr>
              <a:defRPr sz="1575">
                <a:solidFill>
                  <a:srgbClr val="122D3D"/>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DE8EB"/>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4F6570"/>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949BE6-B6D6-4BC7-84C8-D0AC48FE51EB}"/>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E2CCB318-3825-4FF7-9D93-749B6C4F1DB1}"/>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ECD4FA1D-0318-4AA4-8842-A17D716B0EDB}"/>
              </a:ext>
            </a:extLst>
          </p:cNvPr>
          <p:cNvSpPr>
            <a:spLocks xmlns:a="http://schemas.openxmlformats.org/drawingml/2006/main" noGrp="1"/>
          </p:cNvSpPr>
          <p:nvPr/>
        </p:nvSpPr>
        <p:spPr>
          <a:xfrm xmlns:a="http://schemas.openxmlformats.org/drawingml/2006/main">
            <a:off x="609600" y="14382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1">
                <a:solidFill>
                  <a:srgbClr val="087E8B"/>
                </a:solidFill>
                <a:latin typeface="Arial"/>
                <a:ea typeface="Arial"/>
                <a:cs typeface="Arial"/>
              </a:defRPr>
            </a:pPr>
            <a:r>
              <a:rPr sz="2550" b="1">
                <a:solidFill>
                  <a:srgbClr val="087E8B"/>
                </a:solidFill>
                <a:latin typeface="Arial"/>
                <a:ea typeface="Arial"/>
                <a:cs typeface="Arial"/>
              </a:rPr>
              <a:t>Consulta por unidade gestora e período</a:t>
            </a:r>
          </a:p>
        </p:txBody>
      </p:sp>
      <p:sp>
        <p:nvSpPr>
          <p:cNvPr id="4" name="">
            <a:extLst xmlns:a="http://schemas.openxmlformats.org/drawingml/2006/main">
              <a:ext uri="{FF2B5EF4-FFF2-40B4-BE49-F238E27FC236}">
                <a16:creationId xmlns:a16="http://schemas.microsoft.com/office/drawing/2014/main" id="{5B3F1CDA-1D64-44AE-8FE0-3838B39AEE0D}"/>
              </a:ext>
            </a:extLst>
          </p:cNvPr>
          <p:cNvSpPr>
            <a:spLocks xmlns:a="http://schemas.openxmlformats.org/drawingml/2006/main" noGrp="1"/>
          </p:cNvSpPr>
          <p:nvPr/>
        </p:nvSpPr>
        <p:spPr>
          <a:xfrm xmlns:a="http://schemas.openxmlformats.org/drawingml/2006/main">
            <a:off x="609600" y="24955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Público</a:t>
            </a:r>
          </a:p>
        </p:txBody>
      </p:sp>
      <p:sp>
        <p:nvSpPr>
          <p:cNvPr id="5" name="">
            <a:extLst xmlns:a="http://schemas.openxmlformats.org/drawingml/2006/main">
              <a:ext uri="{FF2B5EF4-FFF2-40B4-BE49-F238E27FC236}">
                <a16:creationId xmlns:a16="http://schemas.microsoft.com/office/drawing/2014/main" id="{B4FC9CB9-0DBA-4BC3-97EE-1A0E38B8651A}"/>
              </a:ext>
            </a:extLst>
          </p:cNvPr>
          <p:cNvSpPr>
            <a:spLocks xmlns:a="http://schemas.openxmlformats.org/drawingml/2006/main" noGrp="1"/>
          </p:cNvSpPr>
          <p:nvPr/>
        </p:nvSpPr>
        <p:spPr>
          <a:xfrm xmlns:a="http://schemas.openxmlformats.org/drawingml/2006/main">
            <a:off x="609600" y="2924175"/>
            <a:ext cx="10334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0">
                <a:solidFill>
                  <a:srgbClr val="122D3D"/>
                </a:solidFill>
                <a:latin typeface="Arial"/>
                <a:ea typeface="Arial"/>
                <a:cs typeface="Arial"/>
              </a:defRPr>
            </a:pPr>
            <a:r>
              <a:rPr sz="2400" b="0">
                <a:solidFill>
                  <a:srgbClr val="122D3D"/>
                </a:solidFill>
                <a:latin typeface="Arial"/>
                <a:ea typeface="Arial"/>
                <a:cs typeface="Arial"/>
              </a:rPr>
              <a:t>Gestores públicos e analistas estaduais</a:t>
            </a:r>
          </a:p>
          <a:p xmlns:a="http://schemas.openxmlformats.org/drawingml/2006/main">
            <a:pPr>
              <a:defRPr sz="2400" b="0">
                <a:solidFill>
                  <a:srgbClr val="122D3D"/>
                </a:solidFill>
                <a:latin typeface="Arial"/>
                <a:ea typeface="Arial"/>
                <a:cs typeface="Arial"/>
              </a:defRPr>
            </a:pPr>
            <a:r>
              <a:rPr sz="2400" b="0">
                <a:solidFill>
                  <a:srgbClr val="122D3D"/>
                </a:solidFill>
                <a:latin typeface="Arial"/>
                <a:ea typeface="Arial"/>
                <a:cs typeface="Arial"/>
              </a:rPr>
              <a:t>de controle interno</a:t>
            </a:r>
          </a:p>
        </p:txBody>
      </p:sp>
      <p:sp>
        <p:nvSpPr>
          <p:cNvPr id="6" name="">
            <a:extLst xmlns:a="http://schemas.openxmlformats.org/drawingml/2006/main">
              <a:ext uri="{FF2B5EF4-FFF2-40B4-BE49-F238E27FC236}">
                <a16:creationId xmlns:a16="http://schemas.microsoft.com/office/drawing/2014/main" id="{FF0351A4-DE2C-4B8A-AAFD-02123BCF929D}"/>
              </a:ext>
            </a:extLst>
          </p:cNvPr>
          <p:cNvSpPr>
            <a:spLocks xmlns:a="http://schemas.openxmlformats.org/drawingml/2006/main" noGrp="1"/>
          </p:cNvSpPr>
          <p:nvPr/>
        </p:nvSpPr>
        <p:spPr>
          <a:xfrm xmlns:a="http://schemas.openxmlformats.org/drawingml/2006/main">
            <a:off x="609600" y="42100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Problema</a:t>
            </a:r>
          </a:p>
        </p:txBody>
      </p:sp>
      <p:sp>
        <p:nvSpPr>
          <p:cNvPr id="7" name="">
            <a:extLst xmlns:a="http://schemas.openxmlformats.org/drawingml/2006/main">
              <a:ext uri="{FF2B5EF4-FFF2-40B4-BE49-F238E27FC236}">
                <a16:creationId xmlns:a16="http://schemas.microsoft.com/office/drawing/2014/main" id="{774FA5C7-A0C6-45E3-9397-71C40F8EB0D9}"/>
              </a:ext>
            </a:extLst>
          </p:cNvPr>
          <p:cNvSpPr>
            <a:spLocks xmlns:a="http://schemas.openxmlformats.org/drawingml/2006/main" noGrp="1"/>
          </p:cNvSpPr>
          <p:nvPr/>
        </p:nvSpPr>
        <p:spPr>
          <a:xfrm xmlns:a="http://schemas.openxmlformats.org/drawingml/2006/main">
            <a:off x="609600" y="46386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122D3D"/>
                </a:solidFill>
                <a:latin typeface="Arial"/>
                <a:ea typeface="Arial"/>
                <a:cs typeface="Arial"/>
              </a:defRPr>
            </a:pPr>
            <a:r>
              <a:rPr sz="2250" b="0">
                <a:solidFill>
                  <a:srgbClr val="122D3D"/>
                </a:solidFill>
                <a:latin typeface="Arial"/>
                <a:ea typeface="Arial"/>
                <a:cs typeface="Arial"/>
              </a:rPr>
              <a:t>Comparar valores pagos exige reunir arquivos</a:t>
            </a:r>
          </a:p>
          <a:p xmlns:a="http://schemas.openxmlformats.org/drawingml/2006/main">
            <a:pPr>
              <a:defRPr sz="2250" b="0">
                <a:solidFill>
                  <a:srgbClr val="122D3D"/>
                </a:solidFill>
                <a:latin typeface="Arial"/>
                <a:ea typeface="Arial"/>
                <a:cs typeface="Arial"/>
              </a:defRPr>
            </a:pPr>
            <a:r>
              <a:rPr sz="2250" b="0">
                <a:solidFill>
                  <a:srgbClr val="122D3D"/>
                </a:solidFill>
                <a:latin typeface="Arial"/>
                <a:ea typeface="Arial"/>
                <a:cs typeface="Arial"/>
              </a:rPr>
              <a:t>e entender o recorte que compõe cada resultado.</a:t>
            </a:r>
          </a:p>
        </p:txBody>
      </p:sp>
      <p:sp>
        <p:nvSpPr>
          <p:cNvPr id="8" name="">
            <a:extLst xmlns:a="http://schemas.openxmlformats.org/drawingml/2006/main">
              <a:ext uri="{FF2B5EF4-FFF2-40B4-BE49-F238E27FC236}">
                <a16:creationId xmlns:a16="http://schemas.microsoft.com/office/drawing/2014/main" id="{4DC3AE8E-846F-4E4D-A790-3F81F84690AE}"/>
              </a:ext>
            </a:extLst>
          </p:cNvPr>
          <p:cNvSpPr>
            <a:spLocks xmlns:a="http://schemas.openxmlformats.org/drawingml/2006/main" noGrp="1"/>
          </p:cNvSpPr>
          <p:nvPr/>
        </p:nvSpPr>
        <p:spPr>
          <a:xfrm xmlns:a="http://schemas.openxmlformats.org/drawingml/2006/main">
            <a:off x="609600" y="5619750"/>
            <a:ext cx="5295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4F6570"/>
                </a:solidFill>
                <a:latin typeface="Arial"/>
                <a:ea typeface="Arial"/>
                <a:cs typeface="Arial"/>
              </a:defRPr>
            </a:pPr>
            <a:r>
              <a:rPr sz="1725" b="0">
                <a:solidFill>
                  <a:srgbClr val="4F6570"/>
                </a:solidFill>
                <a:latin typeface="Arial"/>
                <a:ea typeface="Arial"/>
                <a:cs typeface="Arial"/>
              </a:rPr>
              <a:t>Luigi Mendes Cabrini · RM 563552</a:t>
            </a:r>
          </a:p>
          <a:p xmlns:a="http://schemas.openxmlformats.org/drawingml/2006/main">
            <a:pPr>
              <a:defRPr sz="1725" b="0">
                <a:solidFill>
                  <a:srgbClr val="4F6570"/>
                </a:solidFill>
                <a:latin typeface="Arial"/>
                <a:ea typeface="Arial"/>
                <a:cs typeface="Arial"/>
              </a:defRPr>
            </a:pPr>
            <a:r>
              <a:rPr sz="1725" b="0">
                <a:solidFill>
                  <a:srgbClr val="4F6570"/>
                </a:solidFill>
                <a:latin typeface="Arial"/>
                <a:ea typeface="Arial"/>
                <a:cs typeface="Arial"/>
              </a:rPr>
              <a:t>Bruno Koeke · RM 561309</a:t>
            </a:r>
          </a:p>
        </p:txBody>
      </p:sp>
      <p:sp>
        <p:nvSpPr>
          <p:cNvPr id="9" name="">
            <a:extLst xmlns:a="http://schemas.openxmlformats.org/drawingml/2006/main">
              <a:ext uri="{FF2B5EF4-FFF2-40B4-BE49-F238E27FC236}">
                <a16:creationId xmlns:a16="http://schemas.microsoft.com/office/drawing/2014/main" id="{86EDA423-0F67-4462-ADEF-B99F17471961}"/>
              </a:ext>
            </a:extLst>
          </p:cNvPr>
          <p:cNvSpPr>
            <a:spLocks xmlns:a="http://schemas.openxmlformats.org/drawingml/2006/main" noGrp="1"/>
          </p:cNvSpPr>
          <p:nvPr/>
        </p:nvSpPr>
        <p:spPr>
          <a:xfrm xmlns:a="http://schemas.openxmlformats.org/drawingml/2006/main">
            <a:off x="6191250" y="5619750"/>
            <a:ext cx="53816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4F6570"/>
                </a:solidFill>
                <a:latin typeface="Arial"/>
                <a:ea typeface="Arial"/>
                <a:cs typeface="Arial"/>
              </a:defRPr>
            </a:pPr>
            <a:r>
              <a:rPr sz="1725" b="0">
                <a:solidFill>
                  <a:srgbClr val="4F6570"/>
                </a:solidFill>
                <a:latin typeface="Arial"/>
                <a:ea typeface="Arial"/>
                <a:cs typeface="Arial"/>
              </a:rPr>
              <a:t>Rogério Cruz Arroyo · RM 563517</a:t>
            </a:r>
          </a:p>
          <a:p xmlns:a="http://schemas.openxmlformats.org/drawingml/2006/main">
            <a:pPr>
              <a:defRPr sz="1725" b="0">
                <a:solidFill>
                  <a:srgbClr val="4F6570"/>
                </a:solidFill>
                <a:latin typeface="Arial"/>
                <a:ea typeface="Arial"/>
                <a:cs typeface="Arial"/>
              </a:defRPr>
            </a:pPr>
            <a:r>
              <a:rPr sz="1725" b="0">
                <a:solidFill>
                  <a:srgbClr val="4F6570"/>
                </a:solidFill>
                <a:latin typeface="Arial"/>
                <a:ea typeface="Arial"/>
                <a:cs typeface="Arial"/>
              </a:rPr>
              <a:t>Anthony Sforzin · RM 562096</a:t>
            </a:r>
          </a:p>
        </p:txBody>
      </p:sp>
      <p:sp>
        <p:nvSpPr>
          <p:cNvPr id="10" name="">
            <a:extLst xmlns:a="http://schemas.openxmlformats.org/drawingml/2006/main">
              <a:ext uri="{FF2B5EF4-FFF2-40B4-BE49-F238E27FC236}">
                <a16:creationId xmlns:a16="http://schemas.microsoft.com/office/drawing/2014/main" id="{D9E4DD05-9253-4179-8593-806953ED48FB}"/>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2ESPH-2026  ·  Equipe Pagamentos ES 2024, proponente fictícia no CPSI simulado</a:t>
            </a:r>
          </a:p>
        </p:txBody>
      </p:sp>
    </p:spTree>
    <p:extLst>
      <p:ext uri="{BB962C8B-B14F-4D97-AF65-F5344CB8AC3E}">
        <p14:creationId xmlns:p14="http://schemas.microsoft.com/office/powerpoint/2010/main" val="101173418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19D261-6DF8-400D-B6F8-A19A21761192}"/>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Base e preparação dos dados</a:t>
            </a:r>
          </a:p>
        </p:txBody>
      </p:sp>
      <p:sp>
        <p:nvSpPr>
          <p:cNvPr id="2" name="">
            <a:extLst xmlns:a="http://schemas.openxmlformats.org/drawingml/2006/main">
              <a:ext uri="{FF2B5EF4-FFF2-40B4-BE49-F238E27FC236}">
                <a16:creationId xmlns:a16="http://schemas.microsoft.com/office/drawing/2014/main" id="{FDF59231-EB74-4886-ADE1-E34B383E4202}"/>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2/8</a:t>
            </a:r>
          </a:p>
        </p:txBody>
      </p:sp>
      <p:sp>
        <p:nvSpPr>
          <p:cNvPr id="3" name="">
            <a:extLst xmlns:a="http://schemas.openxmlformats.org/drawingml/2006/main">
              <a:ext uri="{FF2B5EF4-FFF2-40B4-BE49-F238E27FC236}">
                <a16:creationId xmlns:a16="http://schemas.microsoft.com/office/drawing/2014/main" id="{4874E86C-3841-4707-ADBE-150F0EA1067D}"/>
              </a:ext>
            </a:extLst>
          </p:cNvPr>
          <p:cNvSpPr>
            <a:spLocks xmlns:a="http://schemas.openxmlformats.org/drawingml/2006/main" noGrp="1"/>
          </p:cNvSpPr>
          <p:nvPr/>
        </p:nvSpPr>
        <p:spPr>
          <a:xfrm xmlns:a="http://schemas.openxmlformats.org/drawingml/2006/main">
            <a:off x="609600" y="138112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1">
                <a:solidFill>
                  <a:srgbClr val="087E8B"/>
                </a:solidFill>
                <a:latin typeface="Arial"/>
                <a:ea typeface="Arial"/>
                <a:cs typeface="Arial"/>
              </a:defRPr>
            </a:pPr>
            <a:r>
              <a:rPr sz="3375" b="1">
                <a:solidFill>
                  <a:srgbClr val="087E8B"/>
                </a:solidFill>
                <a:latin typeface="Arial"/>
                <a:ea typeface="Arial"/>
                <a:cs typeface="Arial"/>
              </a:rPr>
              <a:t>505.950</a:t>
            </a:r>
          </a:p>
        </p:txBody>
      </p:sp>
      <p:sp>
        <p:nvSpPr>
          <p:cNvPr id="4" name="">
            <a:extLst xmlns:a="http://schemas.openxmlformats.org/drawingml/2006/main">
              <a:ext uri="{FF2B5EF4-FFF2-40B4-BE49-F238E27FC236}">
                <a16:creationId xmlns:a16="http://schemas.microsoft.com/office/drawing/2014/main" id="{80B80F21-36A8-4422-8062-0277D9FE65CB}"/>
              </a:ext>
            </a:extLst>
          </p:cNvPr>
          <p:cNvSpPr>
            <a:spLocks xmlns:a="http://schemas.openxmlformats.org/drawingml/2006/main" noGrp="1"/>
          </p:cNvSpPr>
          <p:nvPr/>
        </p:nvSpPr>
        <p:spPr>
          <a:xfrm xmlns:a="http://schemas.openxmlformats.org/drawingml/2006/main">
            <a:off x="609600" y="20288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4F6570"/>
                </a:solidFill>
                <a:latin typeface="Arial"/>
                <a:ea typeface="Arial"/>
                <a:cs typeface="Arial"/>
              </a:defRPr>
            </a:pPr>
            <a:r>
              <a:rPr sz="1950" b="0">
                <a:solidFill>
                  <a:srgbClr val="4F6570"/>
                </a:solidFill>
                <a:latin typeface="Arial"/>
                <a:ea typeface="Arial"/>
                <a:cs typeface="Arial"/>
              </a:rPr>
              <a:t>registros analisados</a:t>
            </a:r>
          </a:p>
        </p:txBody>
      </p:sp>
      <p:sp>
        <p:nvSpPr>
          <p:cNvPr id="5" name="">
            <a:extLst xmlns:a="http://schemas.openxmlformats.org/drawingml/2006/main">
              <a:ext uri="{FF2B5EF4-FFF2-40B4-BE49-F238E27FC236}">
                <a16:creationId xmlns:a16="http://schemas.microsoft.com/office/drawing/2014/main" id="{B8C01B9F-EA4A-4521-A676-3967A1E88047}"/>
              </a:ext>
            </a:extLst>
          </p:cNvPr>
          <p:cNvSpPr>
            <a:spLocks xmlns:a="http://schemas.openxmlformats.org/drawingml/2006/main" noGrp="1"/>
          </p:cNvSpPr>
          <p:nvPr/>
        </p:nvSpPr>
        <p:spPr>
          <a:xfrm xmlns:a="http://schemas.openxmlformats.org/drawingml/2006/main">
            <a:off x="6191250" y="1438275"/>
            <a:ext cx="5381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122D3D"/>
                </a:solidFill>
                <a:latin typeface="Arial"/>
                <a:ea typeface="Arial"/>
                <a:cs typeface="Arial"/>
              </a:defRPr>
            </a:pPr>
            <a:r>
              <a:rPr sz="2250" b="0">
                <a:solidFill>
                  <a:srgbClr val="122D3D"/>
                </a:solidFill>
                <a:latin typeface="Arial"/>
                <a:ea typeface="Arial"/>
                <a:cs typeface="Arial"/>
              </a:rPr>
              <a:t>4 partes de 2024 fornecidas pelo professor</a:t>
            </a:r>
          </a:p>
        </p:txBody>
      </p:sp>
      <p:graphicFrame>
        <p:nvGraphicFramePr>
          <p:cNvPr id="14" name=""/>
          <p:cNvGraphicFramePr/>
          <p:nvPr/>
        </p:nvGraphicFramePr>
        <p:xfrm>
          <a:off xmlns:a="http://schemas.openxmlformats.org/drawingml/2006/main" x="609600" y="2695575"/>
          <a:ext xmlns:a="http://schemas.openxmlformats.org/drawingml/2006/main" cx="10972800" cy="2714625"/>
        </p:xfrm>
        <a:graphic xmlns:a="http://schemas.openxmlformats.org/drawingml/2006/main">
          <a:graphicData uri="http://schemas.openxmlformats.org/drawingml/2006/table">
            <a:tbl>
              <a:tblPr/>
              <a:tblGrid>
                <a:gridCol w="2381250"/>
                <a:gridCol w="8591550"/>
              </a:tblGrid>
              <a:tr h="452438">
                <a:tc>
                  <a:txBody>
                    <a:bodyPr lIns="114300" tIns="76200" rIns="114300" bIns="76200">
                      <a:noAutofit/>
                    </a:bodyPr>
                    <a:lstStyle/>
                    <a:p>
                      <a:r>
                        <a:rPr sz="1725" b="1">
                          <a:solidFill>
                            <a:srgbClr val="FFFFFF"/>
                          </a:solidFill>
                          <a:latin typeface="Arial"/>
                          <a:ea typeface="Arial"/>
                          <a:cs typeface="Arial"/>
                        </a:rPr>
                        <a:t>Etapa</a:t>
                      </a:r>
                    </a:p>
                  </a:txBody>
                  <a:tcPr marL="91440" marR="91440" marT="45720" marB="45720">
                    <a:solidFill>
                      <a:srgbClr val="122D3D"/>
                    </a:solidFill>
                  </a:tcPr>
                </a:tc>
                <a:tc>
                  <a:txBody>
                    <a:bodyPr lIns="114300" tIns="76200" rIns="114300" bIns="76200">
                      <a:noAutofit/>
                    </a:bodyPr>
                    <a:lstStyle/>
                    <a:p>
                      <a:r>
                        <a:rPr sz="1725" b="1">
                          <a:solidFill>
                            <a:srgbClr val="FFFFFF"/>
                          </a:solidFill>
                          <a:latin typeface="Arial"/>
                          <a:ea typeface="Arial"/>
                          <a:cs typeface="Arial"/>
                        </a:rPr>
                        <a:t>Decisão de tratamento</a:t>
                      </a:r>
                    </a:p>
                  </a:txBody>
                  <a:tcPr marL="91440" marR="91440" marT="45720" marB="45720">
                    <a:solidFill>
                      <a:srgbClr val="122D3D"/>
                    </a:solidFill>
                  </a:tcPr>
                </a:tc>
              </a:tr>
              <a:tr h="452438">
                <a:tc>
                  <a:txBody>
                    <a:bodyPr lIns="114300" tIns="76200" rIns="114300" bIns="76200">
                      <a:noAutofit/>
                    </a:bodyPr>
                    <a:lstStyle/>
                    <a:p>
                      <a:r>
                        <a:rPr sz="1725" b="0">
                          <a:solidFill>
                            <a:srgbClr val="122D3D"/>
                          </a:solidFill>
                          <a:latin typeface="Arial"/>
                          <a:ea typeface="Arial"/>
                          <a:cs typeface="Arial"/>
                        </a:rPr>
                        <a:t>Importação</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CSV com ;, UTF-8 BOM e vírgula decimal</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Recorte</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Orgao vazio em 100%. UnidadeGestora preenchida.</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Indicador</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Somar apenas ValorPago, em reais</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Auditoria</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0 inválidos, 0 duplicatas. 9.886 ajustes negativos mantidos.</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Rastreabilidade</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Arquivo de origem e linha do CSV</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C621185-6CDF-4C8D-B006-D5D70A3DDBA8}"/>
              </a:ext>
            </a:extLst>
          </p:cNvPr>
          <p:cNvSpPr>
            <a:spLocks xmlns:a="http://schemas.openxmlformats.org/drawingml/2006/main" noGrp="1"/>
          </p:cNvSpPr>
          <p:nvPr/>
        </p:nvSpPr>
        <p:spPr>
          <a:xfrm xmlns:a="http://schemas.openxmlformats.org/drawingml/2006/main">
            <a:off x="609600" y="566737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9B4D00"/>
                </a:solidFill>
                <a:latin typeface="Arial"/>
                <a:ea typeface="Arial"/>
                <a:cs typeface="Arial"/>
              </a:defRPr>
            </a:pPr>
            <a:r>
              <a:rPr sz="1800" b="0">
                <a:solidFill>
                  <a:srgbClr val="9B4D00"/>
                </a:solidFill>
                <a:latin typeface="Arial"/>
                <a:ea typeface="Arial"/>
                <a:cs typeface="Arial"/>
              </a:rPr>
              <a:t>Cobertura: conjunto fornecido. Não representa cobertura estadual integral comprovada.</a:t>
            </a:r>
          </a:p>
        </p:txBody>
      </p:sp>
      <p:sp>
        <p:nvSpPr>
          <p:cNvPr id="8" name="">
            <a:extLst xmlns:a="http://schemas.openxmlformats.org/drawingml/2006/main">
              <a:ext uri="{FF2B5EF4-FFF2-40B4-BE49-F238E27FC236}">
                <a16:creationId xmlns:a16="http://schemas.microsoft.com/office/drawing/2014/main" id="{8C1C3A7E-F27F-47A2-8326-487F3B3A456B}"/>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Fonte: quatro partes e dicionário fornecidos. Recorte sistemático de 2024.</a:t>
            </a:r>
          </a:p>
        </p:txBody>
      </p:sp>
    </p:spTree>
    <p:extLst>
      <p:ext uri="{BB962C8B-B14F-4D97-AF65-F5344CB8AC3E}">
        <p14:creationId xmlns:p14="http://schemas.microsoft.com/office/powerpoint/2010/main" val="10394551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51D8D6-FD0E-4781-9CA8-9F02F1109C4E}"/>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Cinco unidades concentram 54,9% do total</a:t>
            </a:r>
          </a:p>
        </p:txBody>
      </p:sp>
      <p:sp>
        <p:nvSpPr>
          <p:cNvPr id="2" name="">
            <a:extLst xmlns:a="http://schemas.openxmlformats.org/drawingml/2006/main">
              <a:ext uri="{FF2B5EF4-FFF2-40B4-BE49-F238E27FC236}">
                <a16:creationId xmlns:a16="http://schemas.microsoft.com/office/drawing/2014/main" id="{8255BA58-4B22-492B-8BFB-C02887986088}"/>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3/8</a:t>
            </a:r>
          </a:p>
        </p:txBody>
      </p:sp>
      <p:sp>
        <p:nvSpPr>
          <p:cNvPr id="3" name="">
            <a:extLst xmlns:a="http://schemas.openxmlformats.org/drawingml/2006/main">
              <a:ext uri="{FF2B5EF4-FFF2-40B4-BE49-F238E27FC236}">
                <a16:creationId xmlns:a16="http://schemas.microsoft.com/office/drawing/2014/main" id="{C9F9B566-6C95-410A-872A-281AFF79EC74}"/>
              </a:ext>
            </a:extLst>
          </p:cNvPr>
          <p:cNvSpPr>
            <a:spLocks xmlns:a="http://schemas.openxmlformats.org/drawingml/2006/main" noGrp="1"/>
          </p:cNvSpPr>
          <p:nvPr/>
        </p:nvSpPr>
        <p:spPr>
          <a:xfrm xmlns:a="http://schemas.openxmlformats.org/drawingml/2006/main">
            <a:off x="609600" y="1333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Pergunta 1: quais unidades concentram o ValorPago do conjunto?</a:t>
            </a:r>
          </a:p>
        </p:txBody>
      </p:sp>
      <p:graphicFrame>
        <p:nvGraphicFramePr>
          <p:cNvPr id="12" name="Chart"/>
          <p:cNvGraphicFramePr/>
          <p:nvPr/>
        </p:nvGraphicFramePr>
        <p:xfrm>
          <a:off xmlns:a="http://schemas.openxmlformats.org/drawingml/2006/main" x="609600" y="1981200"/>
          <a:ext xmlns:a="http://schemas.openxmlformats.org/drawingml/2006/main" cx="7381875" cy="3619500"/>
        </p:xfrm>
        <a:graphic xmlns:a="http://schemas.openxmlformats.org/drawingml/2006/main">
          <a:graphicData uri="http://schemas.openxmlformats.org/drawingml/2006/chart">
            <c:chart xmlns:r="http://schemas.openxmlformats.org/officeDocument/2006/relationships" xmlns:c="http://schemas.openxmlformats.org/drawingml/2006/chart" r:id="Rafdf025559d1421d"/>
          </a:graphicData>
        </a:graphic>
      </p:graphicFrame>
      <p:sp>
        <p:nvSpPr>
          <p:cNvPr id="5" name="">
            <a:extLst xmlns:a="http://schemas.openxmlformats.org/drawingml/2006/main">
              <a:ext uri="{FF2B5EF4-FFF2-40B4-BE49-F238E27FC236}">
                <a16:creationId xmlns:a16="http://schemas.microsoft.com/office/drawing/2014/main" id="{69EFF1BA-6CAB-4FBC-A6F1-A5849225996F}"/>
              </a:ext>
            </a:extLst>
          </p:cNvPr>
          <p:cNvSpPr>
            <a:spLocks xmlns:a="http://schemas.openxmlformats.org/drawingml/2006/main" noGrp="1"/>
          </p:cNvSpPr>
          <p:nvPr/>
        </p:nvSpPr>
        <p:spPr>
          <a:xfrm xmlns:a="http://schemas.openxmlformats.org/drawingml/2006/main">
            <a:off x="8477250" y="2085975"/>
            <a:ext cx="31146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1">
                <a:solidFill>
                  <a:srgbClr val="087E8B"/>
                </a:solidFill>
                <a:latin typeface="Arial"/>
                <a:ea typeface="Arial"/>
                <a:cs typeface="Arial"/>
              </a:defRPr>
            </a:pPr>
            <a:r>
              <a:rPr sz="2625" b="1">
                <a:solidFill>
                  <a:srgbClr val="087E8B"/>
                </a:solidFill>
                <a:latin typeface="Arial"/>
                <a:ea typeface="Arial"/>
                <a:cs typeface="Arial"/>
              </a:rPr>
              <a:t>R$ 10,34 bi</a:t>
            </a:r>
          </a:p>
          <a:p xmlns:a="http://schemas.openxmlformats.org/drawingml/2006/main">
            <a:pPr>
              <a:defRPr sz="2625" b="1">
                <a:solidFill>
                  <a:srgbClr val="087E8B"/>
                </a:solidFill>
                <a:latin typeface="Arial"/>
                <a:ea typeface="Arial"/>
                <a:cs typeface="Arial"/>
              </a:defRPr>
            </a:pPr>
            <a:r>
              <a:rPr sz="2625" b="1">
                <a:solidFill>
                  <a:srgbClr val="087E8B"/>
                </a:solidFill>
                <a:latin typeface="Arial"/>
                <a:ea typeface="Arial"/>
                <a:cs typeface="Arial"/>
              </a:rPr>
              <a:t>total líquido</a:t>
            </a:r>
          </a:p>
        </p:txBody>
      </p:sp>
      <p:sp>
        <p:nvSpPr>
          <p:cNvPr id="6" name="">
            <a:extLst xmlns:a="http://schemas.openxmlformats.org/drawingml/2006/main">
              <a:ext uri="{FF2B5EF4-FFF2-40B4-BE49-F238E27FC236}">
                <a16:creationId xmlns:a16="http://schemas.microsoft.com/office/drawing/2014/main" id="{39AEDAFF-8897-43F9-849B-B34B368F387C}"/>
              </a:ext>
            </a:extLst>
          </p:cNvPr>
          <p:cNvSpPr>
            <a:spLocks xmlns:a="http://schemas.openxmlformats.org/drawingml/2006/main" noGrp="1"/>
          </p:cNvSpPr>
          <p:nvPr/>
        </p:nvSpPr>
        <p:spPr>
          <a:xfrm xmlns:a="http://schemas.openxmlformats.org/drawingml/2006/main">
            <a:off x="8477250" y="3467100"/>
            <a:ext cx="31146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4F6570"/>
                </a:solidFill>
                <a:latin typeface="Arial"/>
                <a:ea typeface="Arial"/>
                <a:cs typeface="Arial"/>
              </a:defRPr>
            </a:pPr>
            <a:r>
              <a:rPr sz="1875" b="1">
                <a:solidFill>
                  <a:srgbClr val="4F6570"/>
                </a:solidFill>
                <a:latin typeface="Arial"/>
                <a:ea typeface="Arial"/>
                <a:cs typeface="Arial"/>
              </a:rPr>
              <a:t>Decisão de produto</a:t>
            </a:r>
          </a:p>
        </p:txBody>
      </p:sp>
      <p:sp>
        <p:nvSpPr>
          <p:cNvPr id="7" name="">
            <a:extLst xmlns:a="http://schemas.openxmlformats.org/drawingml/2006/main">
              <a:ext uri="{FF2B5EF4-FFF2-40B4-BE49-F238E27FC236}">
                <a16:creationId xmlns:a16="http://schemas.microsoft.com/office/drawing/2014/main" id="{06E93DC5-9D8D-48E6-B061-8679E94BA6BD}"/>
              </a:ext>
            </a:extLst>
          </p:cNvPr>
          <p:cNvSpPr>
            <a:spLocks xmlns:a="http://schemas.openxmlformats.org/drawingml/2006/main" noGrp="1"/>
          </p:cNvSpPr>
          <p:nvPr/>
        </p:nvSpPr>
        <p:spPr>
          <a:xfrm xmlns:a="http://schemas.openxmlformats.org/drawingml/2006/main">
            <a:off x="8477250" y="3962400"/>
            <a:ext cx="31146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122D3D"/>
                </a:solidFill>
                <a:latin typeface="Arial"/>
                <a:ea typeface="Arial"/>
                <a:cs typeface="Arial"/>
              </a:defRPr>
            </a:pPr>
            <a:r>
              <a:rPr sz="2025" b="0">
                <a:solidFill>
                  <a:srgbClr val="122D3D"/>
                </a:solidFill>
                <a:latin typeface="Arial"/>
                <a:ea typeface="Arial"/>
                <a:cs typeface="Arial"/>
              </a:rPr>
              <a:t>Ranking com seleção de unidade e detalhamento da composição.</a:t>
            </a:r>
          </a:p>
        </p:txBody>
      </p:sp>
      <p:sp>
        <p:nvSpPr>
          <p:cNvPr id="8" name="">
            <a:extLst xmlns:a="http://schemas.openxmlformats.org/drawingml/2006/main">
              <a:ext uri="{FF2B5EF4-FFF2-40B4-BE49-F238E27FC236}">
                <a16:creationId xmlns:a16="http://schemas.microsoft.com/office/drawing/2014/main" id="{CA93AF28-C812-4EA3-8D4F-CBD2D2BCCF4B}"/>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ValorPago líquido em R$ bilhões. 2024. 505.950 registros. Top 5 unidades.</a:t>
            </a:r>
          </a:p>
        </p:txBody>
      </p:sp>
    </p:spTree>
    <p:extLst>
      <p:ext uri="{BB962C8B-B14F-4D97-AF65-F5344CB8AC3E}">
        <p14:creationId xmlns:p14="http://schemas.microsoft.com/office/powerpoint/2010/main" val="18629053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9296F4D-102A-4416-AD20-491B324D5791}"/>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Dezembro registra R$ 1,65 bi no conjunto</a:t>
            </a:r>
          </a:p>
        </p:txBody>
      </p:sp>
      <p:sp>
        <p:nvSpPr>
          <p:cNvPr id="2" name="">
            <a:extLst xmlns:a="http://schemas.openxmlformats.org/drawingml/2006/main">
              <a:ext uri="{FF2B5EF4-FFF2-40B4-BE49-F238E27FC236}">
                <a16:creationId xmlns:a16="http://schemas.microsoft.com/office/drawing/2014/main" id="{6FE8594B-CE26-4150-B068-00A63962DCFC}"/>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4/8</a:t>
            </a:r>
          </a:p>
        </p:txBody>
      </p:sp>
      <p:sp>
        <p:nvSpPr>
          <p:cNvPr id="3" name="">
            <a:extLst xmlns:a="http://schemas.openxmlformats.org/drawingml/2006/main">
              <a:ext uri="{FF2B5EF4-FFF2-40B4-BE49-F238E27FC236}">
                <a16:creationId xmlns:a16="http://schemas.microsoft.com/office/drawing/2014/main" id="{7D2A1FBE-BC08-4B60-9F72-3193F28703E4}"/>
              </a:ext>
            </a:extLst>
          </p:cNvPr>
          <p:cNvSpPr>
            <a:spLocks xmlns:a="http://schemas.openxmlformats.org/drawingml/2006/main" noGrp="1"/>
          </p:cNvSpPr>
          <p:nvPr/>
        </p:nvSpPr>
        <p:spPr>
          <a:xfrm xmlns:a="http://schemas.openxmlformats.org/drawingml/2006/main">
            <a:off x="609600" y="13335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Pergunta 2: como o ValorPago varia pelo mês do registro?</a:t>
            </a:r>
          </a:p>
        </p:txBody>
      </p:sp>
      <p:graphicFrame>
        <p:nvGraphicFramePr>
          <p:cNvPr id="13" name="Chart"/>
          <p:cNvGraphicFramePr/>
          <p:nvPr/>
        </p:nvGraphicFramePr>
        <p:xfrm>
          <a:off xmlns:a="http://schemas.openxmlformats.org/drawingml/2006/main" x="609600" y="1952625"/>
          <a:ext xmlns:a="http://schemas.openxmlformats.org/drawingml/2006/main" cx="7372350" cy="3143250"/>
        </p:xfrm>
        <a:graphic xmlns:a="http://schemas.openxmlformats.org/drawingml/2006/main">
          <a:graphicData uri="http://schemas.openxmlformats.org/drawingml/2006/chart">
            <c:chart xmlns:r="http://schemas.openxmlformats.org/officeDocument/2006/relationships" xmlns:c="http://schemas.openxmlformats.org/drawingml/2006/chart" r:id="Raaf3c670b1834ddd"/>
          </a:graphicData>
        </a:graphic>
      </p:graphicFrame>
      <p:sp>
        <p:nvSpPr>
          <p:cNvPr id="5" name="">
            <a:extLst xmlns:a="http://schemas.openxmlformats.org/drawingml/2006/main">
              <a:ext uri="{FF2B5EF4-FFF2-40B4-BE49-F238E27FC236}">
                <a16:creationId xmlns:a16="http://schemas.microsoft.com/office/drawing/2014/main" id="{1A866E17-F494-4572-9480-2B8BEA0DD40D}"/>
              </a:ext>
            </a:extLst>
          </p:cNvPr>
          <p:cNvSpPr>
            <a:spLocks xmlns:a="http://schemas.openxmlformats.org/drawingml/2006/main" noGrp="1"/>
          </p:cNvSpPr>
          <p:nvPr/>
        </p:nvSpPr>
        <p:spPr>
          <a:xfrm xmlns:a="http://schemas.openxmlformats.org/drawingml/2006/main">
            <a:off x="8477250" y="2000250"/>
            <a:ext cx="31146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b="1">
                <a:solidFill>
                  <a:srgbClr val="087E8B"/>
                </a:solidFill>
                <a:latin typeface="Arial"/>
                <a:ea typeface="Arial"/>
                <a:cs typeface="Arial"/>
              </a:defRPr>
            </a:pPr>
            <a:r>
              <a:rPr sz="2325" b="1">
                <a:solidFill>
                  <a:srgbClr val="087E8B"/>
                </a:solidFill>
                <a:latin typeface="Arial"/>
                <a:ea typeface="Arial"/>
                <a:cs typeface="Arial"/>
              </a:rPr>
              <a:t>Dezembro é o maior mês</a:t>
            </a:r>
          </a:p>
        </p:txBody>
      </p:sp>
      <p:sp>
        <p:nvSpPr>
          <p:cNvPr id="6" name="">
            <a:extLst xmlns:a="http://schemas.openxmlformats.org/drawingml/2006/main">
              <a:ext uri="{FF2B5EF4-FFF2-40B4-BE49-F238E27FC236}">
                <a16:creationId xmlns:a16="http://schemas.microsoft.com/office/drawing/2014/main" id="{E983E483-2386-46BE-8CC0-1A2BD7782D7D}"/>
              </a:ext>
            </a:extLst>
          </p:cNvPr>
          <p:cNvSpPr>
            <a:spLocks xmlns:a="http://schemas.openxmlformats.org/drawingml/2006/main" noGrp="1"/>
          </p:cNvSpPr>
          <p:nvPr/>
        </p:nvSpPr>
        <p:spPr>
          <a:xfrm xmlns:a="http://schemas.openxmlformats.org/drawingml/2006/main">
            <a:off x="8477250" y="3124200"/>
            <a:ext cx="311467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Média R$ 861,4 mi</a:t>
            </a:r>
          </a:p>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Mediana R$ 830,4 mi</a:t>
            </a:r>
          </a:p>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DP R$ 308,0 mi</a:t>
            </a:r>
          </a:p>
        </p:txBody>
      </p:sp>
      <p:sp>
        <p:nvSpPr>
          <p:cNvPr id="7" name="">
            <a:extLst xmlns:a="http://schemas.openxmlformats.org/drawingml/2006/main">
              <a:ext uri="{FF2B5EF4-FFF2-40B4-BE49-F238E27FC236}">
                <a16:creationId xmlns:a16="http://schemas.microsoft.com/office/drawing/2014/main" id="{5BEC3D0D-B753-43B5-944A-50487F012013}"/>
              </a:ext>
            </a:extLst>
          </p:cNvPr>
          <p:cNvSpPr>
            <a:spLocks xmlns:a="http://schemas.openxmlformats.org/drawingml/2006/main" noGrp="1"/>
          </p:cNvSpPr>
          <p:nvPr/>
        </p:nvSpPr>
        <p:spPr>
          <a:xfrm xmlns:a="http://schemas.openxmlformats.org/drawingml/2006/main">
            <a:off x="8477250" y="4638675"/>
            <a:ext cx="31146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122D3D"/>
                </a:solidFill>
                <a:latin typeface="Arial"/>
                <a:ea typeface="Arial"/>
                <a:cs typeface="Arial"/>
              </a:defRPr>
            </a:pPr>
            <a:r>
              <a:rPr sz="1950" b="0">
                <a:solidFill>
                  <a:srgbClr val="122D3D"/>
                </a:solidFill>
                <a:latin typeface="Arial"/>
                <a:ea typeface="Arial"/>
                <a:cs typeface="Arial"/>
              </a:rPr>
              <a:t>Produto: filtro mensal e comparação da composição do total.</a:t>
            </a:r>
          </a:p>
        </p:txBody>
      </p:sp>
      <p:sp>
        <p:nvSpPr>
          <p:cNvPr id="8" name="">
            <a:extLst xmlns:a="http://schemas.openxmlformats.org/drawingml/2006/main">
              <a:ext uri="{FF2B5EF4-FFF2-40B4-BE49-F238E27FC236}">
                <a16:creationId xmlns:a16="http://schemas.microsoft.com/office/drawing/2014/main" id="{770D946F-7C51-43D9-AA18-AF04B29723D1}"/>
              </a:ext>
            </a:extLst>
          </p:cNvPr>
          <p:cNvSpPr>
            <a:spLocks xmlns:a="http://schemas.openxmlformats.org/drawingml/2006/main" noGrp="1"/>
          </p:cNvSpPr>
          <p:nvPr/>
        </p:nvSpPr>
        <p:spPr>
          <a:xfrm xmlns:a="http://schemas.openxmlformats.org/drawingml/2006/main">
            <a:off x="609600" y="5457825"/>
            <a:ext cx="1095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9B4D00"/>
                </a:solidFill>
                <a:latin typeface="Arial"/>
                <a:ea typeface="Arial"/>
                <a:cs typeface="Arial"/>
              </a:defRPr>
            </a:pPr>
            <a:r>
              <a:rPr sz="1650" b="0">
                <a:solidFill>
                  <a:srgbClr val="9B4D00"/>
                </a:solidFill>
                <a:latin typeface="Arial"/>
                <a:ea typeface="Arial"/>
                <a:cs typeface="Arial"/>
              </a:rPr>
              <a:t>Amostra interna aleatória: n = 10.000, 31,26% com ValorPago &gt; 0.</a:t>
            </a:r>
          </a:p>
          <a:p xmlns:a="http://schemas.openxmlformats.org/drawingml/2006/main">
            <a:pPr>
              <a:defRPr sz="1650" b="0">
                <a:solidFill>
                  <a:srgbClr val="9B4D00"/>
                </a:solidFill>
                <a:latin typeface="Arial"/>
                <a:ea typeface="Arial"/>
                <a:cs typeface="Arial"/>
              </a:defRPr>
            </a:pPr>
            <a:r>
              <a:rPr sz="1650" b="0">
                <a:solidFill>
                  <a:srgbClr val="9B4D00"/>
                </a:solidFill>
                <a:latin typeface="Arial"/>
                <a:ea typeface="Arial"/>
                <a:cs typeface="Arial"/>
              </a:rPr>
              <a:t>IC 95% Wilson: 30,36% a 32,18%. População-alvo: apenas a base local.</a:t>
            </a:r>
          </a:p>
        </p:txBody>
      </p:sp>
      <p:sp>
        <p:nvSpPr>
          <p:cNvPr id="9" name="">
            <a:extLst xmlns:a="http://schemas.openxmlformats.org/drawingml/2006/main">
              <a:ext uri="{FF2B5EF4-FFF2-40B4-BE49-F238E27FC236}">
                <a16:creationId xmlns:a16="http://schemas.microsoft.com/office/drawing/2014/main" id="{846C6AAC-E58B-4EDE-B872-3D9B80349852}"/>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ValorPago líquido em R$ bilhões. Data do registro. 2024. 505.950 registros datados.</a:t>
            </a:r>
          </a:p>
        </p:txBody>
      </p:sp>
    </p:spTree>
    <p:extLst>
      <p:ext uri="{BB962C8B-B14F-4D97-AF65-F5344CB8AC3E}">
        <p14:creationId xmlns:p14="http://schemas.microsoft.com/office/powerpoint/2010/main" val="119459153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81EAF1A-6985-4451-AB11-C47119CF9130}"/>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POC e demonstração ao vivo</a:t>
            </a:r>
          </a:p>
        </p:txBody>
      </p:sp>
      <p:sp>
        <p:nvSpPr>
          <p:cNvPr id="2" name="">
            <a:extLst xmlns:a="http://schemas.openxmlformats.org/drawingml/2006/main">
              <a:ext uri="{FF2B5EF4-FFF2-40B4-BE49-F238E27FC236}">
                <a16:creationId xmlns:a16="http://schemas.microsoft.com/office/drawing/2014/main" id="{C61FD9A9-760E-402A-8A59-68B786868BA1}"/>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5/8</a:t>
            </a:r>
          </a:p>
        </p:txBody>
      </p:sp>
      <p:graphicFrame>
        <p:nvGraphicFramePr>
          <p:cNvPr id="10" name=""/>
          <p:cNvGraphicFramePr/>
          <p:nvPr/>
        </p:nvGraphicFramePr>
        <p:xfrm>
          <a:off xmlns:a="http://schemas.openxmlformats.org/drawingml/2006/main" x="609600" y="1409700"/>
          <a:ext xmlns:a="http://schemas.openxmlformats.org/drawingml/2006/main" cx="10972800" cy="2571750"/>
        </p:xfrm>
        <a:graphic xmlns:a="http://schemas.openxmlformats.org/drawingml/2006/main">
          <a:graphicData uri="http://schemas.openxmlformats.org/drawingml/2006/table">
            <a:tbl>
              <a:tblPr/>
              <a:tblGrid>
                <a:gridCol w="5143500"/>
                <a:gridCol w="5829300"/>
              </a:tblGrid>
              <a:tr h="514350">
                <a:tc>
                  <a:txBody>
                    <a:bodyPr lIns="114300" tIns="76200" rIns="114300" bIns="76200">
                      <a:noAutofit/>
                    </a:bodyPr>
                    <a:lstStyle/>
                    <a:p>
                      <a:r>
                        <a:rPr sz="1950" b="1">
                          <a:solidFill>
                            <a:srgbClr val="FFFFFF"/>
                          </a:solidFill>
                          <a:latin typeface="Arial"/>
                          <a:ea typeface="Arial"/>
                          <a:cs typeface="Arial"/>
                        </a:rPr>
                        <a:t>Jornada</a:t>
                      </a:r>
                    </a:p>
                  </a:txBody>
                  <a:tcPr marL="91440" marR="91440" marT="45720" marB="45720">
                    <a:solidFill>
                      <a:srgbClr val="122D3D"/>
                    </a:solidFill>
                  </a:tcPr>
                </a:tc>
                <a:tc>
                  <a:txBody>
                    <a:bodyPr lIns="114300" tIns="76200" rIns="114300" bIns="76200">
                      <a:noAutofit/>
                    </a:bodyPr>
                    <a:lstStyle/>
                    <a:p>
                      <a:r>
                        <a:rPr sz="1950" b="1">
                          <a:solidFill>
                            <a:srgbClr val="FFFFFF"/>
                          </a:solidFill>
                          <a:latin typeface="Arial"/>
                          <a:ea typeface="Arial"/>
                          <a:cs typeface="Arial"/>
                        </a:rPr>
                        <a:t>Resultado verificável</a:t>
                      </a:r>
                    </a:p>
                  </a:txBody>
                  <a:tcPr marL="91440" marR="91440" marT="45720" marB="45720">
                    <a:solidFill>
                      <a:srgbClr val="122D3D"/>
                    </a:solidFill>
                  </a:tcPr>
                </a:tc>
              </a:tr>
              <a:tr h="514350">
                <a:tc>
                  <a:txBody>
                    <a:bodyPr lIns="114300" tIns="76200" rIns="114300" bIns="76200">
                      <a:noAutofit/>
                    </a:bodyPr>
                    <a:lstStyle/>
                    <a:p>
                      <a:r>
                        <a:rPr sz="1950" b="0">
                          <a:solidFill>
                            <a:srgbClr val="122D3D"/>
                          </a:solidFill>
                          <a:latin typeface="Arial"/>
                          <a:ea typeface="Arial"/>
                          <a:cs typeface="Arial"/>
                        </a:rPr>
                        <a:t>1. Selecionar unidade e período</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Indicadores e gráficos do recorte</a:t>
                      </a:r>
                    </a:p>
                  </a:txBody>
                  <a:tcPr marL="91440" marR="91440" marT="45720" marB="45720">
                    <a:solidFill>
                      <a:srgbClr val="FFFFFF"/>
                    </a:solidFill>
                  </a:tcPr>
                </a:tc>
              </a:tr>
              <a:tr h="514350">
                <a:tc>
                  <a:txBody>
                    <a:bodyPr lIns="114300" tIns="76200" rIns="114300" bIns="76200">
                      <a:noAutofit/>
                    </a:bodyPr>
                    <a:lstStyle/>
                    <a:p>
                      <a:r>
                        <a:rPr sz="1950" b="0">
                          <a:solidFill>
                            <a:srgbClr val="122D3D"/>
                          </a:solidFill>
                          <a:latin typeface="Arial"/>
                          <a:ea typeface="Arial"/>
                          <a:cs typeface="Arial"/>
                        </a:rPr>
                        <a:t>2. Explorar a composição</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Tabela com valores e registros</a:t>
                      </a:r>
                    </a:p>
                  </a:txBody>
                  <a:tcPr marL="91440" marR="91440" marT="45720" marB="45720">
                    <a:solidFill>
                      <a:srgbClr val="FFFFFF"/>
                    </a:solidFill>
                  </a:tcPr>
                </a:tc>
              </a:tr>
              <a:tr h="514350">
                <a:tc>
                  <a:txBody>
                    <a:bodyPr lIns="114300" tIns="76200" rIns="114300" bIns="76200">
                      <a:noAutofit/>
                    </a:bodyPr>
                    <a:lstStyle/>
                    <a:p>
                      <a:r>
                        <a:rPr sz="1950" b="0">
                          <a:solidFill>
                            <a:srgbClr val="122D3D"/>
                          </a:solidFill>
                          <a:latin typeface="Arial"/>
                          <a:ea typeface="Arial"/>
                          <a:cs typeface="Arial"/>
                        </a:rPr>
                        <a:t>3. Conferir a origem</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Arquivo e linha que geraram o resultado</a:t>
                      </a:r>
                    </a:p>
                  </a:txBody>
                  <a:tcPr marL="91440" marR="91440" marT="45720" marB="45720">
                    <a:solidFill>
                      <a:srgbClr val="FFFFFF"/>
                    </a:solidFill>
                  </a:tcPr>
                </a:tc>
              </a:tr>
              <a:tr h="514350">
                <a:tc>
                  <a:txBody>
                    <a:bodyPr lIns="114300" tIns="76200" rIns="114300" bIns="76200">
                      <a:noAutofit/>
                    </a:bodyPr>
                    <a:lstStyle/>
                    <a:p>
                      <a:r>
                        <a:rPr sz="1950" b="0">
                          <a:solidFill>
                            <a:srgbClr val="122D3D"/>
                          </a:solidFill>
                          <a:latin typeface="Arial"/>
                          <a:ea typeface="Arial"/>
                          <a:cs typeface="Arial"/>
                        </a:rPr>
                        <a:t>4. Testar combinação sem dados</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Mensagem explicativa sem falha</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3190326-E5A4-4A98-A1DA-E07EB5B21DAA}"/>
              </a:ext>
            </a:extLst>
          </p:cNvPr>
          <p:cNvSpPr>
            <a:spLocks xmlns:a="http://schemas.openxmlformats.org/drawingml/2006/main" noGrp="1"/>
          </p:cNvSpPr>
          <p:nvPr/>
        </p:nvSpPr>
        <p:spPr>
          <a:xfrm xmlns:a="http://schemas.openxmlformats.org/drawingml/2006/main">
            <a:off x="609600" y="4371975"/>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1">
                <a:solidFill>
                  <a:srgbClr val="4F6570"/>
                </a:solidFill>
                <a:latin typeface="Arial"/>
                <a:ea typeface="Arial"/>
                <a:cs typeface="Arial"/>
              </a:defRPr>
            </a:pPr>
            <a:r>
              <a:rPr sz="2100" b="1">
                <a:solidFill>
                  <a:srgbClr val="4F6570"/>
                </a:solidFill>
                <a:latin typeface="Arial"/>
                <a:ea typeface="Arial"/>
                <a:cs typeface="Arial"/>
              </a:rPr>
              <a:t>Arquitetura</a:t>
            </a:r>
          </a:p>
        </p:txBody>
      </p:sp>
      <p:sp>
        <p:nvSpPr>
          <p:cNvPr id="5" name="">
            <a:extLst xmlns:a="http://schemas.openxmlformats.org/drawingml/2006/main">
              <a:ext uri="{FF2B5EF4-FFF2-40B4-BE49-F238E27FC236}">
                <a16:creationId xmlns:a16="http://schemas.microsoft.com/office/drawing/2014/main" id="{99248532-C36C-456D-910E-698013D8CAD6}"/>
              </a:ext>
            </a:extLst>
          </p:cNvPr>
          <p:cNvSpPr>
            <a:spLocks xmlns:a="http://schemas.openxmlformats.org/drawingml/2006/main" noGrp="1"/>
          </p:cNvSpPr>
          <p:nvPr/>
        </p:nvSpPr>
        <p:spPr>
          <a:xfrm xmlns:a="http://schemas.openxmlformats.org/drawingml/2006/main">
            <a:off x="609600" y="48577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O importador Python grava CSVs no SQLite.</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Um servidor local atende a interface web.</a:t>
            </a:r>
          </a:p>
        </p:txBody>
      </p:sp>
      <p:sp>
        <p:nvSpPr>
          <p:cNvPr id="6" name="">
            <a:extLst xmlns:a="http://schemas.openxmlformats.org/drawingml/2006/main">
              <a:ext uri="{FF2B5EF4-FFF2-40B4-BE49-F238E27FC236}">
                <a16:creationId xmlns:a16="http://schemas.microsoft.com/office/drawing/2014/main" id="{0E560EE2-06AB-464A-AC0B-5F06F0C8863F}"/>
              </a:ext>
            </a:extLst>
          </p:cNvPr>
          <p:cNvSpPr>
            <a:spLocks xmlns:a="http://schemas.openxmlformats.org/drawingml/2006/main" noGrp="1"/>
          </p:cNvSpPr>
          <p:nvPr/>
        </p:nvSpPr>
        <p:spPr>
          <a:xfrm xmlns:a="http://schemas.openxmlformats.org/drawingml/2006/main">
            <a:off x="609600" y="578167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Python padrão, SQLite e HTML/CSS/JavaScript simplificam a instalação local.</a:t>
            </a:r>
          </a:p>
        </p:txBody>
      </p:sp>
      <p:sp>
        <p:nvSpPr>
          <p:cNvPr id="7" name="">
            <a:extLst xmlns:a="http://schemas.openxmlformats.org/drawingml/2006/main">
              <a:ext uri="{FF2B5EF4-FFF2-40B4-BE49-F238E27FC236}">
                <a16:creationId xmlns:a16="http://schemas.microsoft.com/office/drawing/2014/main" id="{3E16F86B-3956-40B1-B1B3-A021834F566B}"/>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Repositório com código, testes, README e limites. Indicadores sem identificadores pessoais.</a:t>
            </a:r>
          </a:p>
        </p:txBody>
      </p:sp>
    </p:spTree>
    <p:extLst>
      <p:ext uri="{BB962C8B-B14F-4D97-AF65-F5344CB8AC3E}">
        <p14:creationId xmlns:p14="http://schemas.microsoft.com/office/powerpoint/2010/main" val="5370818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8637495-1A4C-424F-BAEA-A85D6C4F49CA}"/>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Equipe proposta e evolução em 16 semanas</a:t>
            </a:r>
          </a:p>
        </p:txBody>
      </p:sp>
      <p:sp>
        <p:nvSpPr>
          <p:cNvPr id="2" name="">
            <a:extLst xmlns:a="http://schemas.openxmlformats.org/drawingml/2006/main">
              <a:ext uri="{FF2B5EF4-FFF2-40B4-BE49-F238E27FC236}">
                <a16:creationId xmlns:a16="http://schemas.microsoft.com/office/drawing/2014/main" id="{767A450A-91A2-40C8-9B3E-758728BF91CF}"/>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6/8</a:t>
            </a:r>
          </a:p>
        </p:txBody>
      </p:sp>
      <p:graphicFrame>
        <p:nvGraphicFramePr>
          <p:cNvPr id="8" name=""/>
          <p:cNvGraphicFramePr/>
          <p:nvPr/>
        </p:nvGraphicFramePr>
        <p:xfrm>
          <a:off xmlns:a="http://schemas.openxmlformats.org/drawingml/2006/main" x="609600" y="1390650"/>
          <a:ext xmlns:a="http://schemas.openxmlformats.org/drawingml/2006/main" cx="10972800" cy="2047875"/>
        </p:xfrm>
        <a:graphic xmlns:a="http://schemas.openxmlformats.org/drawingml/2006/main">
          <a:graphicData uri="http://schemas.openxmlformats.org/drawingml/2006/table">
            <a:tbl>
              <a:tblPr/>
              <a:tblGrid>
                <a:gridCol w="2714625"/>
                <a:gridCol w="4448175"/>
                <a:gridCol w="3810000"/>
              </a:tblGrid>
              <a:tr h="409575">
                <a:tc>
                  <a:txBody>
                    <a:bodyPr lIns="114300" tIns="76200" rIns="114300" bIns="76200">
                      <a:noAutofit/>
                    </a:bodyPr>
                    <a:lstStyle/>
                    <a:p>
                      <a:r>
                        <a:rPr sz="1725" b="1">
                          <a:solidFill>
                            <a:srgbClr val="FFFFFF"/>
                          </a:solidFill>
                          <a:latin typeface="Arial"/>
                          <a:ea typeface="Arial"/>
                          <a:cs typeface="Arial"/>
                        </a:rPr>
                        <a:t>Responsável proposto</a:t>
                      </a:r>
                    </a:p>
                  </a:txBody>
                  <a:tcPr marL="91440" marR="91440" marT="45720" marB="45720">
                    <a:solidFill>
                      <a:srgbClr val="122D3D"/>
                    </a:solidFill>
                  </a:tcPr>
                </a:tc>
                <a:tc>
                  <a:txBody>
                    <a:bodyPr lIns="114300" tIns="76200" rIns="114300" bIns="76200">
                      <a:noAutofit/>
                    </a:bodyPr>
                    <a:lstStyle/>
                    <a:p>
                      <a:r>
                        <a:rPr sz="1725" b="1">
                          <a:solidFill>
                            <a:srgbClr val="FFFFFF"/>
                          </a:solidFill>
                          <a:latin typeface="Arial"/>
                          <a:ea typeface="Arial"/>
                          <a:cs typeface="Arial"/>
                        </a:rPr>
                        <a:t>Função e dedicação</a:t>
                      </a:r>
                    </a:p>
                  </a:txBody>
                  <a:tcPr marL="91440" marR="91440" marT="45720" marB="45720">
                    <a:solidFill>
                      <a:srgbClr val="122D3D"/>
                    </a:solidFill>
                  </a:tcPr>
                </a:tc>
                <a:tc>
                  <a:txBody>
                    <a:bodyPr lIns="114300" tIns="76200" rIns="114300" bIns="76200">
                      <a:noAutofit/>
                    </a:bodyPr>
                    <a:lstStyle/>
                    <a:p>
                      <a:r>
                        <a:rPr sz="1725" b="1">
                          <a:solidFill>
                            <a:srgbClr val="FFFFFF"/>
                          </a:solidFill>
                          <a:latin typeface="Arial"/>
                          <a:ea typeface="Arial"/>
                          <a:cs typeface="Arial"/>
                        </a:rPr>
                        <a:t>Entrega</a:t>
                      </a:r>
                    </a:p>
                  </a:txBody>
                  <a:tcPr marL="91440" marR="91440" marT="45720" marB="45720">
                    <a:solidFill>
                      <a:srgbClr val="122D3D"/>
                    </a:solidFill>
                  </a:tcPr>
                </a:tc>
              </a:tr>
              <a:tr h="409575">
                <a:tc>
                  <a:txBody>
                    <a:bodyPr lIns="114300" tIns="76200" rIns="114300" bIns="76200">
                      <a:noAutofit/>
                    </a:bodyPr>
                    <a:lstStyle/>
                    <a:p>
                      <a:r>
                        <a:rPr sz="1725" b="0">
                          <a:solidFill>
                            <a:srgbClr val="122D3D"/>
                          </a:solidFill>
                          <a:latin typeface="Arial"/>
                          <a:ea typeface="Arial"/>
                          <a:cs typeface="Arial"/>
                        </a:rPr>
                        <a:t>Luigi Mendes Cabrini</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Produto e gestão, 160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Escopo e plano</a:t>
                      </a:r>
                    </a:p>
                  </a:txBody>
                  <a:tcPr marL="91440" marR="91440" marT="45720" marB="45720">
                    <a:solidFill>
                      <a:srgbClr val="FFFFFF"/>
                    </a:solidFill>
                  </a:tcPr>
                </a:tc>
              </a:tr>
              <a:tr h="409575">
                <a:tc>
                  <a:txBody>
                    <a:bodyPr lIns="114300" tIns="76200" rIns="114300" bIns="76200">
                      <a:noAutofit/>
                    </a:bodyPr>
                    <a:lstStyle/>
                    <a:p>
                      <a:r>
                        <a:rPr sz="1725" b="0">
                          <a:solidFill>
                            <a:srgbClr val="122D3D"/>
                          </a:solidFill>
                          <a:latin typeface="Arial"/>
                          <a:ea typeface="Arial"/>
                          <a:cs typeface="Arial"/>
                        </a:rPr>
                        <a:t>Bruno Koeke</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Dados, 240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Importação e análise</a:t>
                      </a:r>
                    </a:p>
                  </a:txBody>
                  <a:tcPr marL="91440" marR="91440" marT="45720" marB="45720">
                    <a:solidFill>
                      <a:srgbClr val="FFFFFF"/>
                    </a:solidFill>
                  </a:tcPr>
                </a:tc>
              </a:tr>
              <a:tr h="409575">
                <a:tc>
                  <a:txBody>
                    <a:bodyPr lIns="114300" tIns="76200" rIns="114300" bIns="76200">
                      <a:noAutofit/>
                    </a:bodyPr>
                    <a:lstStyle/>
                    <a:p>
                      <a:r>
                        <a:rPr sz="1725" b="0">
                          <a:solidFill>
                            <a:srgbClr val="122D3D"/>
                          </a:solidFill>
                          <a:latin typeface="Arial"/>
                          <a:ea typeface="Arial"/>
                          <a:cs typeface="Arial"/>
                        </a:rPr>
                        <a:t>Rogério Cruz Arroyo</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Desenvolvimento, 320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POC e arquitetura</a:t>
                      </a:r>
                    </a:p>
                  </a:txBody>
                  <a:tcPr marL="91440" marR="91440" marT="45720" marB="45720">
                    <a:solidFill>
                      <a:srgbClr val="FFFFFF"/>
                    </a:solidFill>
                  </a:tcPr>
                </a:tc>
              </a:tr>
              <a:tr h="409575">
                <a:tc>
                  <a:txBody>
                    <a:bodyPr lIns="114300" tIns="76200" rIns="114300" bIns="76200">
                      <a:noAutofit/>
                    </a:bodyPr>
                    <a:lstStyle/>
                    <a:p>
                      <a:r>
                        <a:rPr sz="1725" b="0">
                          <a:solidFill>
                            <a:srgbClr val="122D3D"/>
                          </a:solidFill>
                          <a:latin typeface="Arial"/>
                          <a:ea typeface="Arial"/>
                          <a:cs typeface="Arial"/>
                        </a:rPr>
                        <a:t>Anthony Sforzin</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Testes e documentação, 160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Testes e reprodução</a:t>
                      </a:r>
                    </a:p>
                  </a:txBody>
                  <a:tcPr marL="91440" marR="91440" marT="45720" marB="45720">
                    <a:solidFill>
                      <a:srgbClr val="FFFFFF"/>
                    </a:solidFill>
                  </a:tcPr>
                </a:tc>
              </a:tr>
            </a:tbl>
          </a:graphicData>
        </a:graphic>
      </p:graphicFrame>
      <p:graphicFrame>
        <p:nvGraphicFramePr>
          <p:cNvPr id="9" name=""/>
          <p:cNvGraphicFramePr/>
          <p:nvPr/>
        </p:nvGraphicFramePr>
        <p:xfrm>
          <a:off xmlns:a="http://schemas.openxmlformats.org/drawingml/2006/main" x="609600" y="3562350"/>
          <a:ext xmlns:a="http://schemas.openxmlformats.org/drawingml/2006/main" cx="10972800" cy="2524125"/>
        </p:xfrm>
        <a:graphic xmlns:a="http://schemas.openxmlformats.org/drawingml/2006/main">
          <a:graphicData uri="http://schemas.openxmlformats.org/drawingml/2006/table">
            <a:tbl>
              <a:tblPr/>
              <a:tblGrid>
                <a:gridCol w="1524000"/>
                <a:gridCol w="2857500"/>
                <a:gridCol w="6591300"/>
              </a:tblGrid>
              <a:tr h="360589">
                <a:tc>
                  <a:txBody>
                    <a:bodyPr lIns="114300" tIns="76200" rIns="114300" bIns="76200">
                      <a:noAutofit/>
                    </a:bodyPr>
                    <a:lstStyle/>
                    <a:p>
                      <a:r>
                        <a:rPr sz="1650" b="1">
                          <a:solidFill>
                            <a:srgbClr val="FFFFFF"/>
                          </a:solidFill>
                          <a:latin typeface="Arial"/>
                          <a:ea typeface="Arial"/>
                          <a:cs typeface="Arial"/>
                        </a:rPr>
                        <a:t>Semanas</a:t>
                      </a:r>
                    </a:p>
                  </a:txBody>
                  <a:tcPr marL="95250" marR="95250" marT="19050" marB="19050">
                    <a:solidFill>
                      <a:srgbClr val="122D3D"/>
                    </a:solidFill>
                  </a:tcPr>
                </a:tc>
                <a:tc>
                  <a:txBody>
                    <a:bodyPr lIns="114300" tIns="76200" rIns="114300" bIns="76200">
                      <a:noAutofit/>
                    </a:bodyPr>
                    <a:lstStyle/>
                    <a:p>
                      <a:r>
                        <a:rPr sz="1650" b="1">
                          <a:solidFill>
                            <a:srgbClr val="FFFFFF"/>
                          </a:solidFill>
                          <a:latin typeface="Arial"/>
                          <a:ea typeface="Arial"/>
                          <a:cs typeface="Arial"/>
                        </a:rPr>
                        <a:t>Marco</a:t>
                      </a:r>
                    </a:p>
                  </a:txBody>
                  <a:tcPr marL="95250" marR="95250" marT="19050" marB="19050">
                    <a:solidFill>
                      <a:srgbClr val="122D3D"/>
                    </a:solidFill>
                  </a:tcPr>
                </a:tc>
                <a:tc>
                  <a:txBody>
                    <a:bodyPr lIns="114300" tIns="76200" rIns="114300" bIns="76200">
                      <a:noAutofit/>
                    </a:bodyPr>
                    <a:lstStyle/>
                    <a:p>
                      <a:r>
                        <a:rPr sz="1650" b="1">
                          <a:solidFill>
                            <a:srgbClr val="FFFFFF"/>
                          </a:solidFill>
                          <a:latin typeface="Arial"/>
                          <a:ea typeface="Arial"/>
                          <a:cs typeface="Arial"/>
                        </a:rPr>
                        <a:t>Dependência e aceite</a:t>
                      </a:r>
                    </a:p>
                  </a:txBody>
                  <a:tcPr marL="95250" marR="95250" marT="19050" marB="19050">
                    <a:solidFill>
                      <a:srgbClr val="122D3D"/>
                    </a:solidFill>
                  </a:tcPr>
                </a:tc>
              </a:tr>
              <a:tr h="360589">
                <a:tc>
                  <a:txBody>
                    <a:bodyPr lIns="114300" tIns="76200" rIns="114300" bIns="76200">
                      <a:noAutofit/>
                    </a:bodyPr>
                    <a:lstStyle/>
                    <a:p>
                      <a:r>
                        <a:rPr sz="1650" b="0">
                          <a:solidFill>
                            <a:srgbClr val="122D3D"/>
                          </a:solidFill>
                          <a:latin typeface="Arial"/>
                          <a:ea typeface="Arial"/>
                          <a:cs typeface="Arial"/>
                        </a:rPr>
                        <a:t>1–2</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Validação com usuários</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POC atual, perguntas e indicadores aprovados</a:t>
                      </a:r>
                    </a:p>
                  </a:txBody>
                  <a:tcPr marL="95250" marR="95250" marT="19050" marB="1905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3–4</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Auditoria ampliada</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Requisitos revistos, totais conciliados e carga repetível</a:t>
                      </a:r>
                    </a:p>
                  </a:txBody>
                  <a:tcPr marL="95250" marR="95250" marT="19050" marB="1905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5–8</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Usabilidade</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Base pronta, jornada por usuário externo</a:t>
                      </a:r>
                    </a:p>
                  </a:txBody>
                  <a:tcPr marL="95250" marR="95250" marT="19050" marB="1905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9–12</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Comparação com 2025</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2025 comparável, medidas e períodos equivalentes</a:t>
                      </a:r>
                    </a:p>
                  </a:txBody>
                  <a:tcPr marL="95250" marR="95250" marT="19050" marB="1905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13–14</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Validação integrada</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Testes sem falhas e exportação aprovada em ata</a:t>
                      </a:r>
                    </a:p>
                  </a:txBody>
                  <a:tcPr marL="95250" marR="95250" marT="19050" marB="19050">
                    <a:solidFill>
                      <a:srgbClr val="FFFFFF"/>
                    </a:solidFill>
                  </a:tcPr>
                </a:tc>
              </a:tr>
              <a:tr h="360589">
                <a:tc>
                  <a:txBody>
                    <a:bodyPr lIns="114300" tIns="76200" rIns="114300" bIns="76200">
                      <a:noAutofit/>
                    </a:bodyPr>
                    <a:lstStyle/>
                    <a:p>
                      <a:r>
                        <a:rPr sz="1650" b="0">
                          <a:solidFill>
                            <a:srgbClr val="122D3D"/>
                          </a:solidFill>
                          <a:latin typeface="Arial"/>
                          <a:ea typeface="Arial"/>
                          <a:cs typeface="Arial"/>
                        </a:rPr>
                        <a:t>15–16</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Piloto e documentação</a:t>
                      </a:r>
                    </a:p>
                  </a:txBody>
                  <a:tcPr marL="95250" marR="95250" marT="19050" marB="19050">
                    <a:solidFill>
                      <a:srgbClr val="FFFFFF"/>
                    </a:solidFill>
                  </a:tcPr>
                </a:tc>
                <a:tc>
                  <a:txBody>
                    <a:bodyPr lIns="114300" tIns="76200" rIns="114300" bIns="76200">
                      <a:noAutofit/>
                    </a:bodyPr>
                    <a:lstStyle/>
                    <a:p>
                      <a:r>
                        <a:rPr sz="1650" b="0">
                          <a:solidFill>
                            <a:srgbClr val="122D3D"/>
                          </a:solidFill>
                          <a:latin typeface="Arial"/>
                          <a:ea typeface="Arial"/>
                          <a:cs typeface="Arial"/>
                        </a:rPr>
                        <a:t>Ambiente limpo: jornada e total de referência</a:t>
                      </a:r>
                    </a:p>
                  </a:txBody>
                  <a:tcPr marL="95250" marR="95250" marT="19050" marB="190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67F14BD-D936-40D5-BA73-B90925A93139}"/>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Papéis propostos. Evolução da POC pronta. Grupo de 4: exceção ao requisito 5–8 pendente.</a:t>
            </a:r>
          </a:p>
        </p:txBody>
      </p:sp>
    </p:spTree>
    <p:extLst>
      <p:ext uri="{BB962C8B-B14F-4D97-AF65-F5344CB8AC3E}">
        <p14:creationId xmlns:p14="http://schemas.microsoft.com/office/powerpoint/2010/main" val="149797004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FEE35E-E169-48A2-9637-E13452B218D6}"/>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Orçamento fictício e principais riscos</a:t>
            </a:r>
          </a:p>
        </p:txBody>
      </p:sp>
      <p:sp>
        <p:nvSpPr>
          <p:cNvPr id="2" name="">
            <a:extLst xmlns:a="http://schemas.openxmlformats.org/drawingml/2006/main">
              <a:ext uri="{FF2B5EF4-FFF2-40B4-BE49-F238E27FC236}">
                <a16:creationId xmlns:a16="http://schemas.microsoft.com/office/drawing/2014/main" id="{2EEEE176-5B9D-403D-AE63-BC6E3A31FB3F}"/>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7/8</a:t>
            </a:r>
          </a:p>
        </p:txBody>
      </p:sp>
      <p:graphicFrame>
        <p:nvGraphicFramePr>
          <p:cNvPr id="15" name=""/>
          <p:cNvGraphicFramePr/>
          <p:nvPr/>
        </p:nvGraphicFramePr>
        <p:xfrm>
          <a:off xmlns:a="http://schemas.openxmlformats.org/drawingml/2006/main" x="609600" y="1409700"/>
          <a:ext xmlns:a="http://schemas.openxmlformats.org/drawingml/2006/main" cx="6086475" cy="3400425"/>
        </p:xfrm>
        <a:graphic xmlns:a="http://schemas.openxmlformats.org/drawingml/2006/main">
          <a:graphicData uri="http://schemas.openxmlformats.org/drawingml/2006/table">
            <a:tbl>
              <a:tblPr/>
              <a:tblGrid>
                <a:gridCol w="4352925"/>
                <a:gridCol w="1733550"/>
              </a:tblGrid>
              <a:tr h="425053">
                <a:tc>
                  <a:txBody>
                    <a:bodyPr lIns="114300" tIns="76200" rIns="114300" bIns="76200">
                      <a:noAutofit/>
                    </a:bodyPr>
                    <a:lstStyle/>
                    <a:p>
                      <a:r>
                        <a:rPr sz="1650" b="1">
                          <a:solidFill>
                            <a:srgbClr val="FFFFFF"/>
                          </a:solidFill>
                          <a:latin typeface="Arial"/>
                          <a:ea typeface="Arial"/>
                          <a:cs typeface="Arial"/>
                        </a:rPr>
                        <a:t>Cálculo</a:t>
                      </a:r>
                    </a:p>
                  </a:txBody>
                  <a:tcPr marL="91440" marR="91440" marT="45720" marB="45720">
                    <a:solidFill>
                      <a:srgbClr val="122D3D"/>
                    </a:solidFill>
                  </a:tcPr>
                </a:tc>
                <a:tc>
                  <a:txBody>
                    <a:bodyPr lIns="114300" tIns="76200" rIns="114300" bIns="76200">
                      <a:noAutofit/>
                    </a:bodyPr>
                    <a:lstStyle/>
                    <a:p>
                      <a:r>
                        <a:rPr sz="1650" b="1">
                          <a:solidFill>
                            <a:srgbClr val="FFFFFF"/>
                          </a:solidFill>
                          <a:latin typeface="Arial"/>
                          <a:ea typeface="Arial"/>
                          <a:cs typeface="Arial"/>
                        </a:rPr>
                        <a:t>Valor (R$)</a:t>
                      </a:r>
                    </a:p>
                  </a:txBody>
                  <a:tcPr marL="91440" marR="91440" marT="45720" marB="45720">
                    <a:solidFill>
                      <a:srgbClr val="122D3D"/>
                    </a:solidFill>
                  </a:tcPr>
                </a:tc>
              </a:tr>
              <a:tr h="425053">
                <a:tc>
                  <a:txBody>
                    <a:bodyPr lIns="114300" tIns="76200" rIns="114300" bIns="76200">
                      <a:noAutofit/>
                    </a:bodyPr>
                    <a:lstStyle/>
                    <a:p>
                      <a:r>
                        <a:rPr sz="1650" b="0">
                          <a:solidFill>
                            <a:srgbClr val="122D3D"/>
                          </a:solidFill>
                          <a:latin typeface="Arial"/>
                          <a:ea typeface="Arial"/>
                          <a:cs typeface="Arial"/>
                        </a:rPr>
                        <a:t>Produto: 160 h × R$ 70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11200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Dados: 240 h × R$ 80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19200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Desenvolvimento: 320 h × R$ 90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28800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Qualidade: 160 h × R$ 60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9600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Infraestrutura e licenças</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3200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Contingência: 20% de R$ 72.000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14400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Total da POC</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86400</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25017396-3E5A-4613-9882-2D5065C91F44}"/>
              </a:ext>
            </a:extLst>
          </p:cNvPr>
          <p:cNvSpPr>
            <a:spLocks xmlns:a="http://schemas.openxmlformats.org/drawingml/2006/main" noGrp="1"/>
          </p:cNvSpPr>
          <p:nvPr/>
        </p:nvSpPr>
        <p:spPr>
          <a:xfrm xmlns:a="http://schemas.openxmlformats.org/drawingml/2006/main">
            <a:off x="609600" y="5219700"/>
            <a:ext cx="6086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87E8B"/>
                </a:solidFill>
                <a:latin typeface="Arial"/>
                <a:ea typeface="Arial"/>
                <a:cs typeface="Arial"/>
              </a:defRPr>
            </a:pPr>
            <a:r>
              <a:rPr sz="2250" b="1">
                <a:solidFill>
                  <a:srgbClr val="087E8B"/>
                </a:solidFill>
                <a:latin typeface="Arial"/>
                <a:ea typeface="Arial"/>
                <a:cs typeface="Arial"/>
              </a:rPr>
              <a:t>Operação: R$ 1.800/mês</a:t>
            </a:r>
          </a:p>
        </p:txBody>
      </p:sp>
      <p:sp>
        <p:nvSpPr>
          <p:cNvPr id="5" name="">
            <a:extLst xmlns:a="http://schemas.openxmlformats.org/drawingml/2006/main">
              <a:ext uri="{FF2B5EF4-FFF2-40B4-BE49-F238E27FC236}">
                <a16:creationId xmlns:a16="http://schemas.microsoft.com/office/drawing/2014/main" id="{C0D663EA-AAFE-400A-8BFB-616309680A5D}"/>
              </a:ext>
            </a:extLst>
          </p:cNvPr>
          <p:cNvSpPr>
            <a:spLocks xmlns:a="http://schemas.openxmlformats.org/drawingml/2006/main" noGrp="1"/>
          </p:cNvSpPr>
          <p:nvPr/>
        </p:nvSpPr>
        <p:spPr>
          <a:xfrm xmlns:a="http://schemas.openxmlformats.org/drawingml/2006/main">
            <a:off x="609600" y="5695950"/>
            <a:ext cx="609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22D3D"/>
                </a:solidFill>
                <a:latin typeface="Arial"/>
                <a:ea typeface="Arial"/>
                <a:cs typeface="Arial"/>
              </a:defRPr>
            </a:pPr>
            <a:r>
              <a:rPr sz="1725" b="0">
                <a:solidFill>
                  <a:srgbClr val="122D3D"/>
                </a:solidFill>
                <a:latin typeface="Arial"/>
                <a:ea typeface="Arial"/>
                <a:cs typeface="Arial"/>
              </a:rPr>
              <a:t>12 h × R$ 100 + R$ 600 de infraestrutura</a:t>
            </a:r>
          </a:p>
        </p:txBody>
      </p:sp>
      <p:sp>
        <p:nvSpPr>
          <p:cNvPr id="6" name="">
            <a:extLst xmlns:a="http://schemas.openxmlformats.org/drawingml/2006/main">
              <a:ext uri="{FF2B5EF4-FFF2-40B4-BE49-F238E27FC236}">
                <a16:creationId xmlns:a16="http://schemas.microsoft.com/office/drawing/2014/main" id="{BD29E54B-893E-430B-8E79-FA4899239C5D}"/>
              </a:ext>
            </a:extLst>
          </p:cNvPr>
          <p:cNvSpPr>
            <a:spLocks xmlns:a="http://schemas.openxmlformats.org/drawingml/2006/main" noGrp="1"/>
          </p:cNvSpPr>
          <p:nvPr/>
        </p:nvSpPr>
        <p:spPr>
          <a:xfrm xmlns:a="http://schemas.openxmlformats.org/drawingml/2006/main">
            <a:off x="7124700" y="1409700"/>
            <a:ext cx="4476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Dados incompletos</a:t>
            </a:r>
          </a:p>
        </p:txBody>
      </p:sp>
      <p:sp>
        <p:nvSpPr>
          <p:cNvPr id="7" name="">
            <a:extLst xmlns:a="http://schemas.openxmlformats.org/drawingml/2006/main">
              <a:ext uri="{FF2B5EF4-FFF2-40B4-BE49-F238E27FC236}">
                <a16:creationId xmlns:a16="http://schemas.microsoft.com/office/drawing/2014/main" id="{0984251E-3C39-43DD-96B1-12C24163C143}"/>
              </a:ext>
            </a:extLst>
          </p:cNvPr>
          <p:cNvSpPr>
            <a:spLocks xmlns:a="http://schemas.openxmlformats.org/drawingml/2006/main" noGrp="1"/>
          </p:cNvSpPr>
          <p:nvPr/>
        </p:nvSpPr>
        <p:spPr>
          <a:xfrm xmlns:a="http://schemas.openxmlformats.org/drawingml/2006/main">
            <a:off x="7124700" y="1828800"/>
            <a:ext cx="4457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Impacto: comparação enviesada. Dados valida cobertura e publica limites.</a:t>
            </a:r>
          </a:p>
        </p:txBody>
      </p:sp>
      <p:sp>
        <p:nvSpPr>
          <p:cNvPr id="8" name="">
            <a:extLst xmlns:a="http://schemas.openxmlformats.org/drawingml/2006/main">
              <a:ext uri="{FF2B5EF4-FFF2-40B4-BE49-F238E27FC236}">
                <a16:creationId xmlns:a16="http://schemas.microsoft.com/office/drawing/2014/main" id="{4E183D8B-F6B9-425C-8AA2-9BD4D7ACF3F1}"/>
              </a:ext>
            </a:extLst>
          </p:cNvPr>
          <p:cNvSpPr>
            <a:spLocks xmlns:a="http://schemas.openxmlformats.org/drawingml/2006/main" noGrp="1"/>
          </p:cNvSpPr>
          <p:nvPr/>
        </p:nvSpPr>
        <p:spPr>
          <a:xfrm xmlns:a="http://schemas.openxmlformats.org/drawingml/2006/main">
            <a:off x="7124700" y="2838450"/>
            <a:ext cx="4476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Soma e medidas</a:t>
            </a:r>
          </a:p>
        </p:txBody>
      </p:sp>
      <p:sp>
        <p:nvSpPr>
          <p:cNvPr id="9" name="">
            <a:extLst xmlns:a="http://schemas.openxmlformats.org/drawingml/2006/main">
              <a:ext uri="{FF2B5EF4-FFF2-40B4-BE49-F238E27FC236}">
                <a16:creationId xmlns:a16="http://schemas.microsoft.com/office/drawing/2014/main" id="{C90C05F6-057C-40A7-9CBA-F093E0EFE954}"/>
              </a:ext>
            </a:extLst>
          </p:cNvPr>
          <p:cNvSpPr>
            <a:spLocks xmlns:a="http://schemas.openxmlformats.org/drawingml/2006/main" noGrp="1"/>
          </p:cNvSpPr>
          <p:nvPr/>
        </p:nvSpPr>
        <p:spPr>
          <a:xfrm xmlns:a="http://schemas.openxmlformats.org/drawingml/2006/main">
            <a:off x="7124700" y="3257550"/>
            <a:ext cx="4457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Impacto: total incorreto. Testes reconcilia centavos e confere ValorPago.</a:t>
            </a:r>
          </a:p>
        </p:txBody>
      </p:sp>
      <p:sp>
        <p:nvSpPr>
          <p:cNvPr id="10" name="">
            <a:extLst xmlns:a="http://schemas.openxmlformats.org/drawingml/2006/main">
              <a:ext uri="{FF2B5EF4-FFF2-40B4-BE49-F238E27FC236}">
                <a16:creationId xmlns:a16="http://schemas.microsoft.com/office/drawing/2014/main" id="{AA916096-CB8E-48D9-B0EC-9FDEB454859A}"/>
              </a:ext>
            </a:extLst>
          </p:cNvPr>
          <p:cNvSpPr>
            <a:spLocks xmlns:a="http://schemas.openxmlformats.org/drawingml/2006/main" noGrp="1"/>
          </p:cNvSpPr>
          <p:nvPr/>
        </p:nvSpPr>
        <p:spPr>
          <a:xfrm xmlns:a="http://schemas.openxmlformats.org/drawingml/2006/main">
            <a:off x="7124700" y="4267200"/>
            <a:ext cx="4476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Prazo e equipe</a:t>
            </a:r>
          </a:p>
        </p:txBody>
      </p:sp>
      <p:sp>
        <p:nvSpPr>
          <p:cNvPr id="11" name="">
            <a:extLst xmlns:a="http://schemas.openxmlformats.org/drawingml/2006/main">
              <a:ext uri="{FF2B5EF4-FFF2-40B4-BE49-F238E27FC236}">
                <a16:creationId xmlns:a16="http://schemas.microsoft.com/office/drawing/2014/main" id="{3FEDF11A-27A3-4543-AD64-DB6E73C7300D}"/>
              </a:ext>
            </a:extLst>
          </p:cNvPr>
          <p:cNvSpPr>
            <a:spLocks xmlns:a="http://schemas.openxmlformats.org/drawingml/2006/main" noGrp="1"/>
          </p:cNvSpPr>
          <p:nvPr/>
        </p:nvSpPr>
        <p:spPr>
          <a:xfrm xmlns:a="http://schemas.openxmlformats.org/drawingml/2006/main">
            <a:off x="7124700" y="4686300"/>
            <a:ext cx="44577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Impacto: entrega parcial. Produto prioriza a jornada central e registra atrasos.</a:t>
            </a:r>
          </a:p>
        </p:txBody>
      </p:sp>
      <p:sp>
        <p:nvSpPr>
          <p:cNvPr id="12" name="">
            <a:extLst xmlns:a="http://schemas.openxmlformats.org/drawingml/2006/main">
              <a:ext uri="{FF2B5EF4-FFF2-40B4-BE49-F238E27FC236}">
                <a16:creationId xmlns:a16="http://schemas.microsoft.com/office/drawing/2014/main" id="{08AE3951-173A-4C51-B7E2-AA73B7AFF85A}"/>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Estimativas acadêmicas para evolução. Total abaixo do teto fictício de R$ 180.000.</a:t>
            </a:r>
          </a:p>
        </p:txBody>
      </p:sp>
    </p:spTree>
    <p:extLst>
      <p:ext uri="{BB962C8B-B14F-4D97-AF65-F5344CB8AC3E}">
        <p14:creationId xmlns:p14="http://schemas.microsoft.com/office/powerpoint/2010/main" val="6479871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DC9A8C-D39D-41C1-8A37-A4E3D490481A}"/>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Entrega atual e próximos marcos</a:t>
            </a:r>
          </a:p>
        </p:txBody>
      </p:sp>
      <p:sp>
        <p:nvSpPr>
          <p:cNvPr id="2" name="">
            <a:extLst xmlns:a="http://schemas.openxmlformats.org/drawingml/2006/main">
              <a:ext uri="{FF2B5EF4-FFF2-40B4-BE49-F238E27FC236}">
                <a16:creationId xmlns:a16="http://schemas.microsoft.com/office/drawing/2014/main" id="{794AEC6E-0818-4428-AA45-E1F7D0B2D79A}"/>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8/8</a:t>
            </a:r>
          </a:p>
        </p:txBody>
      </p:sp>
      <p:sp>
        <p:nvSpPr>
          <p:cNvPr id="3" name="">
            <a:extLst xmlns:a="http://schemas.openxmlformats.org/drawingml/2006/main">
              <a:ext uri="{FF2B5EF4-FFF2-40B4-BE49-F238E27FC236}">
                <a16:creationId xmlns:a16="http://schemas.microsoft.com/office/drawing/2014/main" id="{429B26A1-69A3-40A3-A70A-838904A3F0BF}"/>
              </a:ext>
            </a:extLst>
          </p:cNvPr>
          <p:cNvSpPr>
            <a:spLocks xmlns:a="http://schemas.openxmlformats.org/drawingml/2006/main" noGrp="1"/>
          </p:cNvSpPr>
          <p:nvPr/>
        </p:nvSpPr>
        <p:spPr>
          <a:xfrm xmlns:a="http://schemas.openxmlformats.org/drawingml/2006/main">
            <a:off x="609600" y="1438275"/>
            <a:ext cx="4905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087E8B"/>
                </a:solidFill>
                <a:latin typeface="Arial"/>
                <a:ea typeface="Arial"/>
                <a:cs typeface="Arial"/>
              </a:defRPr>
            </a:pPr>
            <a:r>
              <a:rPr sz="2400" b="1">
                <a:solidFill>
                  <a:srgbClr val="087E8B"/>
                </a:solidFill>
                <a:latin typeface="Arial"/>
                <a:ea typeface="Arial"/>
                <a:cs typeface="Arial"/>
              </a:rPr>
              <a:t>Funciona agora</a:t>
            </a:r>
          </a:p>
        </p:txBody>
      </p:sp>
      <p:sp>
        <p:nvSpPr>
          <p:cNvPr id="4" name="">
            <a:extLst xmlns:a="http://schemas.openxmlformats.org/drawingml/2006/main">
              <a:ext uri="{FF2B5EF4-FFF2-40B4-BE49-F238E27FC236}">
                <a16:creationId xmlns:a16="http://schemas.microsoft.com/office/drawing/2014/main" id="{A5F39475-6E12-406E-A25B-B73918E077F3}"/>
              </a:ext>
            </a:extLst>
          </p:cNvPr>
          <p:cNvSpPr>
            <a:spLocks xmlns:a="http://schemas.openxmlformats.org/drawingml/2006/main" noGrp="1"/>
          </p:cNvSpPr>
          <p:nvPr/>
        </p:nvSpPr>
        <p:spPr>
          <a:xfrm xmlns:a="http://schemas.openxmlformats.org/drawingml/2006/main">
            <a:off x="609600" y="2085975"/>
            <a:ext cx="5143500" cy="2266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Filtros por unidade e mês</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Ranking e evolução mensal</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Detalhamento dos registros</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Rastreabilidade de origem</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Tratamento de recorte sem dados</a:t>
            </a:r>
          </a:p>
        </p:txBody>
      </p:sp>
      <p:sp>
        <p:nvSpPr>
          <p:cNvPr id="5" name="">
            <a:extLst xmlns:a="http://schemas.openxmlformats.org/drawingml/2006/main">
              <a:ext uri="{FF2B5EF4-FFF2-40B4-BE49-F238E27FC236}">
                <a16:creationId xmlns:a16="http://schemas.microsoft.com/office/drawing/2014/main" id="{BF63997E-AE58-462C-A5FE-EEDB04A46672}"/>
              </a:ext>
            </a:extLst>
          </p:cNvPr>
          <p:cNvSpPr>
            <a:spLocks xmlns:a="http://schemas.openxmlformats.org/drawingml/2006/main" noGrp="1"/>
          </p:cNvSpPr>
          <p:nvPr/>
        </p:nvSpPr>
        <p:spPr>
          <a:xfrm xmlns:a="http://schemas.openxmlformats.org/drawingml/2006/main">
            <a:off x="6572250" y="1438275"/>
            <a:ext cx="5010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4F6570"/>
                </a:solidFill>
                <a:latin typeface="Arial"/>
                <a:ea typeface="Arial"/>
                <a:cs typeface="Arial"/>
              </a:defRPr>
            </a:pPr>
            <a:r>
              <a:rPr sz="2400" b="1">
                <a:solidFill>
                  <a:srgbClr val="4F6570"/>
                </a:solidFill>
                <a:latin typeface="Arial"/>
                <a:ea typeface="Arial"/>
                <a:cs typeface="Arial"/>
              </a:rPr>
              <a:t>Limites e evolução</a:t>
            </a:r>
          </a:p>
        </p:txBody>
      </p:sp>
      <p:sp>
        <p:nvSpPr>
          <p:cNvPr id="6" name="">
            <a:extLst xmlns:a="http://schemas.openxmlformats.org/drawingml/2006/main">
              <a:ext uri="{FF2B5EF4-FFF2-40B4-BE49-F238E27FC236}">
                <a16:creationId xmlns:a16="http://schemas.microsoft.com/office/drawing/2014/main" id="{10DBFBC0-72DB-4D5B-A2CE-E8F6BFE01E3D}"/>
              </a:ext>
            </a:extLst>
          </p:cNvPr>
          <p:cNvSpPr>
            <a:spLocks xmlns:a="http://schemas.openxmlformats.org/drawingml/2006/main" noGrp="1"/>
          </p:cNvSpPr>
          <p:nvPr/>
        </p:nvSpPr>
        <p:spPr>
          <a:xfrm xmlns:a="http://schemas.openxmlformats.org/drawingml/2006/main">
            <a:off x="6572250" y="2085975"/>
            <a:ext cx="5010150"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Conjunto fornecido de 2024</a:t>
            </a:r>
          </a:p>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Cobertura integral não comprovada</a:t>
            </a:r>
          </a:p>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Data do registro, não fluxo de caixa</a:t>
            </a:r>
          </a:p>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IC restrito à amostra interna</a:t>
            </a:r>
          </a:p>
        </p:txBody>
      </p:sp>
      <p:sp>
        <p:nvSpPr>
          <p:cNvPr id="7" name="">
            <a:extLst xmlns:a="http://schemas.openxmlformats.org/drawingml/2006/main">
              <a:ext uri="{FF2B5EF4-FFF2-40B4-BE49-F238E27FC236}">
                <a16:creationId xmlns:a16="http://schemas.microsoft.com/office/drawing/2014/main" id="{0D1B8CD1-7FDA-494B-9E78-052A994BD93A}"/>
              </a:ext>
            </a:extLst>
          </p:cNvPr>
          <p:cNvSpPr>
            <a:spLocks xmlns:a="http://schemas.openxmlformats.org/drawingml/2006/main" noGrp="1"/>
          </p:cNvSpPr>
          <p:nvPr/>
        </p:nvSpPr>
        <p:spPr>
          <a:xfrm xmlns:a="http://schemas.openxmlformats.org/drawingml/2006/main">
            <a:off x="6572250" y="4543425"/>
            <a:ext cx="5000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Próximos marcos: validar com usuários, integrar 2025 e preparar acesso controlado.</a:t>
            </a:r>
          </a:p>
        </p:txBody>
      </p:sp>
      <p:sp>
        <p:nvSpPr>
          <p:cNvPr id="8" name="">
            <a:extLst xmlns:a="http://schemas.openxmlformats.org/drawingml/2006/main">
              <a:ext uri="{FF2B5EF4-FFF2-40B4-BE49-F238E27FC236}">
                <a16:creationId xmlns:a16="http://schemas.microsoft.com/office/drawing/2014/main" id="{E9BE8755-A1B9-4FF2-A214-B75332DACAC4}"/>
              </a:ext>
            </a:extLst>
          </p:cNvPr>
          <p:cNvSpPr>
            <a:spLocks xmlns:a="http://schemas.openxmlformats.org/drawingml/2006/main" noGrp="1"/>
          </p:cNvSpPr>
          <p:nvPr/>
        </p:nvSpPr>
        <p:spPr>
          <a:xfrm xmlns:a="http://schemas.openxmlformats.org/drawingml/2006/main">
            <a:off x="609600" y="5343525"/>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1">
                <a:solidFill>
                  <a:srgbClr val="122D3D"/>
                </a:solidFill>
                <a:latin typeface="Arial"/>
                <a:ea typeface="Arial"/>
                <a:cs typeface="Arial"/>
              </a:defRPr>
            </a:pPr>
            <a:r>
              <a:rPr sz="2175" b="1">
                <a:solidFill>
                  <a:srgbClr val="122D3D"/>
                </a:solidFill>
                <a:latin typeface="Arial"/>
                <a:ea typeface="Arial"/>
                <a:cs typeface="Arial"/>
              </a:rPr>
              <a:t>Entrega: relatório, apresentação</a:t>
            </a:r>
          </a:p>
          <a:p xmlns:a="http://schemas.openxmlformats.org/drawingml/2006/main">
            <a:pPr>
              <a:defRPr sz="2175" b="1">
                <a:solidFill>
                  <a:srgbClr val="122D3D"/>
                </a:solidFill>
                <a:latin typeface="Arial"/>
                <a:ea typeface="Arial"/>
                <a:cs typeface="Arial"/>
              </a:defRPr>
            </a:pPr>
            <a:r>
              <a:rPr sz="2175" b="1">
                <a:solidFill>
                  <a:srgbClr val="122D3D"/>
                </a:solidFill>
                <a:latin typeface="Arial"/>
                <a:ea typeface="Arial"/>
                <a:cs typeface="Arial"/>
              </a:rPr>
              <a:t>e código reproduzível</a:t>
            </a:r>
          </a:p>
        </p:txBody>
      </p:sp>
      <p:sp>
        <p:nvSpPr>
          <p:cNvPr id="9" name="">
            <a:extLst xmlns:a="http://schemas.openxmlformats.org/drawingml/2006/main">
              <a:ext uri="{FF2B5EF4-FFF2-40B4-BE49-F238E27FC236}">
                <a16:creationId xmlns:a16="http://schemas.microsoft.com/office/drawing/2014/main" id="{EF4C0651-4C3B-42E8-A376-8F00314AEA35}"/>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Uso de IA na preparação dos materiais e código, com verificações sobre dados e funcionamento.</a:t>
            </a:r>
          </a:p>
        </p:txBody>
      </p:sp>
    </p:spTree>
    <p:extLst>
      <p:ext uri="{BB962C8B-B14F-4D97-AF65-F5344CB8AC3E}">
        <p14:creationId xmlns:p14="http://schemas.microsoft.com/office/powerpoint/2010/main" val="20095321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2026-10-03T17:40:55.6770000Z</dcterms:created>
  <dcterms:modified xsi:type="dcterms:W3CDTF">2026-10-03T17:40:55.6770000Z</dcterms:modified>
</coreProperties>
</file>