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1.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2.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52f2fabe4fdf45b0" /><Relationship Type="http://schemas.openxmlformats.org/officeDocument/2006/relationships/extended-properties" Target="/docProps/app.xml" Id="R75e4d1625b384ba7" /><Relationship Type="http://schemas.openxmlformats.org/officeDocument/2006/relationships/officeDocument" Target="/ppt/presentation.xml" Id="R938409b675dd4b03" /></Relationships>
</file>

<file path=ppt/presentation.xml><?xml version="1.0" encoding="utf-8"?>
<p:presentation xmlns:p="http://schemas.openxmlformats.org/presentationml/2006/main">
  <p:sldMasterIdLst>
    <p:sldMasterId xmlns:r="http://schemas.openxmlformats.org/officeDocument/2006/relationships" id="2147483648" r:id="R3b93653c460849ad"/>
  </p:sldMasterIdLst>
  <p:notesMasterIdLst>
    <p:notesMasterId xmlns:r="http://schemas.openxmlformats.org/officeDocument/2006/relationships" r:id="Rb553bfacc774428b"/>
  </p:notesMasterIdLst>
  <p:sldIdLst>
    <p:sldId xmlns:r="http://schemas.openxmlformats.org/officeDocument/2006/relationships" id="256" r:id="Rad0296c491254f6e"/>
    <p:sldId xmlns:r="http://schemas.openxmlformats.org/officeDocument/2006/relationships" id="257" r:id="R4c1e4d47d3c443f3"/>
    <p:sldId xmlns:r="http://schemas.openxmlformats.org/officeDocument/2006/relationships" id="258" r:id="R8527cbc088f24b02"/>
    <p:sldId xmlns:r="http://schemas.openxmlformats.org/officeDocument/2006/relationships" id="259" r:id="R220d3a7723a64f2c"/>
    <p:sldId xmlns:r="http://schemas.openxmlformats.org/officeDocument/2006/relationships" id="260" r:id="Re7e4e6101f7a451b"/>
    <p:sldId xmlns:r="http://schemas.openxmlformats.org/officeDocument/2006/relationships" id="261" r:id="Re79ed14d2c5941f5"/>
    <p:sldId xmlns:r="http://schemas.openxmlformats.org/officeDocument/2006/relationships" id="262" r:id="Re0b2cd0563734135"/>
    <p:sldId xmlns:r="http://schemas.openxmlformats.org/officeDocument/2006/relationships" id="263" r:id="R9706f7185ab84d8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654241f8cda434d" /><Relationship Type="http://schemas.openxmlformats.org/officeDocument/2006/relationships/slideMaster" Target="/ppt/slideMasters/slideMaster1.xml" Id="R3b93653c460849ad" /><Relationship Type="http://schemas.openxmlformats.org/officeDocument/2006/relationships/notesMaster" Target="/ppt/notesMasters/notesMaster1.xml" Id="Rb553bfacc774428b" /><Relationship Type="http://schemas.openxmlformats.org/officeDocument/2006/relationships/presProps" Target="/ppt/presProps.xml" Id="R69b6f77c477341e1" /><Relationship Type="http://schemas.openxmlformats.org/officeDocument/2006/relationships/tableStyles" Target="/ppt/tableStyles.xml" Id="R4b4291ee8f784910" /><Relationship Type="http://schemas.openxmlformats.org/officeDocument/2006/relationships/slide" Target="/ppt/slides/slide1.xml" Id="Rad0296c491254f6e" /><Relationship Type="http://schemas.openxmlformats.org/officeDocument/2006/relationships/slide" Target="/ppt/slides/slide2.xml" Id="R4c1e4d47d3c443f3" /><Relationship Type="http://schemas.openxmlformats.org/officeDocument/2006/relationships/slide" Target="/ppt/slides/slide3.xml" Id="R8527cbc088f24b02" /><Relationship Type="http://schemas.openxmlformats.org/officeDocument/2006/relationships/slide" Target="/ppt/slides/slide4.xml" Id="R220d3a7723a64f2c" /><Relationship Type="http://schemas.openxmlformats.org/officeDocument/2006/relationships/slide" Target="/ppt/slides/slide5.xml" Id="Re7e4e6101f7a451b" /><Relationship Type="http://schemas.openxmlformats.org/officeDocument/2006/relationships/slide" Target="/ppt/slides/slide6.xml" Id="Re79ed14d2c5941f5" /><Relationship Type="http://schemas.openxmlformats.org/officeDocument/2006/relationships/slide" Target="/ppt/slides/slide7.xml" Id="Re0b2cd0563734135" /><Relationship Type="http://schemas.openxmlformats.org/officeDocument/2006/relationships/slide" Target="/ppt/slides/slide8.xml" Id="R9706f7185ab84d8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dcfccd75cf54c3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1007264f7dc419e" /><Relationship Type="http://schemas.openxmlformats.org/officeDocument/2006/relationships/notesMaster" Target="/ppt/notesMasters/notesMaster1.xml" Id="Rcd6fc6d705b14ae7" /></Relationships>
</file>

<file path=ppt/notesSlides/_rels/notesSlide2.xml.rels>&#65279;<?xml version="1.0" encoding="utf-8"?><Relationships xmlns="http://schemas.openxmlformats.org/package/2006/relationships"><Relationship Type="http://schemas.openxmlformats.org/officeDocument/2006/relationships/slide" Target="/ppt/slides/slide2.xml" Id="R4385c5a37a2245b4" /><Relationship Type="http://schemas.openxmlformats.org/officeDocument/2006/relationships/notesMaster" Target="/ppt/notesMasters/notesMaster1.xml" Id="R358a30d902474c84" /></Relationships>
</file>

<file path=ppt/notesSlides/_rels/notesSlide3.xml.rels>&#65279;<?xml version="1.0" encoding="utf-8"?><Relationships xmlns="http://schemas.openxmlformats.org/package/2006/relationships"><Relationship Type="http://schemas.openxmlformats.org/officeDocument/2006/relationships/slide" Target="/ppt/slides/slide3.xml" Id="Ra79b7f14b16544b3" /><Relationship Type="http://schemas.openxmlformats.org/officeDocument/2006/relationships/notesMaster" Target="/ppt/notesMasters/notesMaster1.xml" Id="Re5b301b31d7e4d80" /></Relationships>
</file>

<file path=ppt/notesSlides/_rels/notesSlide4.xml.rels>&#65279;<?xml version="1.0" encoding="utf-8"?><Relationships xmlns="http://schemas.openxmlformats.org/package/2006/relationships"><Relationship Type="http://schemas.openxmlformats.org/officeDocument/2006/relationships/slide" Target="/ppt/slides/slide4.xml" Id="Rcfbdda38085a42b2" /><Relationship Type="http://schemas.openxmlformats.org/officeDocument/2006/relationships/notesMaster" Target="/ppt/notesMasters/notesMaster1.xml" Id="Re6b9cf7bc39348e0" /></Relationships>
</file>

<file path=ppt/notesSlides/_rels/notesSlide5.xml.rels>&#65279;<?xml version="1.0" encoding="utf-8"?><Relationships xmlns="http://schemas.openxmlformats.org/package/2006/relationships"><Relationship Type="http://schemas.openxmlformats.org/officeDocument/2006/relationships/slide" Target="/ppt/slides/slide5.xml" Id="Re3423e7e9e4b41a6" /><Relationship Type="http://schemas.openxmlformats.org/officeDocument/2006/relationships/notesMaster" Target="/ppt/notesMasters/notesMaster1.xml" Id="R98cb86acbbde4ef5" /></Relationships>
</file>

<file path=ppt/notesSlides/_rels/notesSlide6.xml.rels>&#65279;<?xml version="1.0" encoding="utf-8"?><Relationships xmlns="http://schemas.openxmlformats.org/package/2006/relationships"><Relationship Type="http://schemas.openxmlformats.org/officeDocument/2006/relationships/slide" Target="/ppt/slides/slide6.xml" Id="R276ed6d457904124" /><Relationship Type="http://schemas.openxmlformats.org/officeDocument/2006/relationships/notesMaster" Target="/ppt/notesMasters/notesMaster1.xml" Id="R74552e98e91e4073" /></Relationships>
</file>

<file path=ppt/notesSlides/_rels/notesSlide7.xml.rels>&#65279;<?xml version="1.0" encoding="utf-8"?><Relationships xmlns="http://schemas.openxmlformats.org/package/2006/relationships"><Relationship Type="http://schemas.openxmlformats.org/officeDocument/2006/relationships/slide" Target="/ppt/slides/slide7.xml" Id="R83a13fea00a94195" /><Relationship Type="http://schemas.openxmlformats.org/officeDocument/2006/relationships/notesMaster" Target="/ppt/notesMasters/notesMaster1.xml" Id="R1eb8e3a3165b427b" /></Relationships>
</file>

<file path=ppt/notesSlides/_rels/notesSlide8.xml.rels>&#65279;<?xml version="1.0" encoding="utf-8"?><Relationships xmlns="http://schemas.openxmlformats.org/package/2006/relationships"><Relationship Type="http://schemas.openxmlformats.org/officeDocument/2006/relationships/slide" Target="/ppt/slides/slide8.xml" Id="Re6ad6c2cd93c44d9" /><Relationship Type="http://schemas.openxmlformats.org/officeDocument/2006/relationships/notesMaster" Target="/ppt/notesMasters/notesMaster1.xml" Id="R06f80a76fb2a4bb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Roteiro sugerido. Integrante 1. Tempo 55 segundos.</a:t>
            </a:r>
          </a:p>
          <a:p xmlns:a="http://schemas.openxmlformats.org/drawingml/2006/main">
            <a:r>
              <a:t>Apresentar a solução e o público. Explicar que a consulta concentra os dados fornecidos pelo professor em um painel. O benefício esperado é obter um total por unidade e período com acesso ao recorte que produziu o número. O CPSI é uma simulação de Contrato Público para Solução Inovadora, sem contratação real.</a:t>
            </a:r>
          </a:p>
          <a:p xmlns:a="http://schemas.openxmlformats.org/drawingml/2006/main">
            <a:r>
              <a:t/>
            </a:r>
          </a:p>
          <a:p xmlns:a="http://schemas.openxmlformats.org/drawingml/2006/main">
            <a:r>
              <a:t>Fontes: Enunciado acadêmico CP2_CPSI_Enunciado_Simplificado_2026 (1).docx, turma 2ESPH-2026</a:t>
            </a:r>
          </a:p>
          <a:p xmlns:a="http://schemas.openxmlformats.org/drawingml/2006/main">
            <a:r>
              <a:t/>
            </a:r>
          </a:p>
          <a:p xmlns:a="http://schemas.openxmlformats.org/drawingml/2006/main">
            <a:r>
              <a:t>Os papéis e as horas são uma proposta de divisão futura. O grupo deve confirmar o trabalho real de cada integrante antes da defesa. O uso de IA na preparação de código e materiais deve ser declarado.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Roteiro sugerido. Integrante 1. Tempo 65 segundos.</a:t>
            </a:r>
          </a:p>
          <a:p xmlns:a="http://schemas.openxmlformats.org/drawingml/2006/main">
            <a:r>
              <a:t>Mostrar como reproduzir a importação. Os arquivos de 2024 somam 505.950 registros analisados. O campo Orgao está vazio em 100% dos quatro CSVs, enquanto UnidadeGestora aparece nos 505.950 registros. Por isso a POC usa unidades gestoras como dimensão de comparação. Explicar a auditoria encontrou zero datas inválidas, zero ValorPago ausentes/inválidos e zero duplicatas exatas. 339.887 registros têm ValorPago zero. 9.886 registros trazem ajustes negativos, cuja soma é R$ -381.794.044,19 e permanece no total líquido. Nenhuma linha foi deduplicada. Diferenciar ValorPago de empenhado, liquidado e restos a pagar. A base publicada no portal oficial é maior que os quatro arquivos locais, portanto a cobertura integral estadual não foi comprovada.</a:t>
            </a:r>
          </a:p>
          <a:p xmlns:a="http://schemas.openxmlformats.org/drawingml/2006/main">
            <a:r>
              <a:t/>
            </a:r>
          </a:p>
          <a:p xmlns:a="http://schemas.openxmlformats.org/drawingml/2006/main">
            <a:r>
              <a:t>Fontes: Portal de Dados Abertos do ES, base de execução orçamentária SIGEFES. https://dados2.es.gov.br/dataset/portal-da-transparencia-despesas-execucao-orcamentaria-e-financeira/resource/b34ae52a-a739-412a-9bab-80f53ba72f4f?inner_span=True</a:t>
            </a:r>
          </a:p>
          <a:p xmlns:a="http://schemas.openxmlformats.org/drawingml/2006/main">
            <a:r>
              <a:t>Dicionário de despesas fornecido em Downloads/dicionario_despesas.pdf</a:t>
            </a:r>
          </a:p>
          <a:p xmlns:a="http://schemas.openxmlformats.org/drawingml/2006/main">
            <a:r>
              <a:t>despesas_es_2024_completo_parte_01.csv, despesas_es_2024_completo_parte_02.csv, despesas_es_2024_completo_parte_03.csv, despesas_es_2024_completo_parte_04.csv</a:t>
            </a:r>
          </a:p>
          <a:p xmlns:a="http://schemas.openxmlformats.org/drawingml/2006/main">
            <a:r>
              <a:t/>
            </a:r>
          </a:p>
          <a:p xmlns:a="http://schemas.openxmlformats.org/drawingml/2006/main">
            <a:r>
              <a:t>Os papéis e as horas são uma proposta de divisão futura. O grupo deve confirmar o trabalho real de cada integrante antes da defesa. O uso de IA na preparação de código e materiais deve ser declarado.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Roteiro sugerido. Integrante 2. Tempo 80 segundos.</a:t>
            </a:r>
          </a:p>
          <a:p xmlns:a="http://schemas.openxmlformats.org/drawingml/2006/main">
            <a:r>
              <a:t>Descrever a pergunta 1. As cinco maiores unidades totalizam 54,86% da soma líquida de ValorPago, R$ 10.337.098.858,62. O conjunto tem 117 unidades gestoras. A primeira é FUNDO ESTADUAL DE SAÚDE, com R$ 1.560.443.755,54 e 69.006 registros. Os valores não incluem ValorRap. O ranking é descritivo. Cada barra agrega ValorPago do conjunto por unidade gestora. Os nomes abreviados no gráfico são: Fundo Estadual de Saúde = 440901 FUNDO ESTADUAL DE SAÚDE; Fundo Financeiro = 600210 FUNDO FINANCEIRO; Educação = 420101 SECRETARIA DE ESTADO DA EDUCAÇÃO; Administração SEFAZ = 800102 ADMINISTRAÇÃO GERAL A CARGO DA SEFAZ; Proteção Social Militar = 600212 FUNDO DE PROTEÇÃO SOCIAL DOS MILITARES. Explicar que concentração é descritiva e não demonstra irregularidade. O achado orientou o ranking e o filtro por unidade na POC.</a:t>
            </a:r>
          </a:p>
          <a:p xmlns:a="http://schemas.openxmlformats.org/drawingml/2006/main">
            <a:r>
              <a:t/>
            </a:r>
          </a:p>
          <a:p xmlns:a="http://schemas.openxmlformats.org/drawingml/2006/main">
            <a:r>
              <a:t>Fontes: Portal de Dados Abertos do ES, base de execução orçamentária SIGEFES. https://dados2.es.gov.br/dataset/portal-da-transparencia-despesas-execucao-orcamentaria-e-financeira/resource/b34ae52a-a739-412a-9bab-80f53ba72f4f?inner_span=True</a:t>
            </a:r>
          </a:p>
          <a:p xmlns:a="http://schemas.openxmlformats.org/drawingml/2006/main">
            <a:r>
              <a:t>despesas_es_2024_completo_parte_01.csv, despesas_es_2024_completo_parte_02.csv, despesas_es_2024_completo_parte_03.csv, despesas_es_2024_completo_parte_04.csv</a:t>
            </a:r>
          </a:p>
          <a:p xmlns:a="http://schemas.openxmlformats.org/drawingml/2006/main">
            <a:r>
              <a:t>Resumo calculado em data/resumo_analise.json, sem combinar medidas monetárias distintas.</a:t>
            </a:r>
          </a:p>
          <a:p xmlns:a="http://schemas.openxmlformats.org/drawingml/2006/main">
            <a:r>
              <a:t/>
            </a:r>
          </a:p>
          <a:p xmlns:a="http://schemas.openxmlformats.org/drawingml/2006/main">
            <a:r>
              <a:t>Os papéis e as horas são uma proposta de divisão futura. O grupo deve confirmar o trabalho real de cada integrante antes da defesa. O uso de IA na preparação de código e materiais deve ser declarado.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Roteiro sugerido. Integrante 2. Tempo 100 segundos.</a:t>
            </a:r>
          </a:p>
          <a:p xmlns:a="http://schemas.openxmlformats.org/drawingml/2006/main">
            <a:r>
              <a:t>Descrever a pergunta 2 e a série mensal. Dezembro soma R$ 1.648.054.158,32, em 55.327 registros. A média dos 12 totais é R$ 861.424.904,89, mediana R$ 830.429.539,28 e desvio padrão amostral R$ 308.017.812,38. Os 12 meses observados são completos dentro dos arquivos locais. Não há evidência suficiente para atribuir causalidade ao aumento. A data representa a data do documento/registro conforme o dicionário, não prova a data de saída efetiva de caixa. O total do conjunto é uma soma observada. Média, mediana e desvio padrão mensal são estatísticas descritivas. Não calcular IC da média mensal porque há possível sazonalidade e dependência entre meses. O complemento didático usa uma amostra aleatória simples interna de registros com semente 2024 e intervalo de Wilson de 95% para a proporção de linhas com ValorPago &gt; 0. A população-alvo é somente o conjunto fornecido e não todo o Estado. O fato de o conjunto de origem possivelmente ser sistemático não permite extrapolação estadual. O sorteio interno é aleatório e reprodutível. A amostra tem n=10000 e k=3126 registros positivos, proporção 31,26%. Wilson resulta em 30,36% a 32,18%. A proporção exata conhecida na base é 30,87%. O intervalo usa aproximação binomial sem correção da população finita, conservadora frente ao sorteio sem reposição. O conjunto tem N=505950 linhas elegíveis e amostra de 1,98%</a:t>
            </a:r>
          </a:p>
          <a:p xmlns:a="http://schemas.openxmlformats.org/drawingml/2006/main">
            <a:r>
              <a:t/>
            </a:r>
          </a:p>
          <a:p xmlns:a="http://schemas.openxmlformats.org/drawingml/2006/main">
            <a:r>
              <a:t>Fontes: Portal de Dados Abertos do ES, base de execução orçamentária SIGEFES. https://dados2.es.gov.br/dataset/portal-da-transparencia-despesas-execucao-orcamentaria-e-financeira/resource/b34ae52a-a739-412a-9bab-80f53ba72f4f?inner_span=True</a:t>
            </a:r>
          </a:p>
          <a:p xmlns:a="http://schemas.openxmlformats.org/drawingml/2006/main">
            <a:r>
              <a:t>Dicionário de despesas fornecido em Downloads/dicionario_despesas.pdf</a:t>
            </a:r>
          </a:p>
          <a:p xmlns:a="http://schemas.openxmlformats.org/drawingml/2006/main">
            <a:r>
              <a:t>NIST, intervalo de Wilson para proporções. https://www.itl.nist.gov/div898/handbook/prc/section2/prc241.htm</a:t>
            </a:r>
          </a:p>
          <a:p xmlns:a="http://schemas.openxmlformats.org/drawingml/2006/main">
            <a:r>
              <a:t>despesas_es_2024_completo_parte_01.csv, despesas_es_2024_completo_parte_02.csv, despesas_es_2024_completo_parte_03.csv, despesas_es_2024_completo_parte_04.csv</a:t>
            </a:r>
          </a:p>
          <a:p xmlns:a="http://schemas.openxmlformats.org/drawingml/2006/main">
            <a:r>
              <a:t/>
            </a:r>
          </a:p>
          <a:p xmlns:a="http://schemas.openxmlformats.org/drawingml/2006/main">
            <a:r>
              <a:t>Os papéis e as horas são uma proposta de divisão futura. O grupo deve confirmar o trabalho real de cada integrante antes da defesa. O uso de IA na preparação de código e materiais deve ser declarado.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Roteiro sugerido. Integrante 3. Tempo 240 segundos.</a:t>
            </a:r>
          </a:p>
          <a:p xmlns:a="http://schemas.openxmlformats.org/drawingml/2006/main">
            <a:r>
              <a:t>Abrir o painel local. Mostrar a base carregada e selecionar uma unidade no ranking. Filtrar um mês e ler os indicadores. Consultar composição e abrir a rastreabilidade de um resultado. Exibir arquivo e linha, sem dados bancários ou pessoais. Selecionar uma combinação sem dados e observar a resposta. Mostrar o roteiro de execução do README e os testes. A tecnologia web local foi escolhida para reduzir dependências da POC, enquanto o SQLite mantém agregações reproduzíveis. Demonstrar apenas recursos implementados e explicar as limitações. Alternativa de contingência: material capturado, mantendo a demonstração ao vivo como principal.</a:t>
            </a:r>
          </a:p>
          <a:p xmlns:a="http://schemas.openxmlformats.org/drawingml/2006/main">
            <a:r>
              <a:t/>
            </a:r>
          </a:p>
          <a:p xmlns:a="http://schemas.openxmlformats.org/drawingml/2006/main">
            <a:r>
              <a:t>Fontes: Enunciado acadêmico CP2_CPSI_Enunciado_Simplificado_2026 (1).docx, turma 2ESPH-2026</a:t>
            </a:r>
          </a:p>
          <a:p xmlns:a="http://schemas.openxmlformats.org/drawingml/2006/main">
            <a:r>
              <a:t>Código da POC em outputs/pagamentos_es_2024, Python biblioteca padrão e SQLite.</a:t>
            </a:r>
          </a:p>
          <a:p xmlns:a="http://schemas.openxmlformats.org/drawingml/2006/main">
            <a:r>
              <a:t/>
            </a:r>
          </a:p>
          <a:p xmlns:a="http://schemas.openxmlformats.org/drawingml/2006/main">
            <a:r>
              <a:t>Os papéis e as horas são uma proposta de divisão futura. O grupo deve confirmar o trabalho real de cada integrante antes da defesa. O uso de IA na preparação de código e materiais deve ser declarado.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Roteiro sugerido. Integrante 4. Tempo 70 segundos.</a:t>
            </a:r>
          </a:p>
          <a:p xmlns:a="http://schemas.openxmlformats.org/drawingml/2006/main">
            <a:r>
              <a:t>Explicar que esta tabela propõe a divisão futura, sem afirmar contribuições já realizadas. Produto aprova o escopo antes do pipeline. Dados entrega esquema e totais conciliados antes da integração. Desenvolvimento entrega a jornada integrada para testes. Qualidade confirma reprodução em ambiente limpo e ausência de falhas bloqueadoras. Se novos dados atrasarem, manter o conjunto validado de 2024 e registrar o recorte. O enunciado exige 5 a 8 estudantes. A composição atual informada tem quatro e precisa de alinhamento com o professor.</a:t>
            </a:r>
          </a:p>
          <a:p xmlns:a="http://schemas.openxmlformats.org/drawingml/2006/main">
            <a:r>
              <a:t/>
            </a:r>
          </a:p>
          <a:p xmlns:a="http://schemas.openxmlformats.org/drawingml/2006/main">
            <a:r>
              <a:t>Fontes: Enunciado acadêmico CP2_CPSI_Enunciado_Simplificado_2026 (1).docx, turma 2ESPH-2026</a:t>
            </a:r>
          </a:p>
          <a:p xmlns:a="http://schemas.openxmlformats.org/drawingml/2006/main">
            <a:r>
              <a:t/>
            </a:r>
          </a:p>
          <a:p xmlns:a="http://schemas.openxmlformats.org/drawingml/2006/main">
            <a:r>
              <a:t>Os papéis e as horas são uma proposta de divisão futura. O grupo deve confirmar o trabalho real de cada integrante antes da defesa. O uso de IA na preparação de código e materiais deve ser declarado.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Roteiro sugerido. Integrante 4. Tempo 60 segundos.</a:t>
            </a:r>
          </a:p>
          <a:p xmlns:a="http://schemas.openxmlformats.org/drawingml/2006/main">
            <a:r>
              <a:t>Explicar a memória de cálculo. Pessoal: 11.200 + 19.200 + 28.800 + 9.600 = 68.800 reais. Somando infraestrutura/licenças de 3.200, a base é 72.000 reais. Contingência de 20% soma 14.400, totalizando 86.400. O custo de operação combina 1.200 de manutenção com 600 de infraestrutura, 1.800 por mês, ou 21.600 por 12 meses. Estes valores estimam uma evolução profissional de até 16 semanas, sem afirmar que o grupo gastou esse montante. Relacionar cada risco ao responsável e à mitigação apresentada.</a:t>
            </a:r>
          </a:p>
          <a:p xmlns:a="http://schemas.openxmlformats.org/drawingml/2006/main">
            <a:r>
              <a:t/>
            </a:r>
          </a:p>
          <a:p xmlns:a="http://schemas.openxmlformats.org/drawingml/2006/main">
            <a:r>
              <a:t>Fontes: Enunciado acadêmico CP2_CPSI_Enunciado_Simplificado_2026 (1).docx, turma 2ESPH-2026</a:t>
            </a:r>
          </a:p>
          <a:p xmlns:a="http://schemas.openxmlformats.org/drawingml/2006/main">
            <a:r>
              <a:t/>
            </a:r>
          </a:p>
          <a:p xmlns:a="http://schemas.openxmlformats.org/drawingml/2006/main">
            <a:r>
              <a:t>Os papéis e as horas são uma proposta de divisão futura. O grupo deve confirmar o trabalho real de cada integrante antes da defesa. O uso de IA na preparação de código e materiais deve ser declarado.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Roteiro sugerido. Integrante 4. Tempo 50 segundos.</a:t>
            </a:r>
          </a:p>
          <a:p xmlns:a="http://schemas.openxmlformats.org/drawingml/2006/main">
            <a:r>
              <a:t>Concluir retomando o valor da jornada demonstrada. Identificar o que funciona e o que pertence ao plano posterior. Explicar que dados incompletos e a semântica de Data limitam as conclusões. Informar que a equipe precisa preencher os links de entrega e conferir o acesso da banca. Preparar respostas sobre as duas perguntas, o indicador, a rastreabilidade, as funções, o cronograma e o orçamento. A soma dos tempos sugeridos é 720 segundos, 12 minutos.</a:t>
            </a:r>
          </a:p>
          <a:p xmlns:a="http://schemas.openxmlformats.org/drawingml/2006/main">
            <a:r>
              <a:t/>
            </a:r>
          </a:p>
          <a:p xmlns:a="http://schemas.openxmlformats.org/drawingml/2006/main">
            <a:r>
              <a:t>Fontes: Enunciado acadêmico CP2_CPSI_Enunciado_Simplificado_2026 (1).docx, turma 2ESPH-2026</a:t>
            </a:r>
          </a:p>
          <a:p xmlns:a="http://schemas.openxmlformats.org/drawingml/2006/main">
            <a:r>
              <a:t>Portal de Dados Abertos do ES, base de execução orçamentária SIGEFES. https://dados2.es.gov.br/dataset/portal-da-transparencia-despesas-execucao-orcamentaria-e-financeira/resource/b34ae52a-a739-412a-9bab-80f53ba72f4f?inner_span=True</a:t>
            </a:r>
          </a:p>
          <a:p xmlns:a="http://schemas.openxmlformats.org/drawingml/2006/main">
            <a:r>
              <a:t>NIST, intervalo de Wilson para proporções. https://www.itl.nist.gov/div898/handbook/prc/section2/prc241.htm</a:t>
            </a:r>
          </a:p>
          <a:p xmlns:a="http://schemas.openxmlformats.org/drawingml/2006/main">
            <a:r>
              <a:t/>
            </a:r>
          </a:p>
          <a:p xmlns:a="http://schemas.openxmlformats.org/drawingml/2006/main">
            <a:r>
              <a:t>Os papéis e as horas são uma proposta de divisão futura. O grupo deve confirmar o trabalho real de cada integrante antes da defesa. O uso de IA na preparação de código e materiais deve ser declarado.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68e540f6de3447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00dd6c916f8419d" /><Relationship Type="http://schemas.openxmlformats.org/officeDocument/2006/relationships/slideLayout" Target="/ppt/slideLayouts/slideLayout1.xml" Id="R8b5a8b428d1a43b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b5a8b428d1a43b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f50b2b2e78240ae" /><Relationship Type="http://schemas.openxmlformats.org/officeDocument/2006/relationships/notesSlide" Target="/ppt/notesSlides/notesSlide1.xml" Id="Rbb1004a9d16445c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12a87dc36b44589" /><Relationship Type="http://schemas.openxmlformats.org/officeDocument/2006/relationships/notesSlide" Target="/ppt/notesSlides/notesSlide2.xml" Id="R091801e407184d3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077d5210fcf4094" /><Relationship Type="http://schemas.openxmlformats.org/officeDocument/2006/relationships/chart" Target="/ppt/slides/charts/chart1.xml" Id="Rbdbc7d8e326a4ec0" /><Relationship Type="http://schemas.openxmlformats.org/officeDocument/2006/relationships/notesSlide" Target="/ppt/notesSlides/notesSlide3.xml" Id="R5dddf8d7567c407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bb4edffafdc4b11" /><Relationship Type="http://schemas.openxmlformats.org/officeDocument/2006/relationships/chart" Target="/ppt/slides/charts/chart2.xml" Id="Rc5e4bc72a8a84170" /><Relationship Type="http://schemas.openxmlformats.org/officeDocument/2006/relationships/notesSlide" Target="/ppt/notesSlides/notesSlide4.xml" Id="Rf6f746e694f0494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c29155142174023" /><Relationship Type="http://schemas.openxmlformats.org/officeDocument/2006/relationships/notesSlide" Target="/ppt/notesSlides/notesSlide5.xml" Id="R33d8eefb7c3d4ef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f1c0929b54b2410b" /><Relationship Type="http://schemas.openxmlformats.org/officeDocument/2006/relationships/notesSlide" Target="/ppt/notesSlides/notesSlide6.xml" Id="Rd1295bdd04374b3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f2dd0692b9f47a3" /><Relationship Type="http://schemas.openxmlformats.org/officeDocument/2006/relationships/notesSlide" Target="/ppt/notesSlides/notesSlide7.xml" Id="R584d3697fc914a6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b373f4539364d8c" /><Relationship Type="http://schemas.openxmlformats.org/officeDocument/2006/relationships/notesSlide" Target="/ppt/notesSlides/notesSlide8.xml" Id="R78783d88d32d4372"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ValorPago em reais</c:v>
          </c:tx>
          <c:spPr>
            <a:solidFill xmlns:a="http://schemas.openxmlformats.org/drawingml/2006/main">
              <a:srgbClr val="087E8B"/>
            </a:solidFill>
          </c:spPr>
          <c:cat>
            <c:strRef>
              <c:f>'Chart Data'!$A$2:$A$6</c:f>
              <c:strCache>
                <c:ptCount val="5"/>
                <c:pt idx="0">
                  <c:v>Proteção Social Militar</c:v>
                </c:pt>
                <c:pt idx="1">
                  <c:v>Administração SEFAZ</c:v>
                </c:pt>
                <c:pt idx="2">
                  <c:v>Educação</c:v>
                </c:pt>
                <c:pt idx="3">
                  <c:v>Fundo Financeiro</c:v>
                </c:pt>
                <c:pt idx="4">
                  <c:v>Fundo Estadual de Saúde</c:v>
                </c:pt>
              </c:strCache>
            </c:strRef>
          </c:cat>
          <c:val>
            <c:numRef>
              <c:f>'Chart Data'!$B$2:$B$6</c:f>
              <c:numCache>
                <c:formatCode>0.00,,,</c:formatCode>
                <c:ptCount val="5"/>
                <c:pt idx="0">
                  <c:v>623324025.8</c:v>
                </c:pt>
                <c:pt idx="1">
                  <c:v>844205114.2</c:v>
                </c:pt>
                <c:pt idx="2">
                  <c:v>1165257763.44</c:v>
                </c:pt>
                <c:pt idx="3">
                  <c:v>1477602046.31</c:v>
                </c:pt>
                <c:pt idx="4">
                  <c:v>1560443755.54</c:v>
                </c:pt>
              </c:numCache>
            </c:numRef>
          </c:val>
        </c:ser>
        <c:dLbls>
          <c:txPr>
            <a:bodyPr xmlns:a="http://schemas.openxmlformats.org/drawingml/2006/main" anchorCtr="1"/>
            <a:lstStyle xmlns:a="http://schemas.openxmlformats.org/drawingml/2006/main"/>
            <a:p xmlns:a="http://schemas.openxmlformats.org/drawingml/2006/main">
              <a:pPr>
                <a:defRPr sz="1650" b="1">
                  <a:solidFill>
                    <a:srgbClr val="122D3D"/>
                  </a:solidFill>
                  <a:latin typeface="Arial"/>
                  <a:ea typeface="Arial"/>
                  <a:cs typeface="Arial"/>
                </a:defRPr>
              </a:pPr>
            </a:p>
          </c:txPr>
          <c:dLblPos val="outEnd"/>
          <c:showLegendKey val="0"/>
          <c:showVal val="1"/>
          <c:showCatName val="0"/>
          <c:showSerName val="0"/>
          <c:showPercent val="0"/>
          <c:showBubbleSize val="0"/>
          <c:showLeaderLines val="0"/>
        </c:dLbls>
        <c:gapWidth val="70"/>
        <c:axId val="48650112"/>
        <c:axId val="48672768"/>
      </c:barChart>
      <c:catAx>
        <c:axId val="48650112"/>
        <c:scaling>
          <c:orientation val="minMax"/>
        </c:scaling>
        <c:delete val="0"/>
        <c:axPos val="l"/>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75">
                <a:solidFill>
                  <a:srgbClr val="122D3D"/>
                </a:solidFill>
                <a:latin typeface="Arial"/>
                <a:ea typeface="Arial"/>
                <a:cs typeface="Arial"/>
              </a:defRPr>
            </a:pPr>
          </a:p>
        </c:txPr>
        <c:crossAx val="48672768"/>
      </c:catAx>
      <c:valAx>
        <c:axId val="48672768"/>
        <c:scaling>
          <c:orientation val="minMax"/>
          <c:min val="0"/>
        </c:scaling>
        <c:delete val="0"/>
        <c:axPos val="b"/>
        <c:majorGridlines>
          <c:spPr>
            <a:ln xmlns:a="http://schemas.openxmlformats.org/drawingml/2006/main" w="9525">
              <a:solidFill>
                <a:srgbClr val="DDE8EB"/>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4F6570"/>
                </a:solidFill>
                <a:latin typeface="Arial"/>
                <a:ea typeface="Arial"/>
                <a:cs typeface="Arial"/>
              </a:defRPr>
            </a:pPr>
          </a:p>
        </c:txPr>
        <c:crossAx val="48650112"/>
        <c:crossBetween val="between"/>
      </c:valAx>
      <c:spPr>
        <a:solidFill xmlns:a="http://schemas.openxmlformats.org/drawingml/2006/main">
          <a:srgbClr val="FFFFFF"/>
        </a:solidFill>
        <a:ln xmlns:a="http://schemas.openxmlformats.org/drawingml/2006/main" w="0">
          <a:noFill/>
        </a:ln>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lineChart>
        <c:grouping val="standard"/>
        <c:varyColors val="0"/>
        <c:ser>
          <c:idx val="0"/>
          <c:order val="0"/>
          <c:tx>
            <c:v>ValorPago em reais</c:v>
          </c:tx>
          <c:spPr>
            <a:ln xmlns:a="http://schemas.openxmlformats.org/drawingml/2006/main" w="38100">
              <a:solidFill>
                <a:srgbClr val="087E8B"/>
              </a:solidFill>
            </a:ln>
          </c:spPr>
          <c:marker>
            <c:symbol val="circle"/>
            <c:size val="6"/>
            <c:spPr>
              <a:solidFill xmlns:a="http://schemas.openxmlformats.org/drawingml/2006/main">
                <a:srgbClr val="087E8B"/>
              </a:solidFill>
            </c:spPr>
          </c:marker>
          <c:cat>
            <c:strRef>
              <c:f>'Chart Data'!$A$2:$A$13</c:f>
              <c:strCache>
                <c:ptCount val="12"/>
                <c:pt idx="0">
                  <c:v>Jan</c:v>
                </c:pt>
                <c:pt idx="1">
                  <c:v>Fev</c:v>
                </c:pt>
                <c:pt idx="2">
                  <c:v>Mar</c:v>
                </c:pt>
                <c:pt idx="3">
                  <c:v>Abr</c:v>
                </c:pt>
                <c:pt idx="4">
                  <c:v>Mai</c:v>
                </c:pt>
                <c:pt idx="5">
                  <c:v>Jun</c:v>
                </c:pt>
                <c:pt idx="6">
                  <c:v>Jul</c:v>
                </c:pt>
                <c:pt idx="7">
                  <c:v>Ago</c:v>
                </c:pt>
                <c:pt idx="8">
                  <c:v>Set</c:v>
                </c:pt>
                <c:pt idx="9">
                  <c:v>Out</c:v>
                </c:pt>
                <c:pt idx="10">
                  <c:v>Nov</c:v>
                </c:pt>
                <c:pt idx="11">
                  <c:v>Dez</c:v>
                </c:pt>
              </c:strCache>
            </c:strRef>
          </c:cat>
          <c:val>
            <c:numRef>
              <c:f>'Chart Data'!$B$2:$B$13</c:f>
              <c:numCache>
                <c:formatCode>0.00,,,</c:formatCode>
                <c:ptCount val="12"/>
                <c:pt idx="0">
                  <c:v>634743988.43</c:v>
                </c:pt>
                <c:pt idx="1">
                  <c:v>562144515.02</c:v>
                </c:pt>
                <c:pt idx="2">
                  <c:v>461747982.32</c:v>
                </c:pt>
                <c:pt idx="3">
                  <c:v>707726095.49</c:v>
                </c:pt>
                <c:pt idx="4">
                  <c:v>903260092.09</c:v>
                </c:pt>
                <c:pt idx="5">
                  <c:v>812296918.61</c:v>
                </c:pt>
                <c:pt idx="6">
                  <c:v>1094517404.33</c:v>
                </c:pt>
                <c:pt idx="7">
                  <c:v>848562159.94</c:v>
                </c:pt>
                <c:pt idx="8">
                  <c:v>745545694.26</c:v>
                </c:pt>
                <c:pt idx="9">
                  <c:v>1027412949.33</c:v>
                </c:pt>
                <c:pt idx="10">
                  <c:v>891086900.48</c:v>
                </c:pt>
                <c:pt idx="11">
                  <c:v>1648054158.32</c:v>
                </c:pt>
              </c:numCache>
            </c:numRef>
          </c: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DE8EB"/>
            </a:solidFill>
          </a:ln>
        </c:spPr>
        <c:txPr>
          <a:bodyPr xmlns:a="http://schemas.openxmlformats.org/drawingml/2006/main" anchorCtr="1"/>
          <a:lstStyle xmlns:a="http://schemas.openxmlformats.org/drawingml/2006/main"/>
          <a:p xmlns:a="http://schemas.openxmlformats.org/drawingml/2006/main">
            <a:pPr>
              <a:defRPr sz="1575">
                <a:solidFill>
                  <a:srgbClr val="122D3D"/>
                </a:solidFill>
                <a:latin typeface="Arial"/>
                <a:ea typeface="Arial"/>
                <a:cs typeface="Arial"/>
              </a:defRPr>
            </a:pPr>
          </a:p>
        </c:txPr>
        <c:crossAx val="48672768"/>
      </c:catAx>
      <c:valAx>
        <c:axId val="48672768"/>
        <c:scaling>
          <c:orientation val="minMax"/>
          <c:min val="0"/>
        </c:scaling>
        <c:delete val="0"/>
        <c:axPos val="l"/>
        <c:majorGridlines>
          <c:spPr>
            <a:ln xmlns:a="http://schemas.openxmlformats.org/drawingml/2006/main" w="9525">
              <a:solidFill>
                <a:srgbClr val="DDE8EB"/>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4F6570"/>
                </a:solidFill>
                <a:latin typeface="Arial"/>
                <a:ea typeface="Arial"/>
                <a:cs typeface="Arial"/>
              </a:defRPr>
            </a:pPr>
          </a:p>
        </c:txPr>
        <c:crossAx val="48650112"/>
        <c:crossBetween val="between"/>
      </c:valAx>
      <c:spPr>
        <a:solidFill xmlns:a="http://schemas.openxmlformats.org/drawingml/2006/main">
          <a:srgbClr val="FFFFFF"/>
        </a:solidFill>
        <a:ln xmlns:a="http://schemas.openxmlformats.org/drawingml/2006/main" w="0">
          <a:noFill/>
        </a:ln>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A3D522E-6E80-48CB-A0D4-EF6C223DB6EA}"/>
              </a:ext>
            </a:extLst>
          </p:cNvPr>
          <p:cNvSpPr>
            <a:spLocks xmlns:a="http://schemas.openxmlformats.org/drawingml/2006/main" noGrp="1"/>
          </p:cNvSpPr>
          <p:nvPr/>
        </p:nvSpPr>
        <p:spPr>
          <a:xfrm xmlns:a="http://schemas.openxmlformats.org/drawingml/2006/main">
            <a:off x="609600" y="38100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00" b="1">
                <a:solidFill>
                  <a:srgbClr val="122D3D"/>
                </a:solidFill>
                <a:latin typeface="Arial"/>
                <a:ea typeface="Arial"/>
                <a:cs typeface="Arial"/>
              </a:defRPr>
            </a:pPr>
            <a:r>
              <a:rPr sz="3300" b="1">
                <a:solidFill>
                  <a:srgbClr val="122D3D"/>
                </a:solidFill>
                <a:latin typeface="Arial"/>
                <a:ea typeface="Arial"/>
                <a:cs typeface="Arial"/>
              </a:rPr>
              <a:t>Pagamentos ES 2024</a:t>
            </a:r>
          </a:p>
        </p:txBody>
      </p:sp>
      <p:sp>
        <p:nvSpPr>
          <p:cNvPr id="2" name="">
            <a:extLst xmlns:a="http://schemas.openxmlformats.org/drawingml/2006/main">
              <a:ext uri="{FF2B5EF4-FFF2-40B4-BE49-F238E27FC236}">
                <a16:creationId xmlns:a16="http://schemas.microsoft.com/office/drawing/2014/main" id="{CAF20473-F463-4686-AA0C-FCCA477DC548}"/>
              </a:ext>
            </a:extLst>
          </p:cNvPr>
          <p:cNvSpPr>
            <a:spLocks xmlns:a="http://schemas.openxmlformats.org/drawingml/2006/main" noGrp="1"/>
          </p:cNvSpPr>
          <p:nvPr/>
        </p:nvSpPr>
        <p:spPr>
          <a:xfrm xmlns:a="http://schemas.openxmlformats.org/drawingml/2006/main">
            <a:off x="10991850" y="6391275"/>
            <a:ext cx="5905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350" b="0">
                <a:solidFill>
                  <a:srgbClr val="4F6570"/>
                </a:solidFill>
                <a:latin typeface="Arial"/>
                <a:ea typeface="Arial"/>
                <a:cs typeface="Arial"/>
              </a:defRPr>
            </a:pPr>
            <a:r>
              <a:rPr sz="1350" b="0">
                <a:solidFill>
                  <a:srgbClr val="4F6570"/>
                </a:solidFill>
                <a:latin typeface="Arial"/>
                <a:ea typeface="Arial"/>
                <a:cs typeface="Arial"/>
              </a:rPr>
              <a:t>1/8</a:t>
            </a:r>
          </a:p>
        </p:txBody>
      </p:sp>
      <p:sp>
        <p:nvSpPr>
          <p:cNvPr id="3" name="">
            <a:extLst xmlns:a="http://schemas.openxmlformats.org/drawingml/2006/main">
              <a:ext uri="{FF2B5EF4-FFF2-40B4-BE49-F238E27FC236}">
                <a16:creationId xmlns:a16="http://schemas.microsoft.com/office/drawing/2014/main" id="{A7D8B36E-E051-4B4D-93CB-DD7F9C34ECDE}"/>
              </a:ext>
            </a:extLst>
          </p:cNvPr>
          <p:cNvSpPr>
            <a:spLocks xmlns:a="http://schemas.openxmlformats.org/drawingml/2006/main" noGrp="1"/>
          </p:cNvSpPr>
          <p:nvPr/>
        </p:nvSpPr>
        <p:spPr>
          <a:xfrm xmlns:a="http://schemas.openxmlformats.org/drawingml/2006/main">
            <a:off x="609600" y="1438275"/>
            <a:ext cx="1047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1">
                <a:solidFill>
                  <a:srgbClr val="087E8B"/>
                </a:solidFill>
                <a:latin typeface="Arial"/>
                <a:ea typeface="Arial"/>
                <a:cs typeface="Arial"/>
              </a:defRPr>
            </a:pPr>
            <a:r>
              <a:rPr sz="2550" b="1">
                <a:solidFill>
                  <a:srgbClr val="087E8B"/>
                </a:solidFill>
                <a:latin typeface="Arial"/>
                <a:ea typeface="Arial"/>
                <a:cs typeface="Arial"/>
              </a:rPr>
              <a:t>Consulta por unidade gestora e período</a:t>
            </a:r>
          </a:p>
        </p:txBody>
      </p:sp>
      <p:sp>
        <p:nvSpPr>
          <p:cNvPr id="4" name="">
            <a:extLst xmlns:a="http://schemas.openxmlformats.org/drawingml/2006/main">
              <a:ext uri="{FF2B5EF4-FFF2-40B4-BE49-F238E27FC236}">
                <a16:creationId xmlns:a16="http://schemas.microsoft.com/office/drawing/2014/main" id="{F4EA1704-C6F3-41DE-AFBE-2FF59486141A}"/>
              </a:ext>
            </a:extLst>
          </p:cNvPr>
          <p:cNvSpPr>
            <a:spLocks xmlns:a="http://schemas.openxmlformats.org/drawingml/2006/main" noGrp="1"/>
          </p:cNvSpPr>
          <p:nvPr/>
        </p:nvSpPr>
        <p:spPr>
          <a:xfrm xmlns:a="http://schemas.openxmlformats.org/drawingml/2006/main">
            <a:off x="609600" y="2495550"/>
            <a:ext cx="266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1">
                <a:solidFill>
                  <a:srgbClr val="4F6570"/>
                </a:solidFill>
                <a:latin typeface="Arial"/>
                <a:ea typeface="Arial"/>
                <a:cs typeface="Arial"/>
              </a:defRPr>
            </a:pPr>
            <a:r>
              <a:rPr sz="1950" b="1">
                <a:solidFill>
                  <a:srgbClr val="4F6570"/>
                </a:solidFill>
                <a:latin typeface="Arial"/>
                <a:ea typeface="Arial"/>
                <a:cs typeface="Arial"/>
              </a:rPr>
              <a:t>Público</a:t>
            </a:r>
          </a:p>
        </p:txBody>
      </p:sp>
      <p:sp>
        <p:nvSpPr>
          <p:cNvPr id="5" name="">
            <a:extLst xmlns:a="http://schemas.openxmlformats.org/drawingml/2006/main">
              <a:ext uri="{FF2B5EF4-FFF2-40B4-BE49-F238E27FC236}">
                <a16:creationId xmlns:a16="http://schemas.microsoft.com/office/drawing/2014/main" id="{8FC35B88-803F-46FC-AB05-955D24B5A61E}"/>
              </a:ext>
            </a:extLst>
          </p:cNvPr>
          <p:cNvSpPr>
            <a:spLocks xmlns:a="http://schemas.openxmlformats.org/drawingml/2006/main" noGrp="1"/>
          </p:cNvSpPr>
          <p:nvPr/>
        </p:nvSpPr>
        <p:spPr>
          <a:xfrm xmlns:a="http://schemas.openxmlformats.org/drawingml/2006/main">
            <a:off x="609600" y="2924175"/>
            <a:ext cx="1033462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400" b="0">
                <a:solidFill>
                  <a:srgbClr val="122D3D"/>
                </a:solidFill>
                <a:latin typeface="Arial"/>
                <a:ea typeface="Arial"/>
                <a:cs typeface="Arial"/>
              </a:defRPr>
            </a:pPr>
            <a:r>
              <a:rPr sz="2400" b="0">
                <a:solidFill>
                  <a:srgbClr val="122D3D"/>
                </a:solidFill>
                <a:latin typeface="Arial"/>
                <a:ea typeface="Arial"/>
                <a:cs typeface="Arial"/>
              </a:rPr>
              <a:t>Gestores públicos e analistas estaduais</a:t>
            </a:r>
          </a:p>
          <a:p xmlns:a="http://schemas.openxmlformats.org/drawingml/2006/main">
            <a:pPr>
              <a:defRPr sz="2400" b="0">
                <a:solidFill>
                  <a:srgbClr val="122D3D"/>
                </a:solidFill>
                <a:latin typeface="Arial"/>
                <a:ea typeface="Arial"/>
                <a:cs typeface="Arial"/>
              </a:defRPr>
            </a:pPr>
            <a:r>
              <a:rPr sz="2400" b="0">
                <a:solidFill>
                  <a:srgbClr val="122D3D"/>
                </a:solidFill>
                <a:latin typeface="Arial"/>
                <a:ea typeface="Arial"/>
                <a:cs typeface="Arial"/>
              </a:rPr>
              <a:t>de controle interno</a:t>
            </a:r>
          </a:p>
        </p:txBody>
      </p:sp>
      <p:sp>
        <p:nvSpPr>
          <p:cNvPr id="6" name="">
            <a:extLst xmlns:a="http://schemas.openxmlformats.org/drawingml/2006/main">
              <a:ext uri="{FF2B5EF4-FFF2-40B4-BE49-F238E27FC236}">
                <a16:creationId xmlns:a16="http://schemas.microsoft.com/office/drawing/2014/main" id="{0695035B-CD0E-4D9E-B7E0-33141E27C758}"/>
              </a:ext>
            </a:extLst>
          </p:cNvPr>
          <p:cNvSpPr>
            <a:spLocks xmlns:a="http://schemas.openxmlformats.org/drawingml/2006/main" noGrp="1"/>
          </p:cNvSpPr>
          <p:nvPr/>
        </p:nvSpPr>
        <p:spPr>
          <a:xfrm xmlns:a="http://schemas.openxmlformats.org/drawingml/2006/main">
            <a:off x="609600" y="4210050"/>
            <a:ext cx="266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1">
                <a:solidFill>
                  <a:srgbClr val="4F6570"/>
                </a:solidFill>
                <a:latin typeface="Arial"/>
                <a:ea typeface="Arial"/>
                <a:cs typeface="Arial"/>
              </a:defRPr>
            </a:pPr>
            <a:r>
              <a:rPr sz="1950" b="1">
                <a:solidFill>
                  <a:srgbClr val="4F6570"/>
                </a:solidFill>
                <a:latin typeface="Arial"/>
                <a:ea typeface="Arial"/>
                <a:cs typeface="Arial"/>
              </a:rPr>
              <a:t>Problema</a:t>
            </a:r>
          </a:p>
        </p:txBody>
      </p:sp>
      <p:sp>
        <p:nvSpPr>
          <p:cNvPr id="7" name="">
            <a:extLst xmlns:a="http://schemas.openxmlformats.org/drawingml/2006/main">
              <a:ext uri="{FF2B5EF4-FFF2-40B4-BE49-F238E27FC236}">
                <a16:creationId xmlns:a16="http://schemas.microsoft.com/office/drawing/2014/main" id="{03F92E32-4B33-44BB-B45A-41A0559B3FA5}"/>
              </a:ext>
            </a:extLst>
          </p:cNvPr>
          <p:cNvSpPr>
            <a:spLocks xmlns:a="http://schemas.openxmlformats.org/drawingml/2006/main" noGrp="1"/>
          </p:cNvSpPr>
          <p:nvPr/>
        </p:nvSpPr>
        <p:spPr>
          <a:xfrm xmlns:a="http://schemas.openxmlformats.org/drawingml/2006/main">
            <a:off x="609600" y="4638675"/>
            <a:ext cx="10572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0">
                <a:solidFill>
                  <a:srgbClr val="122D3D"/>
                </a:solidFill>
                <a:latin typeface="Arial"/>
                <a:ea typeface="Arial"/>
                <a:cs typeface="Arial"/>
              </a:defRPr>
            </a:pPr>
            <a:r>
              <a:rPr sz="2250" b="0">
                <a:solidFill>
                  <a:srgbClr val="122D3D"/>
                </a:solidFill>
                <a:latin typeface="Arial"/>
                <a:ea typeface="Arial"/>
                <a:cs typeface="Arial"/>
              </a:rPr>
              <a:t>Comparar valores pagos exige reunir arquivos</a:t>
            </a:r>
          </a:p>
          <a:p xmlns:a="http://schemas.openxmlformats.org/drawingml/2006/main">
            <a:pPr>
              <a:defRPr sz="2250" b="0">
                <a:solidFill>
                  <a:srgbClr val="122D3D"/>
                </a:solidFill>
                <a:latin typeface="Arial"/>
                <a:ea typeface="Arial"/>
                <a:cs typeface="Arial"/>
              </a:defRPr>
            </a:pPr>
            <a:r>
              <a:rPr sz="2250" b="0">
                <a:solidFill>
                  <a:srgbClr val="122D3D"/>
                </a:solidFill>
                <a:latin typeface="Arial"/>
                <a:ea typeface="Arial"/>
                <a:cs typeface="Arial"/>
              </a:rPr>
              <a:t>e entender o recorte que compõe cada resultado.</a:t>
            </a:r>
          </a:p>
        </p:txBody>
      </p:sp>
      <p:sp>
        <p:nvSpPr>
          <p:cNvPr id="8" name="">
            <a:extLst xmlns:a="http://schemas.openxmlformats.org/drawingml/2006/main">
              <a:ext uri="{FF2B5EF4-FFF2-40B4-BE49-F238E27FC236}">
                <a16:creationId xmlns:a16="http://schemas.microsoft.com/office/drawing/2014/main" id="{856446F0-53BE-4173-A2D4-E6D6676C79F5}"/>
              </a:ext>
            </a:extLst>
          </p:cNvPr>
          <p:cNvSpPr>
            <a:spLocks xmlns:a="http://schemas.openxmlformats.org/drawingml/2006/main" noGrp="1"/>
          </p:cNvSpPr>
          <p:nvPr/>
        </p:nvSpPr>
        <p:spPr>
          <a:xfrm xmlns:a="http://schemas.openxmlformats.org/drawingml/2006/main">
            <a:off x="609600" y="6353175"/>
            <a:ext cx="10144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4F6570"/>
                </a:solidFill>
                <a:latin typeface="Arial"/>
                <a:ea typeface="Arial"/>
                <a:cs typeface="Arial"/>
              </a:defRPr>
            </a:pPr>
            <a:r>
              <a:rPr sz="1275" b="0">
                <a:solidFill>
                  <a:srgbClr val="4F6570"/>
                </a:solidFill>
                <a:latin typeface="Arial"/>
                <a:ea typeface="Arial"/>
                <a:cs typeface="Arial"/>
              </a:rPr>
              <a:t>2ESPH-2026  ·  CPSI acadêmico simulado  ·  Apresentação de 12 minutos</a:t>
            </a:r>
          </a:p>
        </p:txBody>
      </p:sp>
    </p:spTree>
    <p:extLst>
      <p:ext uri="{BB962C8B-B14F-4D97-AF65-F5344CB8AC3E}">
        <p14:creationId xmlns:p14="http://schemas.microsoft.com/office/powerpoint/2010/main" val="39972870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10AFE7F-3071-4BB2-A8BC-45DDC9986C66}"/>
              </a:ext>
            </a:extLst>
          </p:cNvPr>
          <p:cNvSpPr>
            <a:spLocks xmlns:a="http://schemas.openxmlformats.org/drawingml/2006/main" noGrp="1"/>
          </p:cNvSpPr>
          <p:nvPr/>
        </p:nvSpPr>
        <p:spPr>
          <a:xfrm xmlns:a="http://schemas.openxmlformats.org/drawingml/2006/main">
            <a:off x="609600" y="38100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00" b="1">
                <a:solidFill>
                  <a:srgbClr val="122D3D"/>
                </a:solidFill>
                <a:latin typeface="Arial"/>
                <a:ea typeface="Arial"/>
                <a:cs typeface="Arial"/>
              </a:defRPr>
            </a:pPr>
            <a:r>
              <a:rPr sz="3300" b="1">
                <a:solidFill>
                  <a:srgbClr val="122D3D"/>
                </a:solidFill>
                <a:latin typeface="Arial"/>
                <a:ea typeface="Arial"/>
                <a:cs typeface="Arial"/>
              </a:rPr>
              <a:t>Base e preparação dos dados</a:t>
            </a:r>
          </a:p>
        </p:txBody>
      </p:sp>
      <p:sp>
        <p:nvSpPr>
          <p:cNvPr id="2" name="">
            <a:extLst xmlns:a="http://schemas.openxmlformats.org/drawingml/2006/main">
              <a:ext uri="{FF2B5EF4-FFF2-40B4-BE49-F238E27FC236}">
                <a16:creationId xmlns:a16="http://schemas.microsoft.com/office/drawing/2014/main" id="{3FD1CB32-D5D4-4F90-9B66-5A77A80F9CC0}"/>
              </a:ext>
            </a:extLst>
          </p:cNvPr>
          <p:cNvSpPr>
            <a:spLocks xmlns:a="http://schemas.openxmlformats.org/drawingml/2006/main" noGrp="1"/>
          </p:cNvSpPr>
          <p:nvPr/>
        </p:nvSpPr>
        <p:spPr>
          <a:xfrm xmlns:a="http://schemas.openxmlformats.org/drawingml/2006/main">
            <a:off x="10991850" y="6391275"/>
            <a:ext cx="5905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350" b="0">
                <a:solidFill>
                  <a:srgbClr val="4F6570"/>
                </a:solidFill>
                <a:latin typeface="Arial"/>
                <a:ea typeface="Arial"/>
                <a:cs typeface="Arial"/>
              </a:defRPr>
            </a:pPr>
            <a:r>
              <a:rPr sz="1350" b="0">
                <a:solidFill>
                  <a:srgbClr val="4F6570"/>
                </a:solidFill>
                <a:latin typeface="Arial"/>
                <a:ea typeface="Arial"/>
                <a:cs typeface="Arial"/>
              </a:rPr>
              <a:t>2/8</a:t>
            </a:r>
          </a:p>
        </p:txBody>
      </p:sp>
      <p:sp>
        <p:nvSpPr>
          <p:cNvPr id="3" name="">
            <a:extLst xmlns:a="http://schemas.openxmlformats.org/drawingml/2006/main">
              <a:ext uri="{FF2B5EF4-FFF2-40B4-BE49-F238E27FC236}">
                <a16:creationId xmlns:a16="http://schemas.microsoft.com/office/drawing/2014/main" id="{AD4920D7-87BC-41CD-8FAE-2AC07CFF47B3}"/>
              </a:ext>
            </a:extLst>
          </p:cNvPr>
          <p:cNvSpPr>
            <a:spLocks xmlns:a="http://schemas.openxmlformats.org/drawingml/2006/main" noGrp="1"/>
          </p:cNvSpPr>
          <p:nvPr/>
        </p:nvSpPr>
        <p:spPr>
          <a:xfrm xmlns:a="http://schemas.openxmlformats.org/drawingml/2006/main">
            <a:off x="609600" y="1381125"/>
            <a:ext cx="5238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1">
                <a:solidFill>
                  <a:srgbClr val="087E8B"/>
                </a:solidFill>
                <a:latin typeface="Arial"/>
                <a:ea typeface="Arial"/>
                <a:cs typeface="Arial"/>
              </a:defRPr>
            </a:pPr>
            <a:r>
              <a:rPr sz="3375" b="1">
                <a:solidFill>
                  <a:srgbClr val="087E8B"/>
                </a:solidFill>
                <a:latin typeface="Arial"/>
                <a:ea typeface="Arial"/>
                <a:cs typeface="Arial"/>
              </a:rPr>
              <a:t>505.950</a:t>
            </a:r>
          </a:p>
        </p:txBody>
      </p:sp>
      <p:sp>
        <p:nvSpPr>
          <p:cNvPr id="4" name="">
            <a:extLst xmlns:a="http://schemas.openxmlformats.org/drawingml/2006/main">
              <a:ext uri="{FF2B5EF4-FFF2-40B4-BE49-F238E27FC236}">
                <a16:creationId xmlns:a16="http://schemas.microsoft.com/office/drawing/2014/main" id="{AC1B5900-B3BB-40CB-BAC8-D4E590A8BC73}"/>
              </a:ext>
            </a:extLst>
          </p:cNvPr>
          <p:cNvSpPr>
            <a:spLocks xmlns:a="http://schemas.openxmlformats.org/drawingml/2006/main" noGrp="1"/>
          </p:cNvSpPr>
          <p:nvPr/>
        </p:nvSpPr>
        <p:spPr>
          <a:xfrm xmlns:a="http://schemas.openxmlformats.org/drawingml/2006/main">
            <a:off x="609600" y="202882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0">
                <a:solidFill>
                  <a:srgbClr val="4F6570"/>
                </a:solidFill>
                <a:latin typeface="Arial"/>
                <a:ea typeface="Arial"/>
                <a:cs typeface="Arial"/>
              </a:defRPr>
            </a:pPr>
            <a:r>
              <a:rPr sz="1950" b="0">
                <a:solidFill>
                  <a:srgbClr val="4F6570"/>
                </a:solidFill>
                <a:latin typeface="Arial"/>
                <a:ea typeface="Arial"/>
                <a:cs typeface="Arial"/>
              </a:rPr>
              <a:t>registros analisados</a:t>
            </a:r>
          </a:p>
        </p:txBody>
      </p:sp>
      <p:sp>
        <p:nvSpPr>
          <p:cNvPr id="5" name="">
            <a:extLst xmlns:a="http://schemas.openxmlformats.org/drawingml/2006/main">
              <a:ext uri="{FF2B5EF4-FFF2-40B4-BE49-F238E27FC236}">
                <a16:creationId xmlns:a16="http://schemas.microsoft.com/office/drawing/2014/main" id="{0B21AFEE-15BE-4536-9EF2-6BFC5A5963A3}"/>
              </a:ext>
            </a:extLst>
          </p:cNvPr>
          <p:cNvSpPr>
            <a:spLocks xmlns:a="http://schemas.openxmlformats.org/drawingml/2006/main" noGrp="1"/>
          </p:cNvSpPr>
          <p:nvPr/>
        </p:nvSpPr>
        <p:spPr>
          <a:xfrm xmlns:a="http://schemas.openxmlformats.org/drawingml/2006/main">
            <a:off x="6191250" y="1438275"/>
            <a:ext cx="5381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0">
                <a:solidFill>
                  <a:srgbClr val="122D3D"/>
                </a:solidFill>
                <a:latin typeface="Arial"/>
                <a:ea typeface="Arial"/>
                <a:cs typeface="Arial"/>
              </a:defRPr>
            </a:pPr>
            <a:r>
              <a:rPr sz="2250" b="0">
                <a:solidFill>
                  <a:srgbClr val="122D3D"/>
                </a:solidFill>
                <a:latin typeface="Arial"/>
                <a:ea typeface="Arial"/>
                <a:cs typeface="Arial"/>
              </a:rPr>
              <a:t>4 partes de 2024 fornecidas pelo professor</a:t>
            </a:r>
          </a:p>
        </p:txBody>
      </p:sp>
      <p:graphicFrame>
        <p:nvGraphicFramePr>
          <p:cNvPr id="14" name=""/>
          <p:cNvGraphicFramePr/>
          <p:nvPr/>
        </p:nvGraphicFramePr>
        <p:xfrm>
          <a:off xmlns:a="http://schemas.openxmlformats.org/drawingml/2006/main" x="609600" y="2695575"/>
          <a:ext xmlns:a="http://schemas.openxmlformats.org/drawingml/2006/main" cx="10972800" cy="2714625"/>
        </p:xfrm>
        <a:graphic xmlns:a="http://schemas.openxmlformats.org/drawingml/2006/main">
          <a:graphicData uri="http://schemas.openxmlformats.org/drawingml/2006/table">
            <a:tbl>
              <a:tblPr/>
              <a:tblGrid>
                <a:gridCol w="2381250"/>
                <a:gridCol w="8591550"/>
              </a:tblGrid>
              <a:tr h="452438">
                <a:tc>
                  <a:txBody>
                    <a:bodyPr lIns="114300" tIns="76200" rIns="114300" bIns="76200">
                      <a:noAutofit/>
                    </a:bodyPr>
                    <a:lstStyle/>
                    <a:p>
                      <a:r>
                        <a:rPr sz="1725" b="1">
                          <a:solidFill>
                            <a:srgbClr val="FFFFFF"/>
                          </a:solidFill>
                          <a:latin typeface="Arial"/>
                          <a:ea typeface="Arial"/>
                          <a:cs typeface="Arial"/>
                        </a:rPr>
                        <a:t>Etapa</a:t>
                      </a:r>
                    </a:p>
                  </a:txBody>
                  <a:tcPr marL="91440" marR="91440" marT="45720" marB="45720">
                    <a:solidFill>
                      <a:srgbClr val="122D3D"/>
                    </a:solidFill>
                  </a:tcPr>
                </a:tc>
                <a:tc>
                  <a:txBody>
                    <a:bodyPr lIns="114300" tIns="76200" rIns="114300" bIns="76200">
                      <a:noAutofit/>
                    </a:bodyPr>
                    <a:lstStyle/>
                    <a:p>
                      <a:r>
                        <a:rPr sz="1725" b="1">
                          <a:solidFill>
                            <a:srgbClr val="FFFFFF"/>
                          </a:solidFill>
                          <a:latin typeface="Arial"/>
                          <a:ea typeface="Arial"/>
                          <a:cs typeface="Arial"/>
                        </a:rPr>
                        <a:t>Decisão de tratamento</a:t>
                      </a:r>
                    </a:p>
                  </a:txBody>
                  <a:tcPr marL="91440" marR="91440" marT="45720" marB="45720">
                    <a:solidFill>
                      <a:srgbClr val="122D3D"/>
                    </a:solidFill>
                  </a:tcPr>
                </a:tc>
              </a:tr>
              <a:tr h="452438">
                <a:tc>
                  <a:txBody>
                    <a:bodyPr lIns="114300" tIns="76200" rIns="114300" bIns="76200">
                      <a:noAutofit/>
                    </a:bodyPr>
                    <a:lstStyle/>
                    <a:p>
                      <a:r>
                        <a:rPr sz="1725" b="0">
                          <a:solidFill>
                            <a:srgbClr val="122D3D"/>
                          </a:solidFill>
                          <a:latin typeface="Arial"/>
                          <a:ea typeface="Arial"/>
                          <a:cs typeface="Arial"/>
                        </a:rPr>
                        <a:t>Importação</a:t>
                      </a:r>
                    </a:p>
                  </a:txBody>
                  <a:tcPr marL="91440" marR="91440" marT="45720" marB="45720">
                    <a:solidFill>
                      <a:srgbClr val="FFFFFF"/>
                    </a:solidFill>
                  </a:tcPr>
                </a:tc>
                <a:tc>
                  <a:txBody>
                    <a:bodyPr lIns="114300" tIns="76200" rIns="114300" bIns="76200">
                      <a:noAutofit/>
                    </a:bodyPr>
                    <a:lstStyle/>
                    <a:p>
                      <a:r>
                        <a:rPr sz="1725" b="0">
                          <a:solidFill>
                            <a:srgbClr val="122D3D"/>
                          </a:solidFill>
                          <a:latin typeface="Arial"/>
                          <a:ea typeface="Arial"/>
                          <a:cs typeface="Arial"/>
                        </a:rPr>
                        <a:t>CSV com ;, UTF-8 BOM e vírgula decimal</a:t>
                      </a:r>
                    </a:p>
                  </a:txBody>
                  <a:tcPr marL="91440" marR="91440" marT="45720" marB="45720">
                    <a:solidFill>
                      <a:srgbClr val="FFFFFF"/>
                    </a:solidFill>
                  </a:tcPr>
                </a:tc>
              </a:tr>
              <a:tr h="452438">
                <a:tc>
                  <a:txBody>
                    <a:bodyPr lIns="114300" tIns="76200" rIns="114300" bIns="76200">
                      <a:noAutofit/>
                    </a:bodyPr>
                    <a:lstStyle/>
                    <a:p>
                      <a:r>
                        <a:rPr sz="1725" b="0">
                          <a:solidFill>
                            <a:srgbClr val="122D3D"/>
                          </a:solidFill>
                          <a:latin typeface="Arial"/>
                          <a:ea typeface="Arial"/>
                          <a:cs typeface="Arial"/>
                        </a:rPr>
                        <a:t>Recorte</a:t>
                      </a:r>
                    </a:p>
                  </a:txBody>
                  <a:tcPr marL="91440" marR="91440" marT="45720" marB="45720">
                    <a:solidFill>
                      <a:srgbClr val="FFFFFF"/>
                    </a:solidFill>
                  </a:tcPr>
                </a:tc>
                <a:tc>
                  <a:txBody>
                    <a:bodyPr lIns="114300" tIns="76200" rIns="114300" bIns="76200">
                      <a:noAutofit/>
                    </a:bodyPr>
                    <a:lstStyle/>
                    <a:p>
                      <a:r>
                        <a:rPr sz="1725" b="0">
                          <a:solidFill>
                            <a:srgbClr val="122D3D"/>
                          </a:solidFill>
                          <a:latin typeface="Arial"/>
                          <a:ea typeface="Arial"/>
                          <a:cs typeface="Arial"/>
                        </a:rPr>
                        <a:t>Orgao vazio em 100%. UnidadeGestora preenchida.</a:t>
                      </a:r>
                    </a:p>
                  </a:txBody>
                  <a:tcPr marL="91440" marR="91440" marT="45720" marB="45720">
                    <a:solidFill>
                      <a:srgbClr val="FFFFFF"/>
                    </a:solidFill>
                  </a:tcPr>
                </a:tc>
              </a:tr>
              <a:tr h="452438">
                <a:tc>
                  <a:txBody>
                    <a:bodyPr lIns="114300" tIns="76200" rIns="114300" bIns="76200">
                      <a:noAutofit/>
                    </a:bodyPr>
                    <a:lstStyle/>
                    <a:p>
                      <a:r>
                        <a:rPr sz="1725" b="0">
                          <a:solidFill>
                            <a:srgbClr val="122D3D"/>
                          </a:solidFill>
                          <a:latin typeface="Arial"/>
                          <a:ea typeface="Arial"/>
                          <a:cs typeface="Arial"/>
                        </a:rPr>
                        <a:t>Indicador</a:t>
                      </a:r>
                    </a:p>
                  </a:txBody>
                  <a:tcPr marL="91440" marR="91440" marT="45720" marB="45720">
                    <a:solidFill>
                      <a:srgbClr val="FFFFFF"/>
                    </a:solidFill>
                  </a:tcPr>
                </a:tc>
                <a:tc>
                  <a:txBody>
                    <a:bodyPr lIns="114300" tIns="76200" rIns="114300" bIns="76200">
                      <a:noAutofit/>
                    </a:bodyPr>
                    <a:lstStyle/>
                    <a:p>
                      <a:r>
                        <a:rPr sz="1725" b="0">
                          <a:solidFill>
                            <a:srgbClr val="122D3D"/>
                          </a:solidFill>
                          <a:latin typeface="Arial"/>
                          <a:ea typeface="Arial"/>
                          <a:cs typeface="Arial"/>
                        </a:rPr>
                        <a:t>Somar apenas ValorPago, em reais</a:t>
                      </a:r>
                    </a:p>
                  </a:txBody>
                  <a:tcPr marL="91440" marR="91440" marT="45720" marB="45720">
                    <a:solidFill>
                      <a:srgbClr val="FFFFFF"/>
                    </a:solidFill>
                  </a:tcPr>
                </a:tc>
              </a:tr>
              <a:tr h="452438">
                <a:tc>
                  <a:txBody>
                    <a:bodyPr lIns="114300" tIns="76200" rIns="114300" bIns="76200">
                      <a:noAutofit/>
                    </a:bodyPr>
                    <a:lstStyle/>
                    <a:p>
                      <a:r>
                        <a:rPr sz="1725" b="0">
                          <a:solidFill>
                            <a:srgbClr val="122D3D"/>
                          </a:solidFill>
                          <a:latin typeface="Arial"/>
                          <a:ea typeface="Arial"/>
                          <a:cs typeface="Arial"/>
                        </a:rPr>
                        <a:t>Auditoria</a:t>
                      </a:r>
                    </a:p>
                  </a:txBody>
                  <a:tcPr marL="91440" marR="91440" marT="45720" marB="45720">
                    <a:solidFill>
                      <a:srgbClr val="FFFFFF"/>
                    </a:solidFill>
                  </a:tcPr>
                </a:tc>
                <a:tc>
                  <a:txBody>
                    <a:bodyPr lIns="114300" tIns="76200" rIns="114300" bIns="76200">
                      <a:noAutofit/>
                    </a:bodyPr>
                    <a:lstStyle/>
                    <a:p>
                      <a:r>
                        <a:rPr sz="1725" b="0">
                          <a:solidFill>
                            <a:srgbClr val="122D3D"/>
                          </a:solidFill>
                          <a:latin typeface="Arial"/>
                          <a:ea typeface="Arial"/>
                          <a:cs typeface="Arial"/>
                        </a:rPr>
                        <a:t>0 inválidos, 0 duplicatas. 9.886 ajustes negativos mantidos.</a:t>
                      </a:r>
                    </a:p>
                  </a:txBody>
                  <a:tcPr marL="91440" marR="91440" marT="45720" marB="45720">
                    <a:solidFill>
                      <a:srgbClr val="FFFFFF"/>
                    </a:solidFill>
                  </a:tcPr>
                </a:tc>
              </a:tr>
              <a:tr h="452438">
                <a:tc>
                  <a:txBody>
                    <a:bodyPr lIns="114300" tIns="76200" rIns="114300" bIns="76200">
                      <a:noAutofit/>
                    </a:bodyPr>
                    <a:lstStyle/>
                    <a:p>
                      <a:r>
                        <a:rPr sz="1725" b="0">
                          <a:solidFill>
                            <a:srgbClr val="122D3D"/>
                          </a:solidFill>
                          <a:latin typeface="Arial"/>
                          <a:ea typeface="Arial"/>
                          <a:cs typeface="Arial"/>
                        </a:rPr>
                        <a:t>Rastreabilidade</a:t>
                      </a:r>
                    </a:p>
                  </a:txBody>
                  <a:tcPr marL="91440" marR="91440" marT="45720" marB="45720">
                    <a:solidFill>
                      <a:srgbClr val="FFFFFF"/>
                    </a:solidFill>
                  </a:tcPr>
                </a:tc>
                <a:tc>
                  <a:txBody>
                    <a:bodyPr lIns="114300" tIns="76200" rIns="114300" bIns="76200">
                      <a:noAutofit/>
                    </a:bodyPr>
                    <a:lstStyle/>
                    <a:p>
                      <a:r>
                        <a:rPr sz="1725" b="0">
                          <a:solidFill>
                            <a:srgbClr val="122D3D"/>
                          </a:solidFill>
                          <a:latin typeface="Arial"/>
                          <a:ea typeface="Arial"/>
                          <a:cs typeface="Arial"/>
                        </a:rPr>
                        <a:t>Arquivo de origem e linha do CSV</a:t>
                      </a:r>
                    </a:p>
                  </a:txBody>
                  <a:tcPr marL="91440" marR="91440" marT="45720" marB="45720">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BE167533-955B-4F88-A792-4A502791EFAA}"/>
              </a:ext>
            </a:extLst>
          </p:cNvPr>
          <p:cNvSpPr>
            <a:spLocks xmlns:a="http://schemas.openxmlformats.org/drawingml/2006/main" noGrp="1"/>
          </p:cNvSpPr>
          <p:nvPr/>
        </p:nvSpPr>
        <p:spPr>
          <a:xfrm xmlns:a="http://schemas.openxmlformats.org/drawingml/2006/main">
            <a:off x="609600" y="5667375"/>
            <a:ext cx="1090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00" b="0">
                <a:solidFill>
                  <a:srgbClr val="9B4D00"/>
                </a:solidFill>
                <a:latin typeface="Arial"/>
                <a:ea typeface="Arial"/>
                <a:cs typeface="Arial"/>
              </a:defRPr>
            </a:pPr>
            <a:r>
              <a:rPr sz="1800" b="0">
                <a:solidFill>
                  <a:srgbClr val="9B4D00"/>
                </a:solidFill>
                <a:latin typeface="Arial"/>
                <a:ea typeface="Arial"/>
                <a:cs typeface="Arial"/>
              </a:rPr>
              <a:t>Cobertura: conjunto fornecido. Não representa cobertura estadual integral comprovada.</a:t>
            </a:r>
          </a:p>
        </p:txBody>
      </p:sp>
      <p:sp>
        <p:nvSpPr>
          <p:cNvPr id="8" name="">
            <a:extLst xmlns:a="http://schemas.openxmlformats.org/drawingml/2006/main">
              <a:ext uri="{FF2B5EF4-FFF2-40B4-BE49-F238E27FC236}">
                <a16:creationId xmlns:a16="http://schemas.microsoft.com/office/drawing/2014/main" id="{728FF99A-F5CE-485C-816B-8C1A21BDA841}"/>
              </a:ext>
            </a:extLst>
          </p:cNvPr>
          <p:cNvSpPr>
            <a:spLocks xmlns:a="http://schemas.openxmlformats.org/drawingml/2006/main" noGrp="1"/>
          </p:cNvSpPr>
          <p:nvPr/>
        </p:nvSpPr>
        <p:spPr>
          <a:xfrm xmlns:a="http://schemas.openxmlformats.org/drawingml/2006/main">
            <a:off x="609600" y="6353175"/>
            <a:ext cx="10144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4F6570"/>
                </a:solidFill>
                <a:latin typeface="Arial"/>
                <a:ea typeface="Arial"/>
                <a:cs typeface="Arial"/>
              </a:defRPr>
            </a:pPr>
            <a:r>
              <a:rPr sz="1275" b="0">
                <a:solidFill>
                  <a:srgbClr val="4F6570"/>
                </a:solidFill>
                <a:latin typeface="Arial"/>
                <a:ea typeface="Arial"/>
                <a:cs typeface="Arial"/>
              </a:rPr>
              <a:t>Fonte: dados oficiais do ES e dicionário fornecidos. Recorte de 2024.</a:t>
            </a:r>
          </a:p>
        </p:txBody>
      </p:sp>
    </p:spTree>
    <p:extLst>
      <p:ext uri="{BB962C8B-B14F-4D97-AF65-F5344CB8AC3E}">
        <p14:creationId xmlns:p14="http://schemas.microsoft.com/office/powerpoint/2010/main" val="5130433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5C44E6E-FBE4-44B1-9C52-E7FAD4FF5E38}"/>
              </a:ext>
            </a:extLst>
          </p:cNvPr>
          <p:cNvSpPr>
            <a:spLocks xmlns:a="http://schemas.openxmlformats.org/drawingml/2006/main" noGrp="1"/>
          </p:cNvSpPr>
          <p:nvPr/>
        </p:nvSpPr>
        <p:spPr>
          <a:xfrm xmlns:a="http://schemas.openxmlformats.org/drawingml/2006/main">
            <a:off x="609600" y="38100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00" b="1">
                <a:solidFill>
                  <a:srgbClr val="122D3D"/>
                </a:solidFill>
                <a:latin typeface="Arial"/>
                <a:ea typeface="Arial"/>
                <a:cs typeface="Arial"/>
              </a:defRPr>
            </a:pPr>
            <a:r>
              <a:rPr sz="3300" b="1">
                <a:solidFill>
                  <a:srgbClr val="122D3D"/>
                </a:solidFill>
                <a:latin typeface="Arial"/>
                <a:ea typeface="Arial"/>
                <a:cs typeface="Arial"/>
              </a:rPr>
              <a:t>Cinco unidades concentram 54,9% do total</a:t>
            </a:r>
          </a:p>
        </p:txBody>
      </p:sp>
      <p:sp>
        <p:nvSpPr>
          <p:cNvPr id="2" name="">
            <a:extLst xmlns:a="http://schemas.openxmlformats.org/drawingml/2006/main">
              <a:ext uri="{FF2B5EF4-FFF2-40B4-BE49-F238E27FC236}">
                <a16:creationId xmlns:a16="http://schemas.microsoft.com/office/drawing/2014/main" id="{5B69AC4E-C372-4612-B1BC-7A505053773E}"/>
              </a:ext>
            </a:extLst>
          </p:cNvPr>
          <p:cNvSpPr>
            <a:spLocks xmlns:a="http://schemas.openxmlformats.org/drawingml/2006/main" noGrp="1"/>
          </p:cNvSpPr>
          <p:nvPr/>
        </p:nvSpPr>
        <p:spPr>
          <a:xfrm xmlns:a="http://schemas.openxmlformats.org/drawingml/2006/main">
            <a:off x="10991850" y="6391275"/>
            <a:ext cx="5905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350" b="0">
                <a:solidFill>
                  <a:srgbClr val="4F6570"/>
                </a:solidFill>
                <a:latin typeface="Arial"/>
                <a:ea typeface="Arial"/>
                <a:cs typeface="Arial"/>
              </a:defRPr>
            </a:pPr>
            <a:r>
              <a:rPr sz="1350" b="0">
                <a:solidFill>
                  <a:srgbClr val="4F6570"/>
                </a:solidFill>
                <a:latin typeface="Arial"/>
                <a:ea typeface="Arial"/>
                <a:cs typeface="Arial"/>
              </a:rPr>
              <a:t>3/8</a:t>
            </a:r>
          </a:p>
        </p:txBody>
      </p:sp>
      <p:sp>
        <p:nvSpPr>
          <p:cNvPr id="3" name="">
            <a:extLst xmlns:a="http://schemas.openxmlformats.org/drawingml/2006/main">
              <a:ext uri="{FF2B5EF4-FFF2-40B4-BE49-F238E27FC236}">
                <a16:creationId xmlns:a16="http://schemas.microsoft.com/office/drawing/2014/main" id="{C93D914A-2462-4C6B-8E6F-1219C3B229A2}"/>
              </a:ext>
            </a:extLst>
          </p:cNvPr>
          <p:cNvSpPr>
            <a:spLocks xmlns:a="http://schemas.openxmlformats.org/drawingml/2006/main" noGrp="1"/>
          </p:cNvSpPr>
          <p:nvPr/>
        </p:nvSpPr>
        <p:spPr>
          <a:xfrm xmlns:a="http://schemas.openxmlformats.org/drawingml/2006/main">
            <a:off x="609600" y="133350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122D3D"/>
                </a:solidFill>
                <a:latin typeface="Arial"/>
                <a:ea typeface="Arial"/>
                <a:cs typeface="Arial"/>
              </a:defRPr>
            </a:pPr>
            <a:r>
              <a:rPr sz="2100" b="0">
                <a:solidFill>
                  <a:srgbClr val="122D3D"/>
                </a:solidFill>
                <a:latin typeface="Arial"/>
                <a:ea typeface="Arial"/>
                <a:cs typeface="Arial"/>
              </a:rPr>
              <a:t>Pergunta 1: quais unidades concentram o ValorPago do conjunto?</a:t>
            </a:r>
          </a:p>
        </p:txBody>
      </p:sp>
      <p:graphicFrame>
        <p:nvGraphicFramePr>
          <p:cNvPr id="12" name="Chart"/>
          <p:cNvGraphicFramePr/>
          <p:nvPr/>
        </p:nvGraphicFramePr>
        <p:xfrm>
          <a:off xmlns:a="http://schemas.openxmlformats.org/drawingml/2006/main" x="609600" y="1981200"/>
          <a:ext xmlns:a="http://schemas.openxmlformats.org/drawingml/2006/main" cx="7381875" cy="3619500"/>
        </p:xfrm>
        <a:graphic xmlns:a="http://schemas.openxmlformats.org/drawingml/2006/main">
          <a:graphicData uri="http://schemas.openxmlformats.org/drawingml/2006/chart">
            <c:chart xmlns:r="http://schemas.openxmlformats.org/officeDocument/2006/relationships" xmlns:c="http://schemas.openxmlformats.org/drawingml/2006/chart" r:id="Rbdbc7d8e326a4ec0"/>
          </a:graphicData>
        </a:graphic>
      </p:graphicFrame>
      <p:sp>
        <p:nvSpPr>
          <p:cNvPr id="5" name="">
            <a:extLst xmlns:a="http://schemas.openxmlformats.org/drawingml/2006/main">
              <a:ext uri="{FF2B5EF4-FFF2-40B4-BE49-F238E27FC236}">
                <a16:creationId xmlns:a16="http://schemas.microsoft.com/office/drawing/2014/main" id="{7B4CBE70-D2C2-4EFA-AB99-B25EECC17777}"/>
              </a:ext>
            </a:extLst>
          </p:cNvPr>
          <p:cNvSpPr>
            <a:spLocks xmlns:a="http://schemas.openxmlformats.org/drawingml/2006/main" noGrp="1"/>
          </p:cNvSpPr>
          <p:nvPr/>
        </p:nvSpPr>
        <p:spPr>
          <a:xfrm xmlns:a="http://schemas.openxmlformats.org/drawingml/2006/main">
            <a:off x="8477250" y="2085975"/>
            <a:ext cx="311467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1">
                <a:solidFill>
                  <a:srgbClr val="087E8B"/>
                </a:solidFill>
                <a:latin typeface="Arial"/>
                <a:ea typeface="Arial"/>
                <a:cs typeface="Arial"/>
              </a:defRPr>
            </a:pPr>
            <a:r>
              <a:rPr sz="2625" b="1">
                <a:solidFill>
                  <a:srgbClr val="087E8B"/>
                </a:solidFill>
                <a:latin typeface="Arial"/>
                <a:ea typeface="Arial"/>
                <a:cs typeface="Arial"/>
              </a:rPr>
              <a:t>R$ 10,34 bi</a:t>
            </a:r>
          </a:p>
          <a:p xmlns:a="http://schemas.openxmlformats.org/drawingml/2006/main">
            <a:pPr>
              <a:defRPr sz="2625" b="1">
                <a:solidFill>
                  <a:srgbClr val="087E8B"/>
                </a:solidFill>
                <a:latin typeface="Arial"/>
                <a:ea typeface="Arial"/>
                <a:cs typeface="Arial"/>
              </a:defRPr>
            </a:pPr>
            <a:r>
              <a:rPr sz="2625" b="1">
                <a:solidFill>
                  <a:srgbClr val="087E8B"/>
                </a:solidFill>
                <a:latin typeface="Arial"/>
                <a:ea typeface="Arial"/>
                <a:cs typeface="Arial"/>
              </a:rPr>
              <a:t>total líquido</a:t>
            </a:r>
          </a:p>
        </p:txBody>
      </p:sp>
      <p:sp>
        <p:nvSpPr>
          <p:cNvPr id="6" name="">
            <a:extLst xmlns:a="http://schemas.openxmlformats.org/drawingml/2006/main">
              <a:ext uri="{FF2B5EF4-FFF2-40B4-BE49-F238E27FC236}">
                <a16:creationId xmlns:a16="http://schemas.microsoft.com/office/drawing/2014/main" id="{D3296671-BAAC-4B0F-8257-F1B1EEFDEBB2}"/>
              </a:ext>
            </a:extLst>
          </p:cNvPr>
          <p:cNvSpPr>
            <a:spLocks xmlns:a="http://schemas.openxmlformats.org/drawingml/2006/main" noGrp="1"/>
          </p:cNvSpPr>
          <p:nvPr/>
        </p:nvSpPr>
        <p:spPr>
          <a:xfrm xmlns:a="http://schemas.openxmlformats.org/drawingml/2006/main">
            <a:off x="8477250" y="3467100"/>
            <a:ext cx="31146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4F6570"/>
                </a:solidFill>
                <a:latin typeface="Arial"/>
                <a:ea typeface="Arial"/>
                <a:cs typeface="Arial"/>
              </a:defRPr>
            </a:pPr>
            <a:r>
              <a:rPr sz="1875" b="1">
                <a:solidFill>
                  <a:srgbClr val="4F6570"/>
                </a:solidFill>
                <a:latin typeface="Arial"/>
                <a:ea typeface="Arial"/>
                <a:cs typeface="Arial"/>
              </a:rPr>
              <a:t>Decisão de produto</a:t>
            </a:r>
          </a:p>
        </p:txBody>
      </p:sp>
      <p:sp>
        <p:nvSpPr>
          <p:cNvPr id="7" name="">
            <a:extLst xmlns:a="http://schemas.openxmlformats.org/drawingml/2006/main">
              <a:ext uri="{FF2B5EF4-FFF2-40B4-BE49-F238E27FC236}">
                <a16:creationId xmlns:a16="http://schemas.microsoft.com/office/drawing/2014/main" id="{D8C87B06-8E43-4549-BBB9-B0E4C0F6F61E}"/>
              </a:ext>
            </a:extLst>
          </p:cNvPr>
          <p:cNvSpPr>
            <a:spLocks xmlns:a="http://schemas.openxmlformats.org/drawingml/2006/main" noGrp="1"/>
          </p:cNvSpPr>
          <p:nvPr/>
        </p:nvSpPr>
        <p:spPr>
          <a:xfrm xmlns:a="http://schemas.openxmlformats.org/drawingml/2006/main">
            <a:off x="8477250" y="3962400"/>
            <a:ext cx="311467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025" b="0">
                <a:solidFill>
                  <a:srgbClr val="122D3D"/>
                </a:solidFill>
                <a:latin typeface="Arial"/>
                <a:ea typeface="Arial"/>
                <a:cs typeface="Arial"/>
              </a:defRPr>
            </a:pPr>
            <a:r>
              <a:rPr sz="2025" b="0">
                <a:solidFill>
                  <a:srgbClr val="122D3D"/>
                </a:solidFill>
                <a:latin typeface="Arial"/>
                <a:ea typeface="Arial"/>
                <a:cs typeface="Arial"/>
              </a:rPr>
              <a:t>Ranking com seleção de unidade e detalhamento da composição.</a:t>
            </a:r>
          </a:p>
        </p:txBody>
      </p:sp>
      <p:sp>
        <p:nvSpPr>
          <p:cNvPr id="8" name="">
            <a:extLst xmlns:a="http://schemas.openxmlformats.org/drawingml/2006/main">
              <a:ext uri="{FF2B5EF4-FFF2-40B4-BE49-F238E27FC236}">
                <a16:creationId xmlns:a16="http://schemas.microsoft.com/office/drawing/2014/main" id="{A4C3D10E-9041-447D-BFA6-BD8B07AE4946}"/>
              </a:ext>
            </a:extLst>
          </p:cNvPr>
          <p:cNvSpPr>
            <a:spLocks xmlns:a="http://schemas.openxmlformats.org/drawingml/2006/main" noGrp="1"/>
          </p:cNvSpPr>
          <p:nvPr/>
        </p:nvSpPr>
        <p:spPr>
          <a:xfrm xmlns:a="http://schemas.openxmlformats.org/drawingml/2006/main">
            <a:off x="609600" y="6353175"/>
            <a:ext cx="10144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4F6570"/>
                </a:solidFill>
                <a:latin typeface="Arial"/>
                <a:ea typeface="Arial"/>
                <a:cs typeface="Arial"/>
              </a:defRPr>
            </a:pPr>
            <a:r>
              <a:rPr sz="1275" b="0">
                <a:solidFill>
                  <a:srgbClr val="4F6570"/>
                </a:solidFill>
                <a:latin typeface="Arial"/>
                <a:ea typeface="Arial"/>
                <a:cs typeface="Arial"/>
              </a:rPr>
              <a:t>ValorPago líquido em R$ bilhões. 2024. 505.950 registros. Top 5 unidades.</a:t>
            </a:r>
          </a:p>
        </p:txBody>
      </p:sp>
    </p:spTree>
    <p:extLst>
      <p:ext uri="{BB962C8B-B14F-4D97-AF65-F5344CB8AC3E}">
        <p14:creationId xmlns:p14="http://schemas.microsoft.com/office/powerpoint/2010/main" val="118673782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8744D8F-A794-4D06-A52E-83ADFAC1DC27}"/>
              </a:ext>
            </a:extLst>
          </p:cNvPr>
          <p:cNvSpPr>
            <a:spLocks xmlns:a="http://schemas.openxmlformats.org/drawingml/2006/main" noGrp="1"/>
          </p:cNvSpPr>
          <p:nvPr/>
        </p:nvSpPr>
        <p:spPr>
          <a:xfrm xmlns:a="http://schemas.openxmlformats.org/drawingml/2006/main">
            <a:off x="609600" y="38100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00" b="1">
                <a:solidFill>
                  <a:srgbClr val="122D3D"/>
                </a:solidFill>
                <a:latin typeface="Arial"/>
                <a:ea typeface="Arial"/>
                <a:cs typeface="Arial"/>
              </a:defRPr>
            </a:pPr>
            <a:r>
              <a:rPr sz="3300" b="1">
                <a:solidFill>
                  <a:srgbClr val="122D3D"/>
                </a:solidFill>
                <a:latin typeface="Arial"/>
                <a:ea typeface="Arial"/>
                <a:cs typeface="Arial"/>
              </a:rPr>
              <a:t>Dezembro registra R$ 1,65 bi no conjunto</a:t>
            </a:r>
          </a:p>
        </p:txBody>
      </p:sp>
      <p:sp>
        <p:nvSpPr>
          <p:cNvPr id="2" name="">
            <a:extLst xmlns:a="http://schemas.openxmlformats.org/drawingml/2006/main">
              <a:ext uri="{FF2B5EF4-FFF2-40B4-BE49-F238E27FC236}">
                <a16:creationId xmlns:a16="http://schemas.microsoft.com/office/drawing/2014/main" id="{8FF53117-8A55-4601-9564-89D74D57CA93}"/>
              </a:ext>
            </a:extLst>
          </p:cNvPr>
          <p:cNvSpPr>
            <a:spLocks xmlns:a="http://schemas.openxmlformats.org/drawingml/2006/main" noGrp="1"/>
          </p:cNvSpPr>
          <p:nvPr/>
        </p:nvSpPr>
        <p:spPr>
          <a:xfrm xmlns:a="http://schemas.openxmlformats.org/drawingml/2006/main">
            <a:off x="10991850" y="6391275"/>
            <a:ext cx="5905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350" b="0">
                <a:solidFill>
                  <a:srgbClr val="4F6570"/>
                </a:solidFill>
                <a:latin typeface="Arial"/>
                <a:ea typeface="Arial"/>
                <a:cs typeface="Arial"/>
              </a:defRPr>
            </a:pPr>
            <a:r>
              <a:rPr sz="1350" b="0">
                <a:solidFill>
                  <a:srgbClr val="4F6570"/>
                </a:solidFill>
                <a:latin typeface="Arial"/>
                <a:ea typeface="Arial"/>
                <a:cs typeface="Arial"/>
              </a:rPr>
              <a:t>4/8</a:t>
            </a:r>
          </a:p>
        </p:txBody>
      </p:sp>
      <p:sp>
        <p:nvSpPr>
          <p:cNvPr id="3" name="">
            <a:extLst xmlns:a="http://schemas.openxmlformats.org/drawingml/2006/main">
              <a:ext uri="{FF2B5EF4-FFF2-40B4-BE49-F238E27FC236}">
                <a16:creationId xmlns:a16="http://schemas.microsoft.com/office/drawing/2014/main" id="{14EFF4EA-39BD-47DF-B0A0-E9655586628E}"/>
              </a:ext>
            </a:extLst>
          </p:cNvPr>
          <p:cNvSpPr>
            <a:spLocks xmlns:a="http://schemas.openxmlformats.org/drawingml/2006/main" noGrp="1"/>
          </p:cNvSpPr>
          <p:nvPr/>
        </p:nvSpPr>
        <p:spPr>
          <a:xfrm xmlns:a="http://schemas.openxmlformats.org/drawingml/2006/main">
            <a:off x="609600" y="1333500"/>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122D3D"/>
                </a:solidFill>
                <a:latin typeface="Arial"/>
                <a:ea typeface="Arial"/>
                <a:cs typeface="Arial"/>
              </a:defRPr>
            </a:pPr>
            <a:r>
              <a:rPr sz="2100" b="0">
                <a:solidFill>
                  <a:srgbClr val="122D3D"/>
                </a:solidFill>
                <a:latin typeface="Arial"/>
                <a:ea typeface="Arial"/>
                <a:cs typeface="Arial"/>
              </a:rPr>
              <a:t>Pergunta 2: como o ValorPago varia pelo mês do registro?</a:t>
            </a:r>
          </a:p>
        </p:txBody>
      </p:sp>
      <p:graphicFrame>
        <p:nvGraphicFramePr>
          <p:cNvPr id="13" name="Chart"/>
          <p:cNvGraphicFramePr/>
          <p:nvPr/>
        </p:nvGraphicFramePr>
        <p:xfrm>
          <a:off xmlns:a="http://schemas.openxmlformats.org/drawingml/2006/main" x="609600" y="1952625"/>
          <a:ext xmlns:a="http://schemas.openxmlformats.org/drawingml/2006/main" cx="7372350" cy="3143250"/>
        </p:xfrm>
        <a:graphic xmlns:a="http://schemas.openxmlformats.org/drawingml/2006/main">
          <a:graphicData uri="http://schemas.openxmlformats.org/drawingml/2006/chart">
            <c:chart xmlns:r="http://schemas.openxmlformats.org/officeDocument/2006/relationships" xmlns:c="http://schemas.openxmlformats.org/drawingml/2006/chart" r:id="Rc5e4bc72a8a84170"/>
          </a:graphicData>
        </a:graphic>
      </p:graphicFrame>
      <p:sp>
        <p:nvSpPr>
          <p:cNvPr id="5" name="">
            <a:extLst xmlns:a="http://schemas.openxmlformats.org/drawingml/2006/main">
              <a:ext uri="{FF2B5EF4-FFF2-40B4-BE49-F238E27FC236}">
                <a16:creationId xmlns:a16="http://schemas.microsoft.com/office/drawing/2014/main" id="{9F71C95E-9B99-4967-8356-33F1D7DFB26A}"/>
              </a:ext>
            </a:extLst>
          </p:cNvPr>
          <p:cNvSpPr>
            <a:spLocks xmlns:a="http://schemas.openxmlformats.org/drawingml/2006/main" noGrp="1"/>
          </p:cNvSpPr>
          <p:nvPr/>
        </p:nvSpPr>
        <p:spPr>
          <a:xfrm xmlns:a="http://schemas.openxmlformats.org/drawingml/2006/main">
            <a:off x="8477250" y="2000250"/>
            <a:ext cx="3114675"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325" b="1">
                <a:solidFill>
                  <a:srgbClr val="087E8B"/>
                </a:solidFill>
                <a:latin typeface="Arial"/>
                <a:ea typeface="Arial"/>
                <a:cs typeface="Arial"/>
              </a:defRPr>
            </a:pPr>
            <a:r>
              <a:rPr sz="2325" b="1">
                <a:solidFill>
                  <a:srgbClr val="087E8B"/>
                </a:solidFill>
                <a:latin typeface="Arial"/>
                <a:ea typeface="Arial"/>
                <a:cs typeface="Arial"/>
              </a:rPr>
              <a:t>Dezembro é o maior mês</a:t>
            </a:r>
          </a:p>
        </p:txBody>
      </p:sp>
      <p:sp>
        <p:nvSpPr>
          <p:cNvPr id="6" name="">
            <a:extLst xmlns:a="http://schemas.openxmlformats.org/drawingml/2006/main">
              <a:ext uri="{FF2B5EF4-FFF2-40B4-BE49-F238E27FC236}">
                <a16:creationId xmlns:a16="http://schemas.microsoft.com/office/drawing/2014/main" id="{45AFCC43-309C-4E3A-BE5A-F2089F3D7208}"/>
              </a:ext>
            </a:extLst>
          </p:cNvPr>
          <p:cNvSpPr>
            <a:spLocks xmlns:a="http://schemas.openxmlformats.org/drawingml/2006/main" noGrp="1"/>
          </p:cNvSpPr>
          <p:nvPr/>
        </p:nvSpPr>
        <p:spPr>
          <a:xfrm xmlns:a="http://schemas.openxmlformats.org/drawingml/2006/main">
            <a:off x="8477250" y="3124200"/>
            <a:ext cx="3114675"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0">
                <a:solidFill>
                  <a:srgbClr val="122D3D"/>
                </a:solidFill>
                <a:latin typeface="Arial"/>
                <a:ea typeface="Arial"/>
                <a:cs typeface="Arial"/>
              </a:defRPr>
            </a:pPr>
            <a:r>
              <a:rPr sz="1875" b="0">
                <a:solidFill>
                  <a:srgbClr val="122D3D"/>
                </a:solidFill>
                <a:latin typeface="Arial"/>
                <a:ea typeface="Arial"/>
                <a:cs typeface="Arial"/>
              </a:rPr>
              <a:t>Média R$ 861,4 mi</a:t>
            </a:r>
          </a:p>
          <a:p xmlns:a="http://schemas.openxmlformats.org/drawingml/2006/main">
            <a:pPr>
              <a:defRPr sz="1875" b="0">
                <a:solidFill>
                  <a:srgbClr val="122D3D"/>
                </a:solidFill>
                <a:latin typeface="Arial"/>
                <a:ea typeface="Arial"/>
                <a:cs typeface="Arial"/>
              </a:defRPr>
            </a:pPr>
            <a:r>
              <a:rPr sz="1875" b="0">
                <a:solidFill>
                  <a:srgbClr val="122D3D"/>
                </a:solidFill>
                <a:latin typeface="Arial"/>
                <a:ea typeface="Arial"/>
                <a:cs typeface="Arial"/>
              </a:rPr>
              <a:t>Mediana R$ 830,4 mi</a:t>
            </a:r>
          </a:p>
          <a:p xmlns:a="http://schemas.openxmlformats.org/drawingml/2006/main">
            <a:pPr>
              <a:defRPr sz="1875" b="0">
                <a:solidFill>
                  <a:srgbClr val="122D3D"/>
                </a:solidFill>
                <a:latin typeface="Arial"/>
                <a:ea typeface="Arial"/>
                <a:cs typeface="Arial"/>
              </a:defRPr>
            </a:pPr>
            <a:r>
              <a:rPr sz="1875" b="0">
                <a:solidFill>
                  <a:srgbClr val="122D3D"/>
                </a:solidFill>
                <a:latin typeface="Arial"/>
                <a:ea typeface="Arial"/>
                <a:cs typeface="Arial"/>
              </a:rPr>
              <a:t>DP R$ 308,0 mi</a:t>
            </a:r>
          </a:p>
        </p:txBody>
      </p:sp>
      <p:sp>
        <p:nvSpPr>
          <p:cNvPr id="7" name="">
            <a:extLst xmlns:a="http://schemas.openxmlformats.org/drawingml/2006/main">
              <a:ext uri="{FF2B5EF4-FFF2-40B4-BE49-F238E27FC236}">
                <a16:creationId xmlns:a16="http://schemas.microsoft.com/office/drawing/2014/main" id="{57AFA5EE-3F98-40C9-98FF-A74CBA247025}"/>
              </a:ext>
            </a:extLst>
          </p:cNvPr>
          <p:cNvSpPr>
            <a:spLocks xmlns:a="http://schemas.openxmlformats.org/drawingml/2006/main" noGrp="1"/>
          </p:cNvSpPr>
          <p:nvPr/>
        </p:nvSpPr>
        <p:spPr>
          <a:xfrm xmlns:a="http://schemas.openxmlformats.org/drawingml/2006/main">
            <a:off x="8477250" y="4638675"/>
            <a:ext cx="31146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0">
                <a:solidFill>
                  <a:srgbClr val="122D3D"/>
                </a:solidFill>
                <a:latin typeface="Arial"/>
                <a:ea typeface="Arial"/>
                <a:cs typeface="Arial"/>
              </a:defRPr>
            </a:pPr>
            <a:r>
              <a:rPr sz="1950" b="0">
                <a:solidFill>
                  <a:srgbClr val="122D3D"/>
                </a:solidFill>
                <a:latin typeface="Arial"/>
                <a:ea typeface="Arial"/>
                <a:cs typeface="Arial"/>
              </a:rPr>
              <a:t>Produto: filtro mensal e comparação da composição do total.</a:t>
            </a:r>
          </a:p>
        </p:txBody>
      </p:sp>
      <p:sp>
        <p:nvSpPr>
          <p:cNvPr id="8" name="">
            <a:extLst xmlns:a="http://schemas.openxmlformats.org/drawingml/2006/main">
              <a:ext uri="{FF2B5EF4-FFF2-40B4-BE49-F238E27FC236}">
                <a16:creationId xmlns:a16="http://schemas.microsoft.com/office/drawing/2014/main" id="{23892941-A10C-49C1-A30B-277B73ADCC20}"/>
              </a:ext>
            </a:extLst>
          </p:cNvPr>
          <p:cNvSpPr>
            <a:spLocks xmlns:a="http://schemas.openxmlformats.org/drawingml/2006/main" noGrp="1"/>
          </p:cNvSpPr>
          <p:nvPr/>
        </p:nvSpPr>
        <p:spPr>
          <a:xfrm xmlns:a="http://schemas.openxmlformats.org/drawingml/2006/main">
            <a:off x="609600" y="5457825"/>
            <a:ext cx="10953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0">
                <a:solidFill>
                  <a:srgbClr val="9B4D00"/>
                </a:solidFill>
                <a:latin typeface="Arial"/>
                <a:ea typeface="Arial"/>
                <a:cs typeface="Arial"/>
              </a:defRPr>
            </a:pPr>
            <a:r>
              <a:rPr sz="1650" b="0">
                <a:solidFill>
                  <a:srgbClr val="9B4D00"/>
                </a:solidFill>
                <a:latin typeface="Arial"/>
                <a:ea typeface="Arial"/>
                <a:cs typeface="Arial"/>
              </a:rPr>
              <a:t>Amostra interna aleatória: n = 10.000, 31,26% com ValorPago &gt; 0.</a:t>
            </a:r>
          </a:p>
          <a:p xmlns:a="http://schemas.openxmlformats.org/drawingml/2006/main">
            <a:pPr>
              <a:defRPr sz="1650" b="0">
                <a:solidFill>
                  <a:srgbClr val="9B4D00"/>
                </a:solidFill>
                <a:latin typeface="Arial"/>
                <a:ea typeface="Arial"/>
                <a:cs typeface="Arial"/>
              </a:defRPr>
            </a:pPr>
            <a:r>
              <a:rPr sz="1650" b="0">
                <a:solidFill>
                  <a:srgbClr val="9B4D00"/>
                </a:solidFill>
                <a:latin typeface="Arial"/>
                <a:ea typeface="Arial"/>
                <a:cs typeface="Arial"/>
              </a:rPr>
              <a:t>IC 95% Wilson: 30,36% a 32,18%. População-alvo: apenas a base local.</a:t>
            </a:r>
          </a:p>
        </p:txBody>
      </p:sp>
      <p:sp>
        <p:nvSpPr>
          <p:cNvPr id="9" name="">
            <a:extLst xmlns:a="http://schemas.openxmlformats.org/drawingml/2006/main">
              <a:ext uri="{FF2B5EF4-FFF2-40B4-BE49-F238E27FC236}">
                <a16:creationId xmlns:a16="http://schemas.microsoft.com/office/drawing/2014/main" id="{5D6A73D1-5A49-402B-AC56-E61294B86AEF}"/>
              </a:ext>
            </a:extLst>
          </p:cNvPr>
          <p:cNvSpPr>
            <a:spLocks xmlns:a="http://schemas.openxmlformats.org/drawingml/2006/main" noGrp="1"/>
          </p:cNvSpPr>
          <p:nvPr/>
        </p:nvSpPr>
        <p:spPr>
          <a:xfrm xmlns:a="http://schemas.openxmlformats.org/drawingml/2006/main">
            <a:off x="609600" y="6353175"/>
            <a:ext cx="10144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4F6570"/>
                </a:solidFill>
                <a:latin typeface="Arial"/>
                <a:ea typeface="Arial"/>
                <a:cs typeface="Arial"/>
              </a:defRPr>
            </a:pPr>
            <a:r>
              <a:rPr sz="1275" b="0">
                <a:solidFill>
                  <a:srgbClr val="4F6570"/>
                </a:solidFill>
                <a:latin typeface="Arial"/>
                <a:ea typeface="Arial"/>
                <a:cs typeface="Arial"/>
              </a:rPr>
              <a:t>ValorPago líquido em R$ bilhões. Data do registro. 2024. 505.950 registros datados.</a:t>
            </a:r>
          </a:p>
        </p:txBody>
      </p:sp>
    </p:spTree>
    <p:extLst>
      <p:ext uri="{BB962C8B-B14F-4D97-AF65-F5344CB8AC3E}">
        <p14:creationId xmlns:p14="http://schemas.microsoft.com/office/powerpoint/2010/main" val="5673921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A6C10DC-F4D3-45BE-AA56-11C42FB3BC4D}"/>
              </a:ext>
            </a:extLst>
          </p:cNvPr>
          <p:cNvSpPr>
            <a:spLocks xmlns:a="http://schemas.openxmlformats.org/drawingml/2006/main" noGrp="1"/>
          </p:cNvSpPr>
          <p:nvPr/>
        </p:nvSpPr>
        <p:spPr>
          <a:xfrm xmlns:a="http://schemas.openxmlformats.org/drawingml/2006/main">
            <a:off x="609600" y="38100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00" b="1">
                <a:solidFill>
                  <a:srgbClr val="122D3D"/>
                </a:solidFill>
                <a:latin typeface="Arial"/>
                <a:ea typeface="Arial"/>
                <a:cs typeface="Arial"/>
              </a:defRPr>
            </a:pPr>
            <a:r>
              <a:rPr sz="3300" b="1">
                <a:solidFill>
                  <a:srgbClr val="122D3D"/>
                </a:solidFill>
                <a:latin typeface="Arial"/>
                <a:ea typeface="Arial"/>
                <a:cs typeface="Arial"/>
              </a:rPr>
              <a:t>POC e demonstração ao vivo</a:t>
            </a:r>
          </a:p>
        </p:txBody>
      </p:sp>
      <p:sp>
        <p:nvSpPr>
          <p:cNvPr id="2" name="">
            <a:extLst xmlns:a="http://schemas.openxmlformats.org/drawingml/2006/main">
              <a:ext uri="{FF2B5EF4-FFF2-40B4-BE49-F238E27FC236}">
                <a16:creationId xmlns:a16="http://schemas.microsoft.com/office/drawing/2014/main" id="{8FAE51D0-38EF-4909-9824-DB08E6E7ED68}"/>
              </a:ext>
            </a:extLst>
          </p:cNvPr>
          <p:cNvSpPr>
            <a:spLocks xmlns:a="http://schemas.openxmlformats.org/drawingml/2006/main" noGrp="1"/>
          </p:cNvSpPr>
          <p:nvPr/>
        </p:nvSpPr>
        <p:spPr>
          <a:xfrm xmlns:a="http://schemas.openxmlformats.org/drawingml/2006/main">
            <a:off x="10991850" y="6391275"/>
            <a:ext cx="5905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350" b="0">
                <a:solidFill>
                  <a:srgbClr val="4F6570"/>
                </a:solidFill>
                <a:latin typeface="Arial"/>
                <a:ea typeface="Arial"/>
                <a:cs typeface="Arial"/>
              </a:defRPr>
            </a:pPr>
            <a:r>
              <a:rPr sz="1350" b="0">
                <a:solidFill>
                  <a:srgbClr val="4F6570"/>
                </a:solidFill>
                <a:latin typeface="Arial"/>
                <a:ea typeface="Arial"/>
                <a:cs typeface="Arial"/>
              </a:rPr>
              <a:t>5/8</a:t>
            </a:r>
          </a:p>
        </p:txBody>
      </p:sp>
      <p:graphicFrame>
        <p:nvGraphicFramePr>
          <p:cNvPr id="10" name=""/>
          <p:cNvGraphicFramePr/>
          <p:nvPr/>
        </p:nvGraphicFramePr>
        <p:xfrm>
          <a:off xmlns:a="http://schemas.openxmlformats.org/drawingml/2006/main" x="609600" y="1409700"/>
          <a:ext xmlns:a="http://schemas.openxmlformats.org/drawingml/2006/main" cx="10972800" cy="2571750"/>
        </p:xfrm>
        <a:graphic xmlns:a="http://schemas.openxmlformats.org/drawingml/2006/main">
          <a:graphicData uri="http://schemas.openxmlformats.org/drawingml/2006/table">
            <a:tbl>
              <a:tblPr/>
              <a:tblGrid>
                <a:gridCol w="5143500"/>
                <a:gridCol w="5829300"/>
              </a:tblGrid>
              <a:tr h="514350">
                <a:tc>
                  <a:txBody>
                    <a:bodyPr lIns="114300" tIns="76200" rIns="114300" bIns="76200">
                      <a:noAutofit/>
                    </a:bodyPr>
                    <a:lstStyle/>
                    <a:p>
                      <a:r>
                        <a:rPr sz="1950" b="1">
                          <a:solidFill>
                            <a:srgbClr val="FFFFFF"/>
                          </a:solidFill>
                          <a:latin typeface="Arial"/>
                          <a:ea typeface="Arial"/>
                          <a:cs typeface="Arial"/>
                        </a:rPr>
                        <a:t>Jornada</a:t>
                      </a:r>
                    </a:p>
                  </a:txBody>
                  <a:tcPr marL="91440" marR="91440" marT="45720" marB="45720">
                    <a:solidFill>
                      <a:srgbClr val="122D3D"/>
                    </a:solidFill>
                  </a:tcPr>
                </a:tc>
                <a:tc>
                  <a:txBody>
                    <a:bodyPr lIns="114300" tIns="76200" rIns="114300" bIns="76200">
                      <a:noAutofit/>
                    </a:bodyPr>
                    <a:lstStyle/>
                    <a:p>
                      <a:r>
                        <a:rPr sz="1950" b="1">
                          <a:solidFill>
                            <a:srgbClr val="FFFFFF"/>
                          </a:solidFill>
                          <a:latin typeface="Arial"/>
                          <a:ea typeface="Arial"/>
                          <a:cs typeface="Arial"/>
                        </a:rPr>
                        <a:t>Resultado verificável</a:t>
                      </a:r>
                    </a:p>
                  </a:txBody>
                  <a:tcPr marL="91440" marR="91440" marT="45720" marB="45720">
                    <a:solidFill>
                      <a:srgbClr val="122D3D"/>
                    </a:solidFill>
                  </a:tcPr>
                </a:tc>
              </a:tr>
              <a:tr h="514350">
                <a:tc>
                  <a:txBody>
                    <a:bodyPr lIns="114300" tIns="76200" rIns="114300" bIns="76200">
                      <a:noAutofit/>
                    </a:bodyPr>
                    <a:lstStyle/>
                    <a:p>
                      <a:r>
                        <a:rPr sz="1950" b="0">
                          <a:solidFill>
                            <a:srgbClr val="122D3D"/>
                          </a:solidFill>
                          <a:latin typeface="Arial"/>
                          <a:ea typeface="Arial"/>
                          <a:cs typeface="Arial"/>
                        </a:rPr>
                        <a:t>1. Selecionar unidade e período</a:t>
                      </a:r>
                    </a:p>
                  </a:txBody>
                  <a:tcPr marL="91440" marR="91440" marT="45720" marB="45720">
                    <a:solidFill>
                      <a:srgbClr val="FFFFFF"/>
                    </a:solidFill>
                  </a:tcPr>
                </a:tc>
                <a:tc>
                  <a:txBody>
                    <a:bodyPr lIns="114300" tIns="76200" rIns="114300" bIns="76200">
                      <a:noAutofit/>
                    </a:bodyPr>
                    <a:lstStyle/>
                    <a:p>
                      <a:r>
                        <a:rPr sz="1950" b="0">
                          <a:solidFill>
                            <a:srgbClr val="122D3D"/>
                          </a:solidFill>
                          <a:latin typeface="Arial"/>
                          <a:ea typeface="Arial"/>
                          <a:cs typeface="Arial"/>
                        </a:rPr>
                        <a:t>Indicadores e gráficos do recorte</a:t>
                      </a:r>
                    </a:p>
                  </a:txBody>
                  <a:tcPr marL="91440" marR="91440" marT="45720" marB="45720">
                    <a:solidFill>
                      <a:srgbClr val="FFFFFF"/>
                    </a:solidFill>
                  </a:tcPr>
                </a:tc>
              </a:tr>
              <a:tr h="514350">
                <a:tc>
                  <a:txBody>
                    <a:bodyPr lIns="114300" tIns="76200" rIns="114300" bIns="76200">
                      <a:noAutofit/>
                    </a:bodyPr>
                    <a:lstStyle/>
                    <a:p>
                      <a:r>
                        <a:rPr sz="1950" b="0">
                          <a:solidFill>
                            <a:srgbClr val="122D3D"/>
                          </a:solidFill>
                          <a:latin typeface="Arial"/>
                          <a:ea typeface="Arial"/>
                          <a:cs typeface="Arial"/>
                        </a:rPr>
                        <a:t>2. Explorar a composição</a:t>
                      </a:r>
                    </a:p>
                  </a:txBody>
                  <a:tcPr marL="91440" marR="91440" marT="45720" marB="45720">
                    <a:solidFill>
                      <a:srgbClr val="FFFFFF"/>
                    </a:solidFill>
                  </a:tcPr>
                </a:tc>
                <a:tc>
                  <a:txBody>
                    <a:bodyPr lIns="114300" tIns="76200" rIns="114300" bIns="76200">
                      <a:noAutofit/>
                    </a:bodyPr>
                    <a:lstStyle/>
                    <a:p>
                      <a:r>
                        <a:rPr sz="1950" b="0">
                          <a:solidFill>
                            <a:srgbClr val="122D3D"/>
                          </a:solidFill>
                          <a:latin typeface="Arial"/>
                          <a:ea typeface="Arial"/>
                          <a:cs typeface="Arial"/>
                        </a:rPr>
                        <a:t>Tabela com valores e registros</a:t>
                      </a:r>
                    </a:p>
                  </a:txBody>
                  <a:tcPr marL="91440" marR="91440" marT="45720" marB="45720">
                    <a:solidFill>
                      <a:srgbClr val="FFFFFF"/>
                    </a:solidFill>
                  </a:tcPr>
                </a:tc>
              </a:tr>
              <a:tr h="514350">
                <a:tc>
                  <a:txBody>
                    <a:bodyPr lIns="114300" tIns="76200" rIns="114300" bIns="76200">
                      <a:noAutofit/>
                    </a:bodyPr>
                    <a:lstStyle/>
                    <a:p>
                      <a:r>
                        <a:rPr sz="1950" b="0">
                          <a:solidFill>
                            <a:srgbClr val="122D3D"/>
                          </a:solidFill>
                          <a:latin typeface="Arial"/>
                          <a:ea typeface="Arial"/>
                          <a:cs typeface="Arial"/>
                        </a:rPr>
                        <a:t>3. Conferir a origem</a:t>
                      </a:r>
                    </a:p>
                  </a:txBody>
                  <a:tcPr marL="91440" marR="91440" marT="45720" marB="45720">
                    <a:solidFill>
                      <a:srgbClr val="FFFFFF"/>
                    </a:solidFill>
                  </a:tcPr>
                </a:tc>
                <a:tc>
                  <a:txBody>
                    <a:bodyPr lIns="114300" tIns="76200" rIns="114300" bIns="76200">
                      <a:noAutofit/>
                    </a:bodyPr>
                    <a:lstStyle/>
                    <a:p>
                      <a:r>
                        <a:rPr sz="1950" b="0">
                          <a:solidFill>
                            <a:srgbClr val="122D3D"/>
                          </a:solidFill>
                          <a:latin typeface="Arial"/>
                          <a:ea typeface="Arial"/>
                          <a:cs typeface="Arial"/>
                        </a:rPr>
                        <a:t>Arquivo e linha que geraram o resultado</a:t>
                      </a:r>
                    </a:p>
                  </a:txBody>
                  <a:tcPr marL="91440" marR="91440" marT="45720" marB="45720">
                    <a:solidFill>
                      <a:srgbClr val="FFFFFF"/>
                    </a:solidFill>
                  </a:tcPr>
                </a:tc>
              </a:tr>
              <a:tr h="514350">
                <a:tc>
                  <a:txBody>
                    <a:bodyPr lIns="114300" tIns="76200" rIns="114300" bIns="76200">
                      <a:noAutofit/>
                    </a:bodyPr>
                    <a:lstStyle/>
                    <a:p>
                      <a:r>
                        <a:rPr sz="1950" b="0">
                          <a:solidFill>
                            <a:srgbClr val="122D3D"/>
                          </a:solidFill>
                          <a:latin typeface="Arial"/>
                          <a:ea typeface="Arial"/>
                          <a:cs typeface="Arial"/>
                        </a:rPr>
                        <a:t>4. Testar combinação sem dados</a:t>
                      </a:r>
                    </a:p>
                  </a:txBody>
                  <a:tcPr marL="91440" marR="91440" marT="45720" marB="45720">
                    <a:solidFill>
                      <a:srgbClr val="FFFFFF"/>
                    </a:solidFill>
                  </a:tcPr>
                </a:tc>
                <a:tc>
                  <a:txBody>
                    <a:bodyPr lIns="114300" tIns="76200" rIns="114300" bIns="76200">
                      <a:noAutofit/>
                    </a:bodyPr>
                    <a:lstStyle/>
                    <a:p>
                      <a:r>
                        <a:rPr sz="1950" b="0">
                          <a:solidFill>
                            <a:srgbClr val="122D3D"/>
                          </a:solidFill>
                          <a:latin typeface="Arial"/>
                          <a:ea typeface="Arial"/>
                          <a:cs typeface="Arial"/>
                        </a:rPr>
                        <a:t>Mensagem explicativa sem falha</a:t>
                      </a:r>
                    </a:p>
                  </a:txBody>
                  <a:tcPr marL="91440" marR="91440" marT="45720" marB="4572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C27259EA-DFE7-4378-A718-095962F5F291}"/>
              </a:ext>
            </a:extLst>
          </p:cNvPr>
          <p:cNvSpPr>
            <a:spLocks xmlns:a="http://schemas.openxmlformats.org/drawingml/2006/main" noGrp="1"/>
          </p:cNvSpPr>
          <p:nvPr/>
        </p:nvSpPr>
        <p:spPr>
          <a:xfrm xmlns:a="http://schemas.openxmlformats.org/drawingml/2006/main">
            <a:off x="609600" y="4371975"/>
            <a:ext cx="285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1">
                <a:solidFill>
                  <a:srgbClr val="4F6570"/>
                </a:solidFill>
                <a:latin typeface="Arial"/>
                <a:ea typeface="Arial"/>
                <a:cs typeface="Arial"/>
              </a:defRPr>
            </a:pPr>
            <a:r>
              <a:rPr sz="2100" b="1">
                <a:solidFill>
                  <a:srgbClr val="4F6570"/>
                </a:solidFill>
                <a:latin typeface="Arial"/>
                <a:ea typeface="Arial"/>
                <a:cs typeface="Arial"/>
              </a:rPr>
              <a:t>Arquitetura</a:t>
            </a:r>
          </a:p>
        </p:txBody>
      </p:sp>
      <p:sp>
        <p:nvSpPr>
          <p:cNvPr id="5" name="">
            <a:extLst xmlns:a="http://schemas.openxmlformats.org/drawingml/2006/main">
              <a:ext uri="{FF2B5EF4-FFF2-40B4-BE49-F238E27FC236}">
                <a16:creationId xmlns:a16="http://schemas.microsoft.com/office/drawing/2014/main" id="{5A5443B8-63EF-45F1-8927-668D43D453D4}"/>
              </a:ext>
            </a:extLst>
          </p:cNvPr>
          <p:cNvSpPr>
            <a:spLocks xmlns:a="http://schemas.openxmlformats.org/drawingml/2006/main" noGrp="1"/>
          </p:cNvSpPr>
          <p:nvPr/>
        </p:nvSpPr>
        <p:spPr>
          <a:xfrm xmlns:a="http://schemas.openxmlformats.org/drawingml/2006/main">
            <a:off x="609600" y="4857750"/>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75" b="0">
                <a:solidFill>
                  <a:srgbClr val="122D3D"/>
                </a:solidFill>
                <a:latin typeface="Arial"/>
                <a:ea typeface="Arial"/>
                <a:cs typeface="Arial"/>
              </a:defRPr>
            </a:pPr>
            <a:r>
              <a:rPr sz="2175" b="0">
                <a:solidFill>
                  <a:srgbClr val="122D3D"/>
                </a:solidFill>
                <a:latin typeface="Arial"/>
                <a:ea typeface="Arial"/>
                <a:cs typeface="Arial"/>
              </a:rPr>
              <a:t>O importador Python grava CSVs no SQLite.</a:t>
            </a:r>
          </a:p>
          <a:p xmlns:a="http://schemas.openxmlformats.org/drawingml/2006/main">
            <a:pPr>
              <a:defRPr sz="2175" b="0">
                <a:solidFill>
                  <a:srgbClr val="122D3D"/>
                </a:solidFill>
                <a:latin typeface="Arial"/>
                <a:ea typeface="Arial"/>
                <a:cs typeface="Arial"/>
              </a:defRPr>
            </a:pPr>
            <a:r>
              <a:rPr sz="2175" b="0">
                <a:solidFill>
                  <a:srgbClr val="122D3D"/>
                </a:solidFill>
                <a:latin typeface="Arial"/>
                <a:ea typeface="Arial"/>
                <a:cs typeface="Arial"/>
              </a:rPr>
              <a:t>Um servidor local atende a interface web.</a:t>
            </a:r>
          </a:p>
        </p:txBody>
      </p:sp>
      <p:sp>
        <p:nvSpPr>
          <p:cNvPr id="6" name="">
            <a:extLst xmlns:a="http://schemas.openxmlformats.org/drawingml/2006/main">
              <a:ext uri="{FF2B5EF4-FFF2-40B4-BE49-F238E27FC236}">
                <a16:creationId xmlns:a16="http://schemas.microsoft.com/office/drawing/2014/main" id="{C0D9D522-663D-4F9D-9B35-4D1E2E8471F7}"/>
              </a:ext>
            </a:extLst>
          </p:cNvPr>
          <p:cNvSpPr>
            <a:spLocks xmlns:a="http://schemas.openxmlformats.org/drawingml/2006/main" noGrp="1"/>
          </p:cNvSpPr>
          <p:nvPr/>
        </p:nvSpPr>
        <p:spPr>
          <a:xfrm xmlns:a="http://schemas.openxmlformats.org/drawingml/2006/main">
            <a:off x="609600" y="5781675"/>
            <a:ext cx="10858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0">
                <a:solidFill>
                  <a:srgbClr val="122D3D"/>
                </a:solidFill>
                <a:latin typeface="Arial"/>
                <a:ea typeface="Arial"/>
                <a:cs typeface="Arial"/>
              </a:defRPr>
            </a:pPr>
            <a:r>
              <a:rPr sz="1875" b="0">
                <a:solidFill>
                  <a:srgbClr val="122D3D"/>
                </a:solidFill>
                <a:latin typeface="Arial"/>
                <a:ea typeface="Arial"/>
                <a:cs typeface="Arial"/>
              </a:rPr>
              <a:t>Python padrão, SQLite e HTML/CSS/JavaScript simplificam a instalação local.</a:t>
            </a:r>
          </a:p>
        </p:txBody>
      </p:sp>
      <p:sp>
        <p:nvSpPr>
          <p:cNvPr id="7" name="">
            <a:extLst xmlns:a="http://schemas.openxmlformats.org/drawingml/2006/main">
              <a:ext uri="{FF2B5EF4-FFF2-40B4-BE49-F238E27FC236}">
                <a16:creationId xmlns:a16="http://schemas.microsoft.com/office/drawing/2014/main" id="{AF34D215-3F1D-4782-ADE7-798345B28651}"/>
              </a:ext>
            </a:extLst>
          </p:cNvPr>
          <p:cNvSpPr>
            <a:spLocks xmlns:a="http://schemas.openxmlformats.org/drawingml/2006/main" noGrp="1"/>
          </p:cNvSpPr>
          <p:nvPr/>
        </p:nvSpPr>
        <p:spPr>
          <a:xfrm xmlns:a="http://schemas.openxmlformats.org/drawingml/2006/main">
            <a:off x="609600" y="6353175"/>
            <a:ext cx="10144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4F6570"/>
                </a:solidFill>
                <a:latin typeface="Arial"/>
                <a:ea typeface="Arial"/>
                <a:cs typeface="Arial"/>
              </a:defRPr>
            </a:pPr>
            <a:r>
              <a:rPr sz="1275" b="0">
                <a:solidFill>
                  <a:srgbClr val="4F6570"/>
                </a:solidFill>
                <a:latin typeface="Arial"/>
                <a:ea typeface="Arial"/>
                <a:cs typeface="Arial"/>
              </a:rPr>
              <a:t>Repositório com código, testes, README e limites. Indicadores sem identificadores pessoais.</a:t>
            </a:r>
          </a:p>
        </p:txBody>
      </p:sp>
    </p:spTree>
    <p:extLst>
      <p:ext uri="{BB962C8B-B14F-4D97-AF65-F5344CB8AC3E}">
        <p14:creationId xmlns:p14="http://schemas.microsoft.com/office/powerpoint/2010/main" val="52501240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ACAD6A8-C98D-44BF-84F5-64B08EE4AB5E}"/>
              </a:ext>
            </a:extLst>
          </p:cNvPr>
          <p:cNvSpPr>
            <a:spLocks xmlns:a="http://schemas.openxmlformats.org/drawingml/2006/main" noGrp="1"/>
          </p:cNvSpPr>
          <p:nvPr/>
        </p:nvSpPr>
        <p:spPr>
          <a:xfrm xmlns:a="http://schemas.openxmlformats.org/drawingml/2006/main">
            <a:off x="609600" y="38100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00" b="1">
                <a:solidFill>
                  <a:srgbClr val="122D3D"/>
                </a:solidFill>
                <a:latin typeface="Arial"/>
                <a:ea typeface="Arial"/>
                <a:cs typeface="Arial"/>
              </a:defRPr>
            </a:pPr>
            <a:r>
              <a:rPr sz="3300" b="1">
                <a:solidFill>
                  <a:srgbClr val="122D3D"/>
                </a:solidFill>
                <a:latin typeface="Arial"/>
                <a:ea typeface="Arial"/>
                <a:cs typeface="Arial"/>
              </a:rPr>
              <a:t>Equipe proposta e evolução em 16 semanas</a:t>
            </a:r>
          </a:p>
        </p:txBody>
      </p:sp>
      <p:sp>
        <p:nvSpPr>
          <p:cNvPr id="2" name="">
            <a:extLst xmlns:a="http://schemas.openxmlformats.org/drawingml/2006/main">
              <a:ext uri="{FF2B5EF4-FFF2-40B4-BE49-F238E27FC236}">
                <a16:creationId xmlns:a16="http://schemas.microsoft.com/office/drawing/2014/main" id="{042414DC-0595-4820-9066-52A91564E011}"/>
              </a:ext>
            </a:extLst>
          </p:cNvPr>
          <p:cNvSpPr>
            <a:spLocks xmlns:a="http://schemas.openxmlformats.org/drawingml/2006/main" noGrp="1"/>
          </p:cNvSpPr>
          <p:nvPr/>
        </p:nvSpPr>
        <p:spPr>
          <a:xfrm xmlns:a="http://schemas.openxmlformats.org/drawingml/2006/main">
            <a:off x="10991850" y="6391275"/>
            <a:ext cx="5905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350" b="0">
                <a:solidFill>
                  <a:srgbClr val="4F6570"/>
                </a:solidFill>
                <a:latin typeface="Arial"/>
                <a:ea typeface="Arial"/>
                <a:cs typeface="Arial"/>
              </a:defRPr>
            </a:pPr>
            <a:r>
              <a:rPr sz="1350" b="0">
                <a:solidFill>
                  <a:srgbClr val="4F6570"/>
                </a:solidFill>
                <a:latin typeface="Arial"/>
                <a:ea typeface="Arial"/>
                <a:cs typeface="Arial"/>
              </a:rPr>
              <a:t>6/8</a:t>
            </a:r>
          </a:p>
        </p:txBody>
      </p:sp>
      <p:graphicFrame>
        <p:nvGraphicFramePr>
          <p:cNvPr id="8" name=""/>
          <p:cNvGraphicFramePr/>
          <p:nvPr/>
        </p:nvGraphicFramePr>
        <p:xfrm>
          <a:off xmlns:a="http://schemas.openxmlformats.org/drawingml/2006/main" x="609600" y="1390650"/>
          <a:ext xmlns:a="http://schemas.openxmlformats.org/drawingml/2006/main" cx="10972800" cy="2476500"/>
        </p:xfrm>
        <a:graphic xmlns:a="http://schemas.openxmlformats.org/drawingml/2006/main">
          <a:graphicData uri="http://schemas.openxmlformats.org/drawingml/2006/table">
            <a:tbl>
              <a:tblPr/>
              <a:tblGrid>
                <a:gridCol w="2714625"/>
                <a:gridCol w="4448175"/>
                <a:gridCol w="3810000"/>
              </a:tblGrid>
              <a:tr h="495300">
                <a:tc>
                  <a:txBody>
                    <a:bodyPr lIns="114300" tIns="76200" rIns="114300" bIns="76200">
                      <a:noAutofit/>
                    </a:bodyPr>
                    <a:lstStyle/>
                    <a:p>
                      <a:r>
                        <a:rPr sz="1725" b="1">
                          <a:solidFill>
                            <a:srgbClr val="FFFFFF"/>
                          </a:solidFill>
                          <a:latin typeface="Arial"/>
                          <a:ea typeface="Arial"/>
                          <a:cs typeface="Arial"/>
                        </a:rPr>
                        <a:t>Responsável proposto</a:t>
                      </a:r>
                    </a:p>
                  </a:txBody>
                  <a:tcPr marL="91440" marR="91440" marT="45720" marB="45720">
                    <a:solidFill>
                      <a:srgbClr val="122D3D"/>
                    </a:solidFill>
                  </a:tcPr>
                </a:tc>
                <a:tc>
                  <a:txBody>
                    <a:bodyPr lIns="114300" tIns="76200" rIns="114300" bIns="76200">
                      <a:noAutofit/>
                    </a:bodyPr>
                    <a:lstStyle/>
                    <a:p>
                      <a:r>
                        <a:rPr sz="1725" b="1">
                          <a:solidFill>
                            <a:srgbClr val="FFFFFF"/>
                          </a:solidFill>
                          <a:latin typeface="Arial"/>
                          <a:ea typeface="Arial"/>
                          <a:cs typeface="Arial"/>
                        </a:rPr>
                        <a:t>Função e dedicação</a:t>
                      </a:r>
                    </a:p>
                  </a:txBody>
                  <a:tcPr marL="91440" marR="91440" marT="45720" marB="45720">
                    <a:solidFill>
                      <a:srgbClr val="122D3D"/>
                    </a:solidFill>
                  </a:tcPr>
                </a:tc>
                <a:tc>
                  <a:txBody>
                    <a:bodyPr lIns="114300" tIns="76200" rIns="114300" bIns="76200">
                      <a:noAutofit/>
                    </a:bodyPr>
                    <a:lstStyle/>
                    <a:p>
                      <a:r>
                        <a:rPr sz="1725" b="1">
                          <a:solidFill>
                            <a:srgbClr val="FFFFFF"/>
                          </a:solidFill>
                          <a:latin typeface="Arial"/>
                          <a:ea typeface="Arial"/>
                          <a:cs typeface="Arial"/>
                        </a:rPr>
                        <a:t>Entrega</a:t>
                      </a:r>
                    </a:p>
                  </a:txBody>
                  <a:tcPr marL="91440" marR="91440" marT="45720" marB="45720">
                    <a:solidFill>
                      <a:srgbClr val="122D3D"/>
                    </a:solidFill>
                  </a:tcPr>
                </a:tc>
              </a:tr>
              <a:tr h="495300">
                <a:tc>
                  <a:txBody>
                    <a:bodyPr lIns="114300" tIns="76200" rIns="114300" bIns="76200">
                      <a:noAutofit/>
                    </a:bodyPr>
                    <a:lstStyle/>
                    <a:p>
                      <a:r>
                        <a:rPr sz="1725" b="0">
                          <a:solidFill>
                            <a:srgbClr val="122D3D"/>
                          </a:solidFill>
                          <a:latin typeface="Arial"/>
                          <a:ea typeface="Arial"/>
                          <a:cs typeface="Arial"/>
                        </a:rPr>
                        <a:t>Integrante 1</a:t>
                      </a:r>
                    </a:p>
                  </a:txBody>
                  <a:tcPr marL="91440" marR="91440" marT="45720" marB="45720">
                    <a:solidFill>
                      <a:srgbClr val="FFFFFF"/>
                    </a:solidFill>
                  </a:tcPr>
                </a:tc>
                <a:tc>
                  <a:txBody>
                    <a:bodyPr lIns="114300" tIns="76200" rIns="114300" bIns="76200">
                      <a:noAutofit/>
                    </a:bodyPr>
                    <a:lstStyle/>
                    <a:p>
                      <a:r>
                        <a:rPr sz="1725" b="0">
                          <a:solidFill>
                            <a:srgbClr val="122D3D"/>
                          </a:solidFill>
                          <a:latin typeface="Arial"/>
                          <a:ea typeface="Arial"/>
                          <a:cs typeface="Arial"/>
                        </a:rPr>
                        <a:t>Produto e gestão, 160 h</a:t>
                      </a:r>
                    </a:p>
                  </a:txBody>
                  <a:tcPr marL="91440" marR="91440" marT="45720" marB="45720">
                    <a:solidFill>
                      <a:srgbClr val="FFFFFF"/>
                    </a:solidFill>
                  </a:tcPr>
                </a:tc>
                <a:tc>
                  <a:txBody>
                    <a:bodyPr lIns="114300" tIns="76200" rIns="114300" bIns="76200">
                      <a:noAutofit/>
                    </a:bodyPr>
                    <a:lstStyle/>
                    <a:p>
                      <a:r>
                        <a:rPr sz="1725" b="0">
                          <a:solidFill>
                            <a:srgbClr val="122D3D"/>
                          </a:solidFill>
                          <a:latin typeface="Arial"/>
                          <a:ea typeface="Arial"/>
                          <a:cs typeface="Arial"/>
                        </a:rPr>
                        <a:t>Escopo e plano</a:t>
                      </a:r>
                    </a:p>
                  </a:txBody>
                  <a:tcPr marL="91440" marR="91440" marT="45720" marB="45720">
                    <a:solidFill>
                      <a:srgbClr val="FFFFFF"/>
                    </a:solidFill>
                  </a:tcPr>
                </a:tc>
              </a:tr>
              <a:tr h="495300">
                <a:tc>
                  <a:txBody>
                    <a:bodyPr lIns="114300" tIns="76200" rIns="114300" bIns="76200">
                      <a:noAutofit/>
                    </a:bodyPr>
                    <a:lstStyle/>
                    <a:p>
                      <a:r>
                        <a:rPr sz="1725" b="0">
                          <a:solidFill>
                            <a:srgbClr val="122D3D"/>
                          </a:solidFill>
                          <a:latin typeface="Arial"/>
                          <a:ea typeface="Arial"/>
                          <a:cs typeface="Arial"/>
                        </a:rPr>
                        <a:t>Integrante 2</a:t>
                      </a:r>
                    </a:p>
                  </a:txBody>
                  <a:tcPr marL="91440" marR="91440" marT="45720" marB="45720">
                    <a:solidFill>
                      <a:srgbClr val="FFFFFF"/>
                    </a:solidFill>
                  </a:tcPr>
                </a:tc>
                <a:tc>
                  <a:txBody>
                    <a:bodyPr lIns="114300" tIns="76200" rIns="114300" bIns="76200">
                      <a:noAutofit/>
                    </a:bodyPr>
                    <a:lstStyle/>
                    <a:p>
                      <a:r>
                        <a:rPr sz="1725" b="0">
                          <a:solidFill>
                            <a:srgbClr val="122D3D"/>
                          </a:solidFill>
                          <a:latin typeface="Arial"/>
                          <a:ea typeface="Arial"/>
                          <a:cs typeface="Arial"/>
                        </a:rPr>
                        <a:t>Dados, 240 h</a:t>
                      </a:r>
                    </a:p>
                  </a:txBody>
                  <a:tcPr marL="91440" marR="91440" marT="45720" marB="45720">
                    <a:solidFill>
                      <a:srgbClr val="FFFFFF"/>
                    </a:solidFill>
                  </a:tcPr>
                </a:tc>
                <a:tc>
                  <a:txBody>
                    <a:bodyPr lIns="114300" tIns="76200" rIns="114300" bIns="76200">
                      <a:noAutofit/>
                    </a:bodyPr>
                    <a:lstStyle/>
                    <a:p>
                      <a:r>
                        <a:rPr sz="1725" b="0">
                          <a:solidFill>
                            <a:srgbClr val="122D3D"/>
                          </a:solidFill>
                          <a:latin typeface="Arial"/>
                          <a:ea typeface="Arial"/>
                          <a:cs typeface="Arial"/>
                        </a:rPr>
                        <a:t>Importação e análise</a:t>
                      </a:r>
                    </a:p>
                  </a:txBody>
                  <a:tcPr marL="91440" marR="91440" marT="45720" marB="45720">
                    <a:solidFill>
                      <a:srgbClr val="FFFFFF"/>
                    </a:solidFill>
                  </a:tcPr>
                </a:tc>
              </a:tr>
              <a:tr h="495300">
                <a:tc>
                  <a:txBody>
                    <a:bodyPr lIns="114300" tIns="76200" rIns="114300" bIns="76200">
                      <a:noAutofit/>
                    </a:bodyPr>
                    <a:lstStyle/>
                    <a:p>
                      <a:r>
                        <a:rPr sz="1725" b="0">
                          <a:solidFill>
                            <a:srgbClr val="122D3D"/>
                          </a:solidFill>
                          <a:latin typeface="Arial"/>
                          <a:ea typeface="Arial"/>
                          <a:cs typeface="Arial"/>
                        </a:rPr>
                        <a:t>Integrante 3</a:t>
                      </a:r>
                    </a:p>
                  </a:txBody>
                  <a:tcPr marL="91440" marR="91440" marT="45720" marB="45720">
                    <a:solidFill>
                      <a:srgbClr val="FFFFFF"/>
                    </a:solidFill>
                  </a:tcPr>
                </a:tc>
                <a:tc>
                  <a:txBody>
                    <a:bodyPr lIns="114300" tIns="76200" rIns="114300" bIns="76200">
                      <a:noAutofit/>
                    </a:bodyPr>
                    <a:lstStyle/>
                    <a:p>
                      <a:r>
                        <a:rPr sz="1725" b="0">
                          <a:solidFill>
                            <a:srgbClr val="122D3D"/>
                          </a:solidFill>
                          <a:latin typeface="Arial"/>
                          <a:ea typeface="Arial"/>
                          <a:cs typeface="Arial"/>
                        </a:rPr>
                        <a:t>Desenvolvimento, 320 h</a:t>
                      </a:r>
                    </a:p>
                  </a:txBody>
                  <a:tcPr marL="91440" marR="91440" marT="45720" marB="45720">
                    <a:solidFill>
                      <a:srgbClr val="FFFFFF"/>
                    </a:solidFill>
                  </a:tcPr>
                </a:tc>
                <a:tc>
                  <a:txBody>
                    <a:bodyPr lIns="114300" tIns="76200" rIns="114300" bIns="76200">
                      <a:noAutofit/>
                    </a:bodyPr>
                    <a:lstStyle/>
                    <a:p>
                      <a:r>
                        <a:rPr sz="1725" b="0">
                          <a:solidFill>
                            <a:srgbClr val="122D3D"/>
                          </a:solidFill>
                          <a:latin typeface="Arial"/>
                          <a:ea typeface="Arial"/>
                          <a:cs typeface="Arial"/>
                        </a:rPr>
                        <a:t>POC e arquitetura</a:t>
                      </a:r>
                    </a:p>
                  </a:txBody>
                  <a:tcPr marL="91440" marR="91440" marT="45720" marB="45720">
                    <a:solidFill>
                      <a:srgbClr val="FFFFFF"/>
                    </a:solidFill>
                  </a:tcPr>
                </a:tc>
              </a:tr>
              <a:tr h="495300">
                <a:tc>
                  <a:txBody>
                    <a:bodyPr lIns="114300" tIns="76200" rIns="114300" bIns="76200">
                      <a:noAutofit/>
                    </a:bodyPr>
                    <a:lstStyle/>
                    <a:p>
                      <a:r>
                        <a:rPr sz="1725" b="0">
                          <a:solidFill>
                            <a:srgbClr val="122D3D"/>
                          </a:solidFill>
                          <a:latin typeface="Arial"/>
                          <a:ea typeface="Arial"/>
                          <a:cs typeface="Arial"/>
                        </a:rPr>
                        <a:t>Integrante 4</a:t>
                      </a:r>
                    </a:p>
                  </a:txBody>
                  <a:tcPr marL="91440" marR="91440" marT="45720" marB="45720">
                    <a:solidFill>
                      <a:srgbClr val="FFFFFF"/>
                    </a:solidFill>
                  </a:tcPr>
                </a:tc>
                <a:tc>
                  <a:txBody>
                    <a:bodyPr lIns="114300" tIns="76200" rIns="114300" bIns="76200">
                      <a:noAutofit/>
                    </a:bodyPr>
                    <a:lstStyle/>
                    <a:p>
                      <a:r>
                        <a:rPr sz="1725" b="0">
                          <a:solidFill>
                            <a:srgbClr val="122D3D"/>
                          </a:solidFill>
                          <a:latin typeface="Arial"/>
                          <a:ea typeface="Arial"/>
                          <a:cs typeface="Arial"/>
                        </a:rPr>
                        <a:t>Testes e documentação, 160 h</a:t>
                      </a:r>
                    </a:p>
                  </a:txBody>
                  <a:tcPr marL="91440" marR="91440" marT="45720" marB="45720">
                    <a:solidFill>
                      <a:srgbClr val="FFFFFF"/>
                    </a:solidFill>
                  </a:tcPr>
                </a:tc>
                <a:tc>
                  <a:txBody>
                    <a:bodyPr lIns="114300" tIns="76200" rIns="114300" bIns="76200">
                      <a:noAutofit/>
                    </a:bodyPr>
                    <a:lstStyle/>
                    <a:p>
                      <a:r>
                        <a:rPr sz="1725" b="0">
                          <a:solidFill>
                            <a:srgbClr val="122D3D"/>
                          </a:solidFill>
                          <a:latin typeface="Arial"/>
                          <a:ea typeface="Arial"/>
                          <a:cs typeface="Arial"/>
                        </a:rPr>
                        <a:t>Testes e reprodução</a:t>
                      </a:r>
                    </a:p>
                  </a:txBody>
                  <a:tcPr marL="91440" marR="91440" marT="45720" marB="45720">
                    <a:solidFill>
                      <a:srgbClr val="FFFFFF"/>
                    </a:solidFill>
                  </a:tcPr>
                </a:tc>
              </a:tr>
            </a:tbl>
          </a:graphicData>
        </a:graphic>
      </p:graphicFrame>
      <p:graphicFrame>
        <p:nvGraphicFramePr>
          <p:cNvPr id="9" name=""/>
          <p:cNvGraphicFramePr/>
          <p:nvPr/>
        </p:nvGraphicFramePr>
        <p:xfrm>
          <a:off xmlns:a="http://schemas.openxmlformats.org/drawingml/2006/main" x="609600" y="4219575"/>
          <a:ext xmlns:a="http://schemas.openxmlformats.org/drawingml/2006/main" cx="10972800" cy="1952625"/>
        </p:xfrm>
        <a:graphic xmlns:a="http://schemas.openxmlformats.org/drawingml/2006/main">
          <a:graphicData uri="http://schemas.openxmlformats.org/drawingml/2006/table">
            <a:tbl>
              <a:tblPr/>
              <a:tblGrid>
                <a:gridCol w="1524000"/>
                <a:gridCol w="2857500"/>
                <a:gridCol w="6591300"/>
              </a:tblGrid>
              <a:tr h="390525">
                <a:tc>
                  <a:txBody>
                    <a:bodyPr lIns="114300" tIns="76200" rIns="114300" bIns="76200">
                      <a:noAutofit/>
                    </a:bodyPr>
                    <a:lstStyle/>
                    <a:p>
                      <a:r>
                        <a:rPr sz="1650" b="1">
                          <a:solidFill>
                            <a:srgbClr val="FFFFFF"/>
                          </a:solidFill>
                          <a:latin typeface="Arial"/>
                          <a:ea typeface="Arial"/>
                          <a:cs typeface="Arial"/>
                        </a:rPr>
                        <a:t>Semanas</a:t>
                      </a:r>
                    </a:p>
                  </a:txBody>
                  <a:tcPr marL="91440" marR="91440" marT="45720" marB="45720">
                    <a:solidFill>
                      <a:srgbClr val="122D3D"/>
                    </a:solidFill>
                  </a:tcPr>
                </a:tc>
                <a:tc>
                  <a:txBody>
                    <a:bodyPr lIns="114300" tIns="76200" rIns="114300" bIns="76200">
                      <a:noAutofit/>
                    </a:bodyPr>
                    <a:lstStyle/>
                    <a:p>
                      <a:r>
                        <a:rPr sz="1650" b="1">
                          <a:solidFill>
                            <a:srgbClr val="FFFFFF"/>
                          </a:solidFill>
                          <a:latin typeface="Arial"/>
                          <a:ea typeface="Arial"/>
                          <a:cs typeface="Arial"/>
                        </a:rPr>
                        <a:t>Marco</a:t>
                      </a:r>
                    </a:p>
                  </a:txBody>
                  <a:tcPr marL="91440" marR="91440" marT="45720" marB="45720">
                    <a:solidFill>
                      <a:srgbClr val="122D3D"/>
                    </a:solidFill>
                  </a:tcPr>
                </a:tc>
                <a:tc>
                  <a:txBody>
                    <a:bodyPr lIns="114300" tIns="76200" rIns="114300" bIns="76200">
                      <a:noAutofit/>
                    </a:bodyPr>
                    <a:lstStyle/>
                    <a:p>
                      <a:r>
                        <a:rPr sz="1650" b="1">
                          <a:solidFill>
                            <a:srgbClr val="FFFFFF"/>
                          </a:solidFill>
                          <a:latin typeface="Arial"/>
                          <a:ea typeface="Arial"/>
                          <a:cs typeface="Arial"/>
                        </a:rPr>
                        <a:t>Dependência e aceite</a:t>
                      </a:r>
                    </a:p>
                  </a:txBody>
                  <a:tcPr marL="91440" marR="91440" marT="45720" marB="45720">
                    <a:solidFill>
                      <a:srgbClr val="122D3D"/>
                    </a:solidFill>
                  </a:tcPr>
                </a:tc>
              </a:tr>
              <a:tr h="390525">
                <a:tc>
                  <a:txBody>
                    <a:bodyPr lIns="114300" tIns="76200" rIns="114300" bIns="76200">
                      <a:noAutofit/>
                    </a:bodyPr>
                    <a:lstStyle/>
                    <a:p>
                      <a:r>
                        <a:rPr sz="1650" b="0">
                          <a:solidFill>
                            <a:srgbClr val="122D3D"/>
                          </a:solidFill>
                          <a:latin typeface="Arial"/>
                          <a:ea typeface="Arial"/>
                          <a:cs typeface="Arial"/>
                        </a:rPr>
                        <a:t>1–2</a:t>
                      </a:r>
                    </a:p>
                  </a:txBody>
                  <a:tcPr marL="91440" marR="91440" marT="45720" marB="45720">
                    <a:solidFill>
                      <a:srgbClr val="FFFFFF"/>
                    </a:solidFill>
                  </a:tcPr>
                </a:tc>
                <a:tc>
                  <a:txBody>
                    <a:bodyPr lIns="114300" tIns="76200" rIns="114300" bIns="76200">
                      <a:noAutofit/>
                    </a:bodyPr>
                    <a:lstStyle/>
                    <a:p>
                      <a:r>
                        <a:rPr sz="1650" b="0">
                          <a:solidFill>
                            <a:srgbClr val="122D3D"/>
                          </a:solidFill>
                          <a:latin typeface="Arial"/>
                          <a:ea typeface="Arial"/>
                          <a:cs typeface="Arial"/>
                        </a:rPr>
                        <a:t>Escopo e regras</a:t>
                      </a:r>
                    </a:p>
                  </a:txBody>
                  <a:tcPr marL="91440" marR="91440" marT="45720" marB="45720">
                    <a:solidFill>
                      <a:srgbClr val="FFFFFF"/>
                    </a:solidFill>
                  </a:tcPr>
                </a:tc>
                <a:tc>
                  <a:txBody>
                    <a:bodyPr lIns="114300" tIns="76200" rIns="114300" bIns="76200">
                      <a:noAutofit/>
                    </a:bodyPr>
                    <a:lstStyle/>
                    <a:p>
                      <a:r>
                        <a:rPr sz="1650" b="0">
                          <a:solidFill>
                            <a:srgbClr val="122D3D"/>
                          </a:solidFill>
                          <a:latin typeface="Arial"/>
                          <a:ea typeface="Arial"/>
                          <a:cs typeface="Arial"/>
                        </a:rPr>
                        <a:t>Perguntas e recortes aprovados</a:t>
                      </a:r>
                    </a:p>
                  </a:txBody>
                  <a:tcPr marL="91440" marR="91440" marT="45720" marB="45720">
                    <a:solidFill>
                      <a:srgbClr val="FFFFFF"/>
                    </a:solidFill>
                  </a:tcPr>
                </a:tc>
              </a:tr>
              <a:tr h="390525">
                <a:tc>
                  <a:txBody>
                    <a:bodyPr lIns="114300" tIns="76200" rIns="114300" bIns="76200">
                      <a:noAutofit/>
                    </a:bodyPr>
                    <a:lstStyle/>
                    <a:p>
                      <a:r>
                        <a:rPr sz="1650" b="0">
                          <a:solidFill>
                            <a:srgbClr val="122D3D"/>
                          </a:solidFill>
                          <a:latin typeface="Arial"/>
                          <a:ea typeface="Arial"/>
                          <a:cs typeface="Arial"/>
                        </a:rPr>
                        <a:t>3–5</a:t>
                      </a:r>
                    </a:p>
                  </a:txBody>
                  <a:tcPr marL="91440" marR="91440" marT="45720" marB="45720">
                    <a:solidFill>
                      <a:srgbClr val="FFFFFF"/>
                    </a:solidFill>
                  </a:tcPr>
                </a:tc>
                <a:tc>
                  <a:txBody>
                    <a:bodyPr lIns="114300" tIns="76200" rIns="114300" bIns="76200">
                      <a:noAutofit/>
                    </a:bodyPr>
                    <a:lstStyle/>
                    <a:p>
                      <a:r>
                        <a:rPr sz="1650" b="0">
                          <a:solidFill>
                            <a:srgbClr val="122D3D"/>
                          </a:solidFill>
                          <a:latin typeface="Arial"/>
                          <a:ea typeface="Arial"/>
                          <a:cs typeface="Arial"/>
                        </a:rPr>
                        <a:t>Pipeline</a:t>
                      </a:r>
                    </a:p>
                  </a:txBody>
                  <a:tcPr marL="91440" marR="91440" marT="45720" marB="45720">
                    <a:solidFill>
                      <a:srgbClr val="FFFFFF"/>
                    </a:solidFill>
                  </a:tcPr>
                </a:tc>
                <a:tc>
                  <a:txBody>
                    <a:bodyPr lIns="114300" tIns="76200" rIns="114300" bIns="76200">
                      <a:noAutofit/>
                    </a:bodyPr>
                    <a:lstStyle/>
                    <a:p>
                      <a:r>
                        <a:rPr sz="1650" b="0">
                          <a:solidFill>
                            <a:srgbClr val="122D3D"/>
                          </a:solidFill>
                          <a:latin typeface="Arial"/>
                          <a:ea typeface="Arial"/>
                          <a:cs typeface="Arial"/>
                        </a:rPr>
                        <a:t>Esquema validado, total conciliado</a:t>
                      </a:r>
                    </a:p>
                  </a:txBody>
                  <a:tcPr marL="91440" marR="91440" marT="45720" marB="45720">
                    <a:solidFill>
                      <a:srgbClr val="FFFFFF"/>
                    </a:solidFill>
                  </a:tcPr>
                </a:tc>
              </a:tr>
              <a:tr h="390525">
                <a:tc>
                  <a:txBody>
                    <a:bodyPr lIns="114300" tIns="76200" rIns="114300" bIns="76200">
                      <a:noAutofit/>
                    </a:bodyPr>
                    <a:lstStyle/>
                    <a:p>
                      <a:r>
                        <a:rPr sz="1650" b="0">
                          <a:solidFill>
                            <a:srgbClr val="122D3D"/>
                          </a:solidFill>
                          <a:latin typeface="Arial"/>
                          <a:ea typeface="Arial"/>
                          <a:cs typeface="Arial"/>
                        </a:rPr>
                        <a:t>6–10</a:t>
                      </a:r>
                    </a:p>
                  </a:txBody>
                  <a:tcPr marL="91440" marR="91440" marT="45720" marB="45720">
                    <a:solidFill>
                      <a:srgbClr val="FFFFFF"/>
                    </a:solidFill>
                  </a:tcPr>
                </a:tc>
                <a:tc>
                  <a:txBody>
                    <a:bodyPr lIns="114300" tIns="76200" rIns="114300" bIns="76200">
                      <a:noAutofit/>
                    </a:bodyPr>
                    <a:lstStyle/>
                    <a:p>
                      <a:r>
                        <a:rPr sz="1650" b="0">
                          <a:solidFill>
                            <a:srgbClr val="122D3D"/>
                          </a:solidFill>
                          <a:latin typeface="Arial"/>
                          <a:ea typeface="Arial"/>
                          <a:cs typeface="Arial"/>
                        </a:rPr>
                        <a:t>POC integrada</a:t>
                      </a:r>
                    </a:p>
                  </a:txBody>
                  <a:tcPr marL="91440" marR="91440" marT="45720" marB="45720">
                    <a:solidFill>
                      <a:srgbClr val="FFFFFF"/>
                    </a:solidFill>
                  </a:tcPr>
                </a:tc>
                <a:tc>
                  <a:txBody>
                    <a:bodyPr lIns="114300" tIns="76200" rIns="114300" bIns="76200">
                      <a:noAutofit/>
                    </a:bodyPr>
                    <a:lstStyle/>
                    <a:p>
                      <a:r>
                        <a:rPr sz="1650" b="0">
                          <a:solidFill>
                            <a:srgbClr val="122D3D"/>
                          </a:solidFill>
                          <a:latin typeface="Arial"/>
                          <a:ea typeface="Arial"/>
                          <a:cs typeface="Arial"/>
                        </a:rPr>
                        <a:t>Dados prontos, jornada completa</a:t>
                      </a:r>
                    </a:p>
                  </a:txBody>
                  <a:tcPr marL="91440" marR="91440" marT="45720" marB="45720">
                    <a:solidFill>
                      <a:srgbClr val="FFFFFF"/>
                    </a:solidFill>
                  </a:tcPr>
                </a:tc>
              </a:tr>
              <a:tr h="390525">
                <a:tc>
                  <a:txBody>
                    <a:bodyPr lIns="114300" tIns="76200" rIns="114300" bIns="76200">
                      <a:noAutofit/>
                    </a:bodyPr>
                    <a:lstStyle/>
                    <a:p>
                      <a:r>
                        <a:rPr sz="1650" b="0">
                          <a:solidFill>
                            <a:srgbClr val="122D3D"/>
                          </a:solidFill>
                          <a:latin typeface="Arial"/>
                          <a:ea typeface="Arial"/>
                          <a:cs typeface="Arial"/>
                        </a:rPr>
                        <a:t>11–16</a:t>
                      </a:r>
                    </a:p>
                  </a:txBody>
                  <a:tcPr marL="91440" marR="91440" marT="45720" marB="45720">
                    <a:solidFill>
                      <a:srgbClr val="FFFFFF"/>
                    </a:solidFill>
                  </a:tcPr>
                </a:tc>
                <a:tc>
                  <a:txBody>
                    <a:bodyPr lIns="114300" tIns="76200" rIns="114300" bIns="76200">
                      <a:noAutofit/>
                    </a:bodyPr>
                    <a:lstStyle/>
                    <a:p>
                      <a:r>
                        <a:rPr sz="1650" b="0">
                          <a:solidFill>
                            <a:srgbClr val="122D3D"/>
                          </a:solidFill>
                          <a:latin typeface="Arial"/>
                          <a:ea typeface="Arial"/>
                          <a:cs typeface="Arial"/>
                        </a:rPr>
                        <a:t>Validação e implantação</a:t>
                      </a:r>
                    </a:p>
                  </a:txBody>
                  <a:tcPr marL="91440" marR="91440" marT="45720" marB="45720">
                    <a:solidFill>
                      <a:srgbClr val="FFFFFF"/>
                    </a:solidFill>
                  </a:tcPr>
                </a:tc>
                <a:tc>
                  <a:txBody>
                    <a:bodyPr lIns="114300" tIns="76200" rIns="114300" bIns="76200">
                      <a:noAutofit/>
                    </a:bodyPr>
                    <a:lstStyle/>
                    <a:p>
                      <a:r>
                        <a:rPr sz="1650" b="0">
                          <a:solidFill>
                            <a:srgbClr val="122D3D"/>
                          </a:solidFill>
                          <a:latin typeface="Arial"/>
                          <a:ea typeface="Arial"/>
                          <a:cs typeface="Arial"/>
                        </a:rPr>
                        <a:t>Jornada testada, reprodução documentada</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417DBEFA-4AC1-49A0-A0F2-3B2BFEF26496}"/>
              </a:ext>
            </a:extLst>
          </p:cNvPr>
          <p:cNvSpPr>
            <a:spLocks xmlns:a="http://schemas.openxmlformats.org/drawingml/2006/main" noGrp="1"/>
          </p:cNvSpPr>
          <p:nvPr/>
        </p:nvSpPr>
        <p:spPr>
          <a:xfrm xmlns:a="http://schemas.openxmlformats.org/drawingml/2006/main">
            <a:off x="609600" y="6353175"/>
            <a:ext cx="10144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4F6570"/>
                </a:solidFill>
                <a:latin typeface="Arial"/>
                <a:ea typeface="Arial"/>
                <a:cs typeface="Arial"/>
              </a:defRPr>
            </a:pPr>
            <a:r>
              <a:rPr sz="1275" b="0">
                <a:solidFill>
                  <a:srgbClr val="4F6570"/>
                </a:solidFill>
                <a:latin typeface="Arial"/>
                <a:ea typeface="Arial"/>
                <a:cs typeface="Arial"/>
              </a:rPr>
              <a:t>Funções e horas planejadas. A POC da atividade funciona agora. Evolução posterior simulada.</a:t>
            </a:r>
          </a:p>
        </p:txBody>
      </p:sp>
    </p:spTree>
    <p:extLst>
      <p:ext uri="{BB962C8B-B14F-4D97-AF65-F5344CB8AC3E}">
        <p14:creationId xmlns:p14="http://schemas.microsoft.com/office/powerpoint/2010/main" val="43096244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5FA2A5D-6376-4DF1-B1D7-C9BA218F82C1}"/>
              </a:ext>
            </a:extLst>
          </p:cNvPr>
          <p:cNvSpPr>
            <a:spLocks xmlns:a="http://schemas.openxmlformats.org/drawingml/2006/main" noGrp="1"/>
          </p:cNvSpPr>
          <p:nvPr/>
        </p:nvSpPr>
        <p:spPr>
          <a:xfrm xmlns:a="http://schemas.openxmlformats.org/drawingml/2006/main">
            <a:off x="609600" y="38100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00" b="1">
                <a:solidFill>
                  <a:srgbClr val="122D3D"/>
                </a:solidFill>
                <a:latin typeface="Arial"/>
                <a:ea typeface="Arial"/>
                <a:cs typeface="Arial"/>
              </a:defRPr>
            </a:pPr>
            <a:r>
              <a:rPr sz="3300" b="1">
                <a:solidFill>
                  <a:srgbClr val="122D3D"/>
                </a:solidFill>
                <a:latin typeface="Arial"/>
                <a:ea typeface="Arial"/>
                <a:cs typeface="Arial"/>
              </a:rPr>
              <a:t>Orçamento fictício e principais riscos</a:t>
            </a:r>
          </a:p>
        </p:txBody>
      </p:sp>
      <p:sp>
        <p:nvSpPr>
          <p:cNvPr id="2" name="">
            <a:extLst xmlns:a="http://schemas.openxmlformats.org/drawingml/2006/main">
              <a:ext uri="{FF2B5EF4-FFF2-40B4-BE49-F238E27FC236}">
                <a16:creationId xmlns:a16="http://schemas.microsoft.com/office/drawing/2014/main" id="{E4F0A5EF-2E07-462C-88AE-DD50007E381E}"/>
              </a:ext>
            </a:extLst>
          </p:cNvPr>
          <p:cNvSpPr>
            <a:spLocks xmlns:a="http://schemas.openxmlformats.org/drawingml/2006/main" noGrp="1"/>
          </p:cNvSpPr>
          <p:nvPr/>
        </p:nvSpPr>
        <p:spPr>
          <a:xfrm xmlns:a="http://schemas.openxmlformats.org/drawingml/2006/main">
            <a:off x="10991850" y="6391275"/>
            <a:ext cx="5905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350" b="0">
                <a:solidFill>
                  <a:srgbClr val="4F6570"/>
                </a:solidFill>
                <a:latin typeface="Arial"/>
                <a:ea typeface="Arial"/>
                <a:cs typeface="Arial"/>
              </a:defRPr>
            </a:pPr>
            <a:r>
              <a:rPr sz="1350" b="0">
                <a:solidFill>
                  <a:srgbClr val="4F6570"/>
                </a:solidFill>
                <a:latin typeface="Arial"/>
                <a:ea typeface="Arial"/>
                <a:cs typeface="Arial"/>
              </a:rPr>
              <a:t>7/8</a:t>
            </a:r>
          </a:p>
        </p:txBody>
      </p:sp>
      <p:graphicFrame>
        <p:nvGraphicFramePr>
          <p:cNvPr id="15" name=""/>
          <p:cNvGraphicFramePr/>
          <p:nvPr/>
        </p:nvGraphicFramePr>
        <p:xfrm>
          <a:off xmlns:a="http://schemas.openxmlformats.org/drawingml/2006/main" x="609600" y="1409700"/>
          <a:ext xmlns:a="http://schemas.openxmlformats.org/drawingml/2006/main" cx="6086475" cy="3400425"/>
        </p:xfrm>
        <a:graphic xmlns:a="http://schemas.openxmlformats.org/drawingml/2006/main">
          <a:graphicData uri="http://schemas.openxmlformats.org/drawingml/2006/table">
            <a:tbl>
              <a:tblPr/>
              <a:tblGrid>
                <a:gridCol w="4352925"/>
                <a:gridCol w="1733550"/>
              </a:tblGrid>
              <a:tr h="425053">
                <a:tc>
                  <a:txBody>
                    <a:bodyPr lIns="114300" tIns="76200" rIns="114300" bIns="76200">
                      <a:noAutofit/>
                    </a:bodyPr>
                    <a:lstStyle/>
                    <a:p>
                      <a:r>
                        <a:rPr sz="1650" b="1">
                          <a:solidFill>
                            <a:srgbClr val="FFFFFF"/>
                          </a:solidFill>
                          <a:latin typeface="Arial"/>
                          <a:ea typeface="Arial"/>
                          <a:cs typeface="Arial"/>
                        </a:rPr>
                        <a:t>Cálculo</a:t>
                      </a:r>
                    </a:p>
                  </a:txBody>
                  <a:tcPr marL="91440" marR="91440" marT="45720" marB="45720">
                    <a:solidFill>
                      <a:srgbClr val="122D3D"/>
                    </a:solidFill>
                  </a:tcPr>
                </a:tc>
                <a:tc>
                  <a:txBody>
                    <a:bodyPr lIns="114300" tIns="76200" rIns="114300" bIns="76200">
                      <a:noAutofit/>
                    </a:bodyPr>
                    <a:lstStyle/>
                    <a:p>
                      <a:r>
                        <a:rPr sz="1650" b="1">
                          <a:solidFill>
                            <a:srgbClr val="FFFFFF"/>
                          </a:solidFill>
                          <a:latin typeface="Arial"/>
                          <a:ea typeface="Arial"/>
                          <a:cs typeface="Arial"/>
                        </a:rPr>
                        <a:t>Valor (R$)</a:t>
                      </a:r>
                    </a:p>
                  </a:txBody>
                  <a:tcPr marL="91440" marR="91440" marT="45720" marB="45720">
                    <a:solidFill>
                      <a:srgbClr val="122D3D"/>
                    </a:solidFill>
                  </a:tcPr>
                </a:tc>
              </a:tr>
              <a:tr h="425053">
                <a:tc>
                  <a:txBody>
                    <a:bodyPr lIns="114300" tIns="76200" rIns="114300" bIns="76200">
                      <a:noAutofit/>
                    </a:bodyPr>
                    <a:lstStyle/>
                    <a:p>
                      <a:r>
                        <a:rPr sz="1650" b="0">
                          <a:solidFill>
                            <a:srgbClr val="122D3D"/>
                          </a:solidFill>
                          <a:latin typeface="Arial"/>
                          <a:ea typeface="Arial"/>
                          <a:cs typeface="Arial"/>
                        </a:rPr>
                        <a:t>Produto: 160 h × R$ 70</a:t>
                      </a:r>
                    </a:p>
                  </a:txBody>
                  <a:tcPr marL="91440" marR="91440" marT="45720" marB="45720">
                    <a:solidFill>
                      <a:srgbClr val="FFFFFF"/>
                    </a:solidFill>
                  </a:tcPr>
                </a:tc>
                <a:tc>
                  <a:txBody>
                    <a:bodyPr lIns="114300" tIns="76200" rIns="114300" bIns="76200">
                      <a:noAutofit/>
                    </a:bodyPr>
                    <a:lstStyle/>
                    <a:p>
                      <a:r>
                        <a:rPr sz="1650" b="0">
                          <a:solidFill>
                            <a:srgbClr val="122D3D"/>
                          </a:solidFill>
                          <a:latin typeface="Arial"/>
                          <a:ea typeface="Arial"/>
                          <a:cs typeface="Arial"/>
                        </a:rPr>
                        <a:t>11200</a:t>
                      </a:r>
                    </a:p>
                  </a:txBody>
                  <a:tcPr marL="91440" marR="91440" marT="45720" marB="45720">
                    <a:solidFill>
                      <a:srgbClr val="FFFFFF"/>
                    </a:solidFill>
                  </a:tcPr>
                </a:tc>
              </a:tr>
              <a:tr h="425053">
                <a:tc>
                  <a:txBody>
                    <a:bodyPr lIns="114300" tIns="76200" rIns="114300" bIns="76200">
                      <a:noAutofit/>
                    </a:bodyPr>
                    <a:lstStyle/>
                    <a:p>
                      <a:r>
                        <a:rPr sz="1650" b="0">
                          <a:solidFill>
                            <a:srgbClr val="122D3D"/>
                          </a:solidFill>
                          <a:latin typeface="Arial"/>
                          <a:ea typeface="Arial"/>
                          <a:cs typeface="Arial"/>
                        </a:rPr>
                        <a:t>Dados: 240 h × R$ 80</a:t>
                      </a:r>
                    </a:p>
                  </a:txBody>
                  <a:tcPr marL="91440" marR="91440" marT="45720" marB="45720">
                    <a:solidFill>
                      <a:srgbClr val="FFFFFF"/>
                    </a:solidFill>
                  </a:tcPr>
                </a:tc>
                <a:tc>
                  <a:txBody>
                    <a:bodyPr lIns="114300" tIns="76200" rIns="114300" bIns="76200">
                      <a:noAutofit/>
                    </a:bodyPr>
                    <a:lstStyle/>
                    <a:p>
                      <a:r>
                        <a:rPr sz="1650" b="0">
                          <a:solidFill>
                            <a:srgbClr val="122D3D"/>
                          </a:solidFill>
                          <a:latin typeface="Arial"/>
                          <a:ea typeface="Arial"/>
                          <a:cs typeface="Arial"/>
                        </a:rPr>
                        <a:t>19200</a:t>
                      </a:r>
                    </a:p>
                  </a:txBody>
                  <a:tcPr marL="91440" marR="91440" marT="45720" marB="45720">
                    <a:solidFill>
                      <a:srgbClr val="FFFFFF"/>
                    </a:solidFill>
                  </a:tcPr>
                </a:tc>
              </a:tr>
              <a:tr h="425053">
                <a:tc>
                  <a:txBody>
                    <a:bodyPr lIns="114300" tIns="76200" rIns="114300" bIns="76200">
                      <a:noAutofit/>
                    </a:bodyPr>
                    <a:lstStyle/>
                    <a:p>
                      <a:r>
                        <a:rPr sz="1650" b="0">
                          <a:solidFill>
                            <a:srgbClr val="122D3D"/>
                          </a:solidFill>
                          <a:latin typeface="Arial"/>
                          <a:ea typeface="Arial"/>
                          <a:cs typeface="Arial"/>
                        </a:rPr>
                        <a:t>Desenvolvimento: 320 h × R$ 90</a:t>
                      </a:r>
                    </a:p>
                  </a:txBody>
                  <a:tcPr marL="91440" marR="91440" marT="45720" marB="45720">
                    <a:solidFill>
                      <a:srgbClr val="FFFFFF"/>
                    </a:solidFill>
                  </a:tcPr>
                </a:tc>
                <a:tc>
                  <a:txBody>
                    <a:bodyPr lIns="114300" tIns="76200" rIns="114300" bIns="76200">
                      <a:noAutofit/>
                    </a:bodyPr>
                    <a:lstStyle/>
                    <a:p>
                      <a:r>
                        <a:rPr sz="1650" b="0">
                          <a:solidFill>
                            <a:srgbClr val="122D3D"/>
                          </a:solidFill>
                          <a:latin typeface="Arial"/>
                          <a:ea typeface="Arial"/>
                          <a:cs typeface="Arial"/>
                        </a:rPr>
                        <a:t>28800</a:t>
                      </a:r>
                    </a:p>
                  </a:txBody>
                  <a:tcPr marL="91440" marR="91440" marT="45720" marB="45720">
                    <a:solidFill>
                      <a:srgbClr val="FFFFFF"/>
                    </a:solidFill>
                  </a:tcPr>
                </a:tc>
              </a:tr>
              <a:tr h="425053">
                <a:tc>
                  <a:txBody>
                    <a:bodyPr lIns="114300" tIns="76200" rIns="114300" bIns="76200">
                      <a:noAutofit/>
                    </a:bodyPr>
                    <a:lstStyle/>
                    <a:p>
                      <a:r>
                        <a:rPr sz="1650" b="0">
                          <a:solidFill>
                            <a:srgbClr val="122D3D"/>
                          </a:solidFill>
                          <a:latin typeface="Arial"/>
                          <a:ea typeface="Arial"/>
                          <a:cs typeface="Arial"/>
                        </a:rPr>
                        <a:t>Qualidade: 160 h × R$ 60</a:t>
                      </a:r>
                    </a:p>
                  </a:txBody>
                  <a:tcPr marL="91440" marR="91440" marT="45720" marB="45720">
                    <a:solidFill>
                      <a:srgbClr val="FFFFFF"/>
                    </a:solidFill>
                  </a:tcPr>
                </a:tc>
                <a:tc>
                  <a:txBody>
                    <a:bodyPr lIns="114300" tIns="76200" rIns="114300" bIns="76200">
                      <a:noAutofit/>
                    </a:bodyPr>
                    <a:lstStyle/>
                    <a:p>
                      <a:r>
                        <a:rPr sz="1650" b="0">
                          <a:solidFill>
                            <a:srgbClr val="122D3D"/>
                          </a:solidFill>
                          <a:latin typeface="Arial"/>
                          <a:ea typeface="Arial"/>
                          <a:cs typeface="Arial"/>
                        </a:rPr>
                        <a:t>9600</a:t>
                      </a:r>
                    </a:p>
                  </a:txBody>
                  <a:tcPr marL="91440" marR="91440" marT="45720" marB="45720">
                    <a:solidFill>
                      <a:srgbClr val="FFFFFF"/>
                    </a:solidFill>
                  </a:tcPr>
                </a:tc>
              </a:tr>
              <a:tr h="425053">
                <a:tc>
                  <a:txBody>
                    <a:bodyPr lIns="114300" tIns="76200" rIns="114300" bIns="76200">
                      <a:noAutofit/>
                    </a:bodyPr>
                    <a:lstStyle/>
                    <a:p>
                      <a:r>
                        <a:rPr sz="1650" b="0">
                          <a:solidFill>
                            <a:srgbClr val="122D3D"/>
                          </a:solidFill>
                          <a:latin typeface="Arial"/>
                          <a:ea typeface="Arial"/>
                          <a:cs typeface="Arial"/>
                        </a:rPr>
                        <a:t>Infraestrutura e licenças</a:t>
                      </a:r>
                    </a:p>
                  </a:txBody>
                  <a:tcPr marL="91440" marR="91440" marT="45720" marB="45720">
                    <a:solidFill>
                      <a:srgbClr val="FFFFFF"/>
                    </a:solidFill>
                  </a:tcPr>
                </a:tc>
                <a:tc>
                  <a:txBody>
                    <a:bodyPr lIns="114300" tIns="76200" rIns="114300" bIns="76200">
                      <a:noAutofit/>
                    </a:bodyPr>
                    <a:lstStyle/>
                    <a:p>
                      <a:r>
                        <a:rPr sz="1650" b="0">
                          <a:solidFill>
                            <a:srgbClr val="122D3D"/>
                          </a:solidFill>
                          <a:latin typeface="Arial"/>
                          <a:ea typeface="Arial"/>
                          <a:cs typeface="Arial"/>
                        </a:rPr>
                        <a:t>3200</a:t>
                      </a:r>
                    </a:p>
                  </a:txBody>
                  <a:tcPr marL="91440" marR="91440" marT="45720" marB="45720">
                    <a:solidFill>
                      <a:srgbClr val="FFFFFF"/>
                    </a:solidFill>
                  </a:tcPr>
                </a:tc>
              </a:tr>
              <a:tr h="425053">
                <a:tc>
                  <a:txBody>
                    <a:bodyPr lIns="114300" tIns="76200" rIns="114300" bIns="76200">
                      <a:noAutofit/>
                    </a:bodyPr>
                    <a:lstStyle/>
                    <a:p>
                      <a:r>
                        <a:rPr sz="1650" b="0">
                          <a:solidFill>
                            <a:srgbClr val="122D3D"/>
                          </a:solidFill>
                          <a:latin typeface="Arial"/>
                          <a:ea typeface="Arial"/>
                          <a:cs typeface="Arial"/>
                        </a:rPr>
                        <a:t>Contingência: 20% de R$ 72.000</a:t>
                      </a:r>
                    </a:p>
                  </a:txBody>
                  <a:tcPr marL="91440" marR="91440" marT="45720" marB="45720">
                    <a:solidFill>
                      <a:srgbClr val="FFFFFF"/>
                    </a:solidFill>
                  </a:tcPr>
                </a:tc>
                <a:tc>
                  <a:txBody>
                    <a:bodyPr lIns="114300" tIns="76200" rIns="114300" bIns="76200">
                      <a:noAutofit/>
                    </a:bodyPr>
                    <a:lstStyle/>
                    <a:p>
                      <a:r>
                        <a:rPr sz="1650" b="0">
                          <a:solidFill>
                            <a:srgbClr val="122D3D"/>
                          </a:solidFill>
                          <a:latin typeface="Arial"/>
                          <a:ea typeface="Arial"/>
                          <a:cs typeface="Arial"/>
                        </a:rPr>
                        <a:t>14400</a:t>
                      </a:r>
                    </a:p>
                  </a:txBody>
                  <a:tcPr marL="91440" marR="91440" marT="45720" marB="45720">
                    <a:solidFill>
                      <a:srgbClr val="FFFFFF"/>
                    </a:solidFill>
                  </a:tcPr>
                </a:tc>
              </a:tr>
              <a:tr h="425053">
                <a:tc>
                  <a:txBody>
                    <a:bodyPr lIns="114300" tIns="76200" rIns="114300" bIns="76200">
                      <a:noAutofit/>
                    </a:bodyPr>
                    <a:lstStyle/>
                    <a:p>
                      <a:r>
                        <a:rPr sz="1650" b="0">
                          <a:solidFill>
                            <a:srgbClr val="122D3D"/>
                          </a:solidFill>
                          <a:latin typeface="Arial"/>
                          <a:ea typeface="Arial"/>
                          <a:cs typeface="Arial"/>
                        </a:rPr>
                        <a:t>Total da POC</a:t>
                      </a:r>
                    </a:p>
                  </a:txBody>
                  <a:tcPr marL="91440" marR="91440" marT="45720" marB="45720">
                    <a:solidFill>
                      <a:srgbClr val="FFFFFF"/>
                    </a:solidFill>
                  </a:tcPr>
                </a:tc>
                <a:tc>
                  <a:txBody>
                    <a:bodyPr lIns="114300" tIns="76200" rIns="114300" bIns="76200">
                      <a:noAutofit/>
                    </a:bodyPr>
                    <a:lstStyle/>
                    <a:p>
                      <a:r>
                        <a:rPr sz="1650" b="0">
                          <a:solidFill>
                            <a:srgbClr val="122D3D"/>
                          </a:solidFill>
                          <a:latin typeface="Arial"/>
                          <a:ea typeface="Arial"/>
                          <a:cs typeface="Arial"/>
                        </a:rPr>
                        <a:t>86400</a:t>
                      </a:r>
                    </a:p>
                  </a:txBody>
                  <a:tcPr marL="91440" marR="91440" marT="45720" marB="4572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EA0B9F81-9D57-467B-BBEE-79B07E3BDD2D}"/>
              </a:ext>
            </a:extLst>
          </p:cNvPr>
          <p:cNvSpPr>
            <a:spLocks xmlns:a="http://schemas.openxmlformats.org/drawingml/2006/main" noGrp="1"/>
          </p:cNvSpPr>
          <p:nvPr/>
        </p:nvSpPr>
        <p:spPr>
          <a:xfrm xmlns:a="http://schemas.openxmlformats.org/drawingml/2006/main">
            <a:off x="609600" y="5219700"/>
            <a:ext cx="60864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87E8B"/>
                </a:solidFill>
                <a:latin typeface="Arial"/>
                <a:ea typeface="Arial"/>
                <a:cs typeface="Arial"/>
              </a:defRPr>
            </a:pPr>
            <a:r>
              <a:rPr sz="2250" b="1">
                <a:solidFill>
                  <a:srgbClr val="087E8B"/>
                </a:solidFill>
                <a:latin typeface="Arial"/>
                <a:ea typeface="Arial"/>
                <a:cs typeface="Arial"/>
              </a:rPr>
              <a:t>Operação: R$ 1.800/mês</a:t>
            </a:r>
          </a:p>
        </p:txBody>
      </p:sp>
      <p:sp>
        <p:nvSpPr>
          <p:cNvPr id="5" name="">
            <a:extLst xmlns:a="http://schemas.openxmlformats.org/drawingml/2006/main">
              <a:ext uri="{FF2B5EF4-FFF2-40B4-BE49-F238E27FC236}">
                <a16:creationId xmlns:a16="http://schemas.microsoft.com/office/drawing/2014/main" id="{7947EEA6-7692-440A-B4E7-12A9739462D9}"/>
              </a:ext>
            </a:extLst>
          </p:cNvPr>
          <p:cNvSpPr>
            <a:spLocks xmlns:a="http://schemas.openxmlformats.org/drawingml/2006/main" noGrp="1"/>
          </p:cNvSpPr>
          <p:nvPr/>
        </p:nvSpPr>
        <p:spPr>
          <a:xfrm xmlns:a="http://schemas.openxmlformats.org/drawingml/2006/main">
            <a:off x="609600" y="5695950"/>
            <a:ext cx="6096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22D3D"/>
                </a:solidFill>
                <a:latin typeface="Arial"/>
                <a:ea typeface="Arial"/>
                <a:cs typeface="Arial"/>
              </a:defRPr>
            </a:pPr>
            <a:r>
              <a:rPr sz="1725" b="0">
                <a:solidFill>
                  <a:srgbClr val="122D3D"/>
                </a:solidFill>
                <a:latin typeface="Arial"/>
                <a:ea typeface="Arial"/>
                <a:cs typeface="Arial"/>
              </a:rPr>
              <a:t>12 h × R$ 100 + R$ 600 de infraestrutura</a:t>
            </a:r>
          </a:p>
        </p:txBody>
      </p:sp>
      <p:sp>
        <p:nvSpPr>
          <p:cNvPr id="6" name="">
            <a:extLst xmlns:a="http://schemas.openxmlformats.org/drawingml/2006/main">
              <a:ext uri="{FF2B5EF4-FFF2-40B4-BE49-F238E27FC236}">
                <a16:creationId xmlns:a16="http://schemas.microsoft.com/office/drawing/2014/main" id="{A7169660-99AB-45CD-B581-126822BBD823}"/>
              </a:ext>
            </a:extLst>
          </p:cNvPr>
          <p:cNvSpPr>
            <a:spLocks xmlns:a="http://schemas.openxmlformats.org/drawingml/2006/main" noGrp="1"/>
          </p:cNvSpPr>
          <p:nvPr/>
        </p:nvSpPr>
        <p:spPr>
          <a:xfrm xmlns:a="http://schemas.openxmlformats.org/drawingml/2006/main">
            <a:off x="7124700" y="1409700"/>
            <a:ext cx="4476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1">
                <a:solidFill>
                  <a:srgbClr val="4F6570"/>
                </a:solidFill>
                <a:latin typeface="Arial"/>
                <a:ea typeface="Arial"/>
                <a:cs typeface="Arial"/>
              </a:defRPr>
            </a:pPr>
            <a:r>
              <a:rPr sz="1950" b="1">
                <a:solidFill>
                  <a:srgbClr val="4F6570"/>
                </a:solidFill>
                <a:latin typeface="Arial"/>
                <a:ea typeface="Arial"/>
                <a:cs typeface="Arial"/>
              </a:rPr>
              <a:t>Dados incompletos</a:t>
            </a:r>
          </a:p>
        </p:txBody>
      </p:sp>
      <p:sp>
        <p:nvSpPr>
          <p:cNvPr id="7" name="">
            <a:extLst xmlns:a="http://schemas.openxmlformats.org/drawingml/2006/main">
              <a:ext uri="{FF2B5EF4-FFF2-40B4-BE49-F238E27FC236}">
                <a16:creationId xmlns:a16="http://schemas.microsoft.com/office/drawing/2014/main" id="{A578279D-7A29-41D3-966D-5E1B2B9D686F}"/>
              </a:ext>
            </a:extLst>
          </p:cNvPr>
          <p:cNvSpPr>
            <a:spLocks xmlns:a="http://schemas.openxmlformats.org/drawingml/2006/main" noGrp="1"/>
          </p:cNvSpPr>
          <p:nvPr/>
        </p:nvSpPr>
        <p:spPr>
          <a:xfrm xmlns:a="http://schemas.openxmlformats.org/drawingml/2006/main">
            <a:off x="7124700" y="1828800"/>
            <a:ext cx="44577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0">
                <a:solidFill>
                  <a:srgbClr val="122D3D"/>
                </a:solidFill>
                <a:latin typeface="Arial"/>
                <a:ea typeface="Arial"/>
                <a:cs typeface="Arial"/>
              </a:defRPr>
            </a:pPr>
            <a:r>
              <a:rPr sz="1875" b="0">
                <a:solidFill>
                  <a:srgbClr val="122D3D"/>
                </a:solidFill>
                <a:latin typeface="Arial"/>
                <a:ea typeface="Arial"/>
                <a:cs typeface="Arial"/>
              </a:rPr>
              <a:t>Impacto: comparação enviesada. Dados valida cobertura e publica limites.</a:t>
            </a:r>
          </a:p>
        </p:txBody>
      </p:sp>
      <p:sp>
        <p:nvSpPr>
          <p:cNvPr id="8" name="">
            <a:extLst xmlns:a="http://schemas.openxmlformats.org/drawingml/2006/main">
              <a:ext uri="{FF2B5EF4-FFF2-40B4-BE49-F238E27FC236}">
                <a16:creationId xmlns:a16="http://schemas.microsoft.com/office/drawing/2014/main" id="{E1DC789C-4236-459E-822B-81F19748C750}"/>
              </a:ext>
            </a:extLst>
          </p:cNvPr>
          <p:cNvSpPr>
            <a:spLocks xmlns:a="http://schemas.openxmlformats.org/drawingml/2006/main" noGrp="1"/>
          </p:cNvSpPr>
          <p:nvPr/>
        </p:nvSpPr>
        <p:spPr>
          <a:xfrm xmlns:a="http://schemas.openxmlformats.org/drawingml/2006/main">
            <a:off x="7124700" y="2838450"/>
            <a:ext cx="4476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1">
                <a:solidFill>
                  <a:srgbClr val="4F6570"/>
                </a:solidFill>
                <a:latin typeface="Arial"/>
                <a:ea typeface="Arial"/>
                <a:cs typeface="Arial"/>
              </a:defRPr>
            </a:pPr>
            <a:r>
              <a:rPr sz="1950" b="1">
                <a:solidFill>
                  <a:srgbClr val="4F6570"/>
                </a:solidFill>
                <a:latin typeface="Arial"/>
                <a:ea typeface="Arial"/>
                <a:cs typeface="Arial"/>
              </a:rPr>
              <a:t>Volume e desempenho</a:t>
            </a:r>
          </a:p>
        </p:txBody>
      </p:sp>
      <p:sp>
        <p:nvSpPr>
          <p:cNvPr id="9" name="">
            <a:extLst xmlns:a="http://schemas.openxmlformats.org/drawingml/2006/main">
              <a:ext uri="{FF2B5EF4-FFF2-40B4-BE49-F238E27FC236}">
                <a16:creationId xmlns:a16="http://schemas.microsoft.com/office/drawing/2014/main" id="{D25BA306-5442-42DF-B0B9-C7CFB4CE6D8D}"/>
              </a:ext>
            </a:extLst>
          </p:cNvPr>
          <p:cNvSpPr>
            <a:spLocks xmlns:a="http://schemas.openxmlformats.org/drawingml/2006/main" noGrp="1"/>
          </p:cNvSpPr>
          <p:nvPr/>
        </p:nvSpPr>
        <p:spPr>
          <a:xfrm xmlns:a="http://schemas.openxmlformats.org/drawingml/2006/main">
            <a:off x="7124700" y="3257550"/>
            <a:ext cx="44577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0">
                <a:solidFill>
                  <a:srgbClr val="122D3D"/>
                </a:solidFill>
                <a:latin typeface="Arial"/>
                <a:ea typeface="Arial"/>
                <a:cs typeface="Arial"/>
              </a:defRPr>
            </a:pPr>
            <a:r>
              <a:rPr sz="1875" b="0">
                <a:solidFill>
                  <a:srgbClr val="122D3D"/>
                </a:solidFill>
                <a:latin typeface="Arial"/>
                <a:ea typeface="Arial"/>
                <a:cs typeface="Arial"/>
              </a:rPr>
              <a:t>Impacto: consulta lenta. Desenvolvimento usa índices e agrega no servidor.</a:t>
            </a:r>
          </a:p>
        </p:txBody>
      </p:sp>
      <p:sp>
        <p:nvSpPr>
          <p:cNvPr id="10" name="">
            <a:extLst xmlns:a="http://schemas.openxmlformats.org/drawingml/2006/main">
              <a:ext uri="{FF2B5EF4-FFF2-40B4-BE49-F238E27FC236}">
                <a16:creationId xmlns:a16="http://schemas.microsoft.com/office/drawing/2014/main" id="{5AFBC403-4120-4B28-8318-21294C3910DF}"/>
              </a:ext>
            </a:extLst>
          </p:cNvPr>
          <p:cNvSpPr>
            <a:spLocks xmlns:a="http://schemas.openxmlformats.org/drawingml/2006/main" noGrp="1"/>
          </p:cNvSpPr>
          <p:nvPr/>
        </p:nvSpPr>
        <p:spPr>
          <a:xfrm xmlns:a="http://schemas.openxmlformats.org/drawingml/2006/main">
            <a:off x="7124700" y="4267200"/>
            <a:ext cx="4476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1">
                <a:solidFill>
                  <a:srgbClr val="4F6570"/>
                </a:solidFill>
                <a:latin typeface="Arial"/>
                <a:ea typeface="Arial"/>
                <a:cs typeface="Arial"/>
              </a:defRPr>
            </a:pPr>
            <a:r>
              <a:rPr sz="1950" b="1">
                <a:solidFill>
                  <a:srgbClr val="4F6570"/>
                </a:solidFill>
                <a:latin typeface="Arial"/>
                <a:ea typeface="Arial"/>
                <a:cs typeface="Arial"/>
              </a:rPr>
              <a:t>Prazo e equipe</a:t>
            </a:r>
          </a:p>
        </p:txBody>
      </p:sp>
      <p:sp>
        <p:nvSpPr>
          <p:cNvPr id="11" name="">
            <a:extLst xmlns:a="http://schemas.openxmlformats.org/drawingml/2006/main">
              <a:ext uri="{FF2B5EF4-FFF2-40B4-BE49-F238E27FC236}">
                <a16:creationId xmlns:a16="http://schemas.microsoft.com/office/drawing/2014/main" id="{C047EF3E-5F61-4646-AD75-5C7A74D8B32A}"/>
              </a:ext>
            </a:extLst>
          </p:cNvPr>
          <p:cNvSpPr>
            <a:spLocks xmlns:a="http://schemas.openxmlformats.org/drawingml/2006/main" noGrp="1"/>
          </p:cNvSpPr>
          <p:nvPr/>
        </p:nvSpPr>
        <p:spPr>
          <a:xfrm xmlns:a="http://schemas.openxmlformats.org/drawingml/2006/main">
            <a:off x="7124700" y="4686300"/>
            <a:ext cx="44577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0">
                <a:solidFill>
                  <a:srgbClr val="122D3D"/>
                </a:solidFill>
                <a:latin typeface="Arial"/>
                <a:ea typeface="Arial"/>
                <a:cs typeface="Arial"/>
              </a:defRPr>
            </a:pPr>
            <a:r>
              <a:rPr sz="1875" b="0">
                <a:solidFill>
                  <a:srgbClr val="122D3D"/>
                </a:solidFill>
                <a:latin typeface="Arial"/>
                <a:ea typeface="Arial"/>
                <a:cs typeface="Arial"/>
              </a:rPr>
              <a:t>Impacto: entrega parcial. Produto prioriza a jornada central e registra atrasos.</a:t>
            </a:r>
          </a:p>
        </p:txBody>
      </p:sp>
      <p:sp>
        <p:nvSpPr>
          <p:cNvPr id="12" name="">
            <a:extLst xmlns:a="http://schemas.openxmlformats.org/drawingml/2006/main">
              <a:ext uri="{FF2B5EF4-FFF2-40B4-BE49-F238E27FC236}">
                <a16:creationId xmlns:a16="http://schemas.microsoft.com/office/drawing/2014/main" id="{657E688D-93C6-4B38-BA50-5CA670C5E40D}"/>
              </a:ext>
            </a:extLst>
          </p:cNvPr>
          <p:cNvSpPr>
            <a:spLocks xmlns:a="http://schemas.openxmlformats.org/drawingml/2006/main" noGrp="1"/>
          </p:cNvSpPr>
          <p:nvPr/>
        </p:nvSpPr>
        <p:spPr>
          <a:xfrm xmlns:a="http://schemas.openxmlformats.org/drawingml/2006/main">
            <a:off x="609600" y="6353175"/>
            <a:ext cx="10144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4F6570"/>
                </a:solidFill>
                <a:latin typeface="Arial"/>
                <a:ea typeface="Arial"/>
                <a:cs typeface="Arial"/>
              </a:defRPr>
            </a:pPr>
            <a:r>
              <a:rPr sz="1275" b="0">
                <a:solidFill>
                  <a:srgbClr val="4F6570"/>
                </a:solidFill>
                <a:latin typeface="Arial"/>
                <a:ea typeface="Arial"/>
                <a:cs typeface="Arial"/>
              </a:rPr>
              <a:t>Estimativas acadêmicas para evolução. Total abaixo do teto fictício de R$ 180.000.</a:t>
            </a:r>
          </a:p>
        </p:txBody>
      </p:sp>
    </p:spTree>
    <p:extLst>
      <p:ext uri="{BB962C8B-B14F-4D97-AF65-F5344CB8AC3E}">
        <p14:creationId xmlns:p14="http://schemas.microsoft.com/office/powerpoint/2010/main" val="209612824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FE60B37-5E8B-4321-9C18-7ACBAECE9C75}"/>
              </a:ext>
            </a:extLst>
          </p:cNvPr>
          <p:cNvSpPr>
            <a:spLocks xmlns:a="http://schemas.openxmlformats.org/drawingml/2006/main" noGrp="1"/>
          </p:cNvSpPr>
          <p:nvPr/>
        </p:nvSpPr>
        <p:spPr>
          <a:xfrm xmlns:a="http://schemas.openxmlformats.org/drawingml/2006/main">
            <a:off x="609600" y="38100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00" b="1">
                <a:solidFill>
                  <a:srgbClr val="122D3D"/>
                </a:solidFill>
                <a:latin typeface="Arial"/>
                <a:ea typeface="Arial"/>
                <a:cs typeface="Arial"/>
              </a:defRPr>
            </a:pPr>
            <a:r>
              <a:rPr sz="3300" b="1">
                <a:solidFill>
                  <a:srgbClr val="122D3D"/>
                </a:solidFill>
                <a:latin typeface="Arial"/>
                <a:ea typeface="Arial"/>
                <a:cs typeface="Arial"/>
              </a:rPr>
              <a:t>Entrega atual e próximos marcos</a:t>
            </a:r>
          </a:p>
        </p:txBody>
      </p:sp>
      <p:sp>
        <p:nvSpPr>
          <p:cNvPr id="2" name="">
            <a:extLst xmlns:a="http://schemas.openxmlformats.org/drawingml/2006/main">
              <a:ext uri="{FF2B5EF4-FFF2-40B4-BE49-F238E27FC236}">
                <a16:creationId xmlns:a16="http://schemas.microsoft.com/office/drawing/2014/main" id="{04690B65-59CF-4588-98C8-511B35E4A229}"/>
              </a:ext>
            </a:extLst>
          </p:cNvPr>
          <p:cNvSpPr>
            <a:spLocks xmlns:a="http://schemas.openxmlformats.org/drawingml/2006/main" noGrp="1"/>
          </p:cNvSpPr>
          <p:nvPr/>
        </p:nvSpPr>
        <p:spPr>
          <a:xfrm xmlns:a="http://schemas.openxmlformats.org/drawingml/2006/main">
            <a:off x="10991850" y="6391275"/>
            <a:ext cx="5905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350" b="0">
                <a:solidFill>
                  <a:srgbClr val="4F6570"/>
                </a:solidFill>
                <a:latin typeface="Arial"/>
                <a:ea typeface="Arial"/>
                <a:cs typeface="Arial"/>
              </a:defRPr>
            </a:pPr>
            <a:r>
              <a:rPr sz="1350" b="0">
                <a:solidFill>
                  <a:srgbClr val="4F6570"/>
                </a:solidFill>
                <a:latin typeface="Arial"/>
                <a:ea typeface="Arial"/>
                <a:cs typeface="Arial"/>
              </a:rPr>
              <a:t>8/8</a:t>
            </a:r>
          </a:p>
        </p:txBody>
      </p:sp>
      <p:sp>
        <p:nvSpPr>
          <p:cNvPr id="3" name="">
            <a:extLst xmlns:a="http://schemas.openxmlformats.org/drawingml/2006/main">
              <a:ext uri="{FF2B5EF4-FFF2-40B4-BE49-F238E27FC236}">
                <a16:creationId xmlns:a16="http://schemas.microsoft.com/office/drawing/2014/main" id="{4F8F4EA1-C963-45C9-ACCE-549429646D2F}"/>
              </a:ext>
            </a:extLst>
          </p:cNvPr>
          <p:cNvSpPr>
            <a:spLocks xmlns:a="http://schemas.openxmlformats.org/drawingml/2006/main" noGrp="1"/>
          </p:cNvSpPr>
          <p:nvPr/>
        </p:nvSpPr>
        <p:spPr>
          <a:xfrm xmlns:a="http://schemas.openxmlformats.org/drawingml/2006/main">
            <a:off x="609600" y="1438275"/>
            <a:ext cx="4905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400" b="1">
                <a:solidFill>
                  <a:srgbClr val="087E8B"/>
                </a:solidFill>
                <a:latin typeface="Arial"/>
                <a:ea typeface="Arial"/>
                <a:cs typeface="Arial"/>
              </a:defRPr>
            </a:pPr>
            <a:r>
              <a:rPr sz="2400" b="1">
                <a:solidFill>
                  <a:srgbClr val="087E8B"/>
                </a:solidFill>
                <a:latin typeface="Arial"/>
                <a:ea typeface="Arial"/>
                <a:cs typeface="Arial"/>
              </a:rPr>
              <a:t>Funciona agora</a:t>
            </a:r>
          </a:p>
        </p:txBody>
      </p:sp>
      <p:sp>
        <p:nvSpPr>
          <p:cNvPr id="4" name="">
            <a:extLst xmlns:a="http://schemas.openxmlformats.org/drawingml/2006/main">
              <a:ext uri="{FF2B5EF4-FFF2-40B4-BE49-F238E27FC236}">
                <a16:creationId xmlns:a16="http://schemas.microsoft.com/office/drawing/2014/main" id="{8D09648C-E5C5-430D-9170-3BDF089C6995}"/>
              </a:ext>
            </a:extLst>
          </p:cNvPr>
          <p:cNvSpPr>
            <a:spLocks xmlns:a="http://schemas.openxmlformats.org/drawingml/2006/main" noGrp="1"/>
          </p:cNvSpPr>
          <p:nvPr/>
        </p:nvSpPr>
        <p:spPr>
          <a:xfrm xmlns:a="http://schemas.openxmlformats.org/drawingml/2006/main">
            <a:off x="609600" y="2085975"/>
            <a:ext cx="5143500" cy="2266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75" b="0">
                <a:solidFill>
                  <a:srgbClr val="122D3D"/>
                </a:solidFill>
                <a:latin typeface="Arial"/>
                <a:ea typeface="Arial"/>
                <a:cs typeface="Arial"/>
              </a:defRPr>
            </a:pPr>
            <a:r>
              <a:rPr sz="2175" b="0">
                <a:solidFill>
                  <a:srgbClr val="122D3D"/>
                </a:solidFill>
                <a:latin typeface="Arial"/>
                <a:ea typeface="Arial"/>
                <a:cs typeface="Arial"/>
              </a:rPr>
              <a:t>Filtros por unidade e mês</a:t>
            </a:r>
          </a:p>
          <a:p xmlns:a="http://schemas.openxmlformats.org/drawingml/2006/main">
            <a:pPr>
              <a:defRPr sz="2175" b="0">
                <a:solidFill>
                  <a:srgbClr val="122D3D"/>
                </a:solidFill>
                <a:latin typeface="Arial"/>
                <a:ea typeface="Arial"/>
                <a:cs typeface="Arial"/>
              </a:defRPr>
            </a:pPr>
            <a:r>
              <a:rPr sz="2175" b="0">
                <a:solidFill>
                  <a:srgbClr val="122D3D"/>
                </a:solidFill>
                <a:latin typeface="Arial"/>
                <a:ea typeface="Arial"/>
                <a:cs typeface="Arial"/>
              </a:rPr>
              <a:t>Ranking e evolução mensal</a:t>
            </a:r>
          </a:p>
          <a:p xmlns:a="http://schemas.openxmlformats.org/drawingml/2006/main">
            <a:pPr>
              <a:defRPr sz="2175" b="0">
                <a:solidFill>
                  <a:srgbClr val="122D3D"/>
                </a:solidFill>
                <a:latin typeface="Arial"/>
                <a:ea typeface="Arial"/>
                <a:cs typeface="Arial"/>
              </a:defRPr>
            </a:pPr>
            <a:r>
              <a:rPr sz="2175" b="0">
                <a:solidFill>
                  <a:srgbClr val="122D3D"/>
                </a:solidFill>
                <a:latin typeface="Arial"/>
                <a:ea typeface="Arial"/>
                <a:cs typeface="Arial"/>
              </a:rPr>
              <a:t>Detalhamento dos registros</a:t>
            </a:r>
          </a:p>
          <a:p xmlns:a="http://schemas.openxmlformats.org/drawingml/2006/main">
            <a:pPr>
              <a:defRPr sz="2175" b="0">
                <a:solidFill>
                  <a:srgbClr val="122D3D"/>
                </a:solidFill>
                <a:latin typeface="Arial"/>
                <a:ea typeface="Arial"/>
                <a:cs typeface="Arial"/>
              </a:defRPr>
            </a:pPr>
            <a:r>
              <a:rPr sz="2175" b="0">
                <a:solidFill>
                  <a:srgbClr val="122D3D"/>
                </a:solidFill>
                <a:latin typeface="Arial"/>
                <a:ea typeface="Arial"/>
                <a:cs typeface="Arial"/>
              </a:rPr>
              <a:t>Rastreabilidade de origem</a:t>
            </a:r>
          </a:p>
          <a:p xmlns:a="http://schemas.openxmlformats.org/drawingml/2006/main">
            <a:pPr>
              <a:defRPr sz="2175" b="0">
                <a:solidFill>
                  <a:srgbClr val="122D3D"/>
                </a:solidFill>
                <a:latin typeface="Arial"/>
                <a:ea typeface="Arial"/>
                <a:cs typeface="Arial"/>
              </a:defRPr>
            </a:pPr>
            <a:r>
              <a:rPr sz="2175" b="0">
                <a:solidFill>
                  <a:srgbClr val="122D3D"/>
                </a:solidFill>
                <a:latin typeface="Arial"/>
                <a:ea typeface="Arial"/>
                <a:cs typeface="Arial"/>
              </a:rPr>
              <a:t>Tratamento de recorte sem dados</a:t>
            </a:r>
          </a:p>
        </p:txBody>
      </p:sp>
      <p:sp>
        <p:nvSpPr>
          <p:cNvPr id="5" name="">
            <a:extLst xmlns:a="http://schemas.openxmlformats.org/drawingml/2006/main">
              <a:ext uri="{FF2B5EF4-FFF2-40B4-BE49-F238E27FC236}">
                <a16:creationId xmlns:a16="http://schemas.microsoft.com/office/drawing/2014/main" id="{CB11AFF1-01D1-434A-BC1B-DBE1AC09222B}"/>
              </a:ext>
            </a:extLst>
          </p:cNvPr>
          <p:cNvSpPr>
            <a:spLocks xmlns:a="http://schemas.openxmlformats.org/drawingml/2006/main" noGrp="1"/>
          </p:cNvSpPr>
          <p:nvPr/>
        </p:nvSpPr>
        <p:spPr>
          <a:xfrm xmlns:a="http://schemas.openxmlformats.org/drawingml/2006/main">
            <a:off x="6572250" y="1438275"/>
            <a:ext cx="50101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400" b="1">
                <a:solidFill>
                  <a:srgbClr val="4F6570"/>
                </a:solidFill>
                <a:latin typeface="Arial"/>
                <a:ea typeface="Arial"/>
                <a:cs typeface="Arial"/>
              </a:defRPr>
            </a:pPr>
            <a:r>
              <a:rPr sz="2400" b="1">
                <a:solidFill>
                  <a:srgbClr val="4F6570"/>
                </a:solidFill>
                <a:latin typeface="Arial"/>
                <a:ea typeface="Arial"/>
                <a:cs typeface="Arial"/>
              </a:rPr>
              <a:t>Limites e evolução</a:t>
            </a:r>
          </a:p>
        </p:txBody>
      </p:sp>
      <p:sp>
        <p:nvSpPr>
          <p:cNvPr id="6" name="">
            <a:extLst xmlns:a="http://schemas.openxmlformats.org/drawingml/2006/main">
              <a:ext uri="{FF2B5EF4-FFF2-40B4-BE49-F238E27FC236}">
                <a16:creationId xmlns:a16="http://schemas.microsoft.com/office/drawing/2014/main" id="{DB652631-1B04-4BFF-A088-8D6F083BC60B}"/>
              </a:ext>
            </a:extLst>
          </p:cNvPr>
          <p:cNvSpPr>
            <a:spLocks xmlns:a="http://schemas.openxmlformats.org/drawingml/2006/main" noGrp="1"/>
          </p:cNvSpPr>
          <p:nvPr/>
        </p:nvSpPr>
        <p:spPr>
          <a:xfrm xmlns:a="http://schemas.openxmlformats.org/drawingml/2006/main">
            <a:off x="6572250" y="2085975"/>
            <a:ext cx="5010150" cy="2057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122D3D"/>
                </a:solidFill>
                <a:latin typeface="Arial"/>
                <a:ea typeface="Arial"/>
                <a:cs typeface="Arial"/>
              </a:defRPr>
            </a:pPr>
            <a:r>
              <a:rPr sz="2100" b="0">
                <a:solidFill>
                  <a:srgbClr val="122D3D"/>
                </a:solidFill>
                <a:latin typeface="Arial"/>
                <a:ea typeface="Arial"/>
                <a:cs typeface="Arial"/>
              </a:rPr>
              <a:t>Conjunto fornecido de 2024</a:t>
            </a:r>
          </a:p>
          <a:p xmlns:a="http://schemas.openxmlformats.org/drawingml/2006/main">
            <a:pPr>
              <a:defRPr sz="2100" b="0">
                <a:solidFill>
                  <a:srgbClr val="122D3D"/>
                </a:solidFill>
                <a:latin typeface="Arial"/>
                <a:ea typeface="Arial"/>
                <a:cs typeface="Arial"/>
              </a:defRPr>
            </a:pPr>
            <a:r>
              <a:rPr sz="2100" b="0">
                <a:solidFill>
                  <a:srgbClr val="122D3D"/>
                </a:solidFill>
                <a:latin typeface="Arial"/>
                <a:ea typeface="Arial"/>
                <a:cs typeface="Arial"/>
              </a:rPr>
              <a:t>Cobertura integral não comprovada</a:t>
            </a:r>
          </a:p>
          <a:p xmlns:a="http://schemas.openxmlformats.org/drawingml/2006/main">
            <a:pPr>
              <a:defRPr sz="2100" b="0">
                <a:solidFill>
                  <a:srgbClr val="122D3D"/>
                </a:solidFill>
                <a:latin typeface="Arial"/>
                <a:ea typeface="Arial"/>
                <a:cs typeface="Arial"/>
              </a:defRPr>
            </a:pPr>
            <a:r>
              <a:rPr sz="2100" b="0">
                <a:solidFill>
                  <a:srgbClr val="122D3D"/>
                </a:solidFill>
                <a:latin typeface="Arial"/>
                <a:ea typeface="Arial"/>
                <a:cs typeface="Arial"/>
              </a:rPr>
              <a:t>Data do registro, não fluxo de caixa</a:t>
            </a:r>
          </a:p>
          <a:p xmlns:a="http://schemas.openxmlformats.org/drawingml/2006/main">
            <a:pPr>
              <a:defRPr sz="2100" b="0">
                <a:solidFill>
                  <a:srgbClr val="122D3D"/>
                </a:solidFill>
                <a:latin typeface="Arial"/>
                <a:ea typeface="Arial"/>
                <a:cs typeface="Arial"/>
              </a:defRPr>
            </a:pPr>
            <a:r>
              <a:rPr sz="2100" b="0">
                <a:solidFill>
                  <a:srgbClr val="122D3D"/>
                </a:solidFill>
                <a:latin typeface="Arial"/>
                <a:ea typeface="Arial"/>
                <a:cs typeface="Arial"/>
              </a:rPr>
              <a:t>IC restrito à amostra interna</a:t>
            </a:r>
          </a:p>
        </p:txBody>
      </p:sp>
      <p:sp>
        <p:nvSpPr>
          <p:cNvPr id="7" name="">
            <a:extLst xmlns:a="http://schemas.openxmlformats.org/drawingml/2006/main">
              <a:ext uri="{FF2B5EF4-FFF2-40B4-BE49-F238E27FC236}">
                <a16:creationId xmlns:a16="http://schemas.microsoft.com/office/drawing/2014/main" id="{4C43992E-C2ED-4327-9B6C-B1AA90DC176F}"/>
              </a:ext>
            </a:extLst>
          </p:cNvPr>
          <p:cNvSpPr>
            <a:spLocks xmlns:a="http://schemas.openxmlformats.org/drawingml/2006/main" noGrp="1"/>
          </p:cNvSpPr>
          <p:nvPr/>
        </p:nvSpPr>
        <p:spPr>
          <a:xfrm xmlns:a="http://schemas.openxmlformats.org/drawingml/2006/main">
            <a:off x="6572250" y="4543425"/>
            <a:ext cx="5000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122D3D"/>
                </a:solidFill>
                <a:latin typeface="Arial"/>
                <a:ea typeface="Arial"/>
                <a:cs typeface="Arial"/>
              </a:defRPr>
            </a:pPr>
            <a:r>
              <a:rPr sz="2100" b="0">
                <a:solidFill>
                  <a:srgbClr val="122D3D"/>
                </a:solidFill>
                <a:latin typeface="Arial"/>
                <a:ea typeface="Arial"/>
                <a:cs typeface="Arial"/>
              </a:rPr>
              <a:t>Próximos marcos: validar com usuários, integrar 2025 e preparar acesso controlado.</a:t>
            </a:r>
          </a:p>
        </p:txBody>
      </p:sp>
      <p:sp>
        <p:nvSpPr>
          <p:cNvPr id="8" name="">
            <a:extLst xmlns:a="http://schemas.openxmlformats.org/drawingml/2006/main">
              <a:ext uri="{FF2B5EF4-FFF2-40B4-BE49-F238E27FC236}">
                <a16:creationId xmlns:a16="http://schemas.microsoft.com/office/drawing/2014/main" id="{2A95FD62-031C-42B7-B79C-B7557DF33755}"/>
              </a:ext>
            </a:extLst>
          </p:cNvPr>
          <p:cNvSpPr>
            <a:spLocks xmlns:a="http://schemas.openxmlformats.org/drawingml/2006/main" noGrp="1"/>
          </p:cNvSpPr>
          <p:nvPr/>
        </p:nvSpPr>
        <p:spPr>
          <a:xfrm xmlns:a="http://schemas.openxmlformats.org/drawingml/2006/main">
            <a:off x="609600" y="5343525"/>
            <a:ext cx="52197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75" b="1">
                <a:solidFill>
                  <a:srgbClr val="122D3D"/>
                </a:solidFill>
                <a:latin typeface="Arial"/>
                <a:ea typeface="Arial"/>
                <a:cs typeface="Arial"/>
              </a:defRPr>
            </a:pPr>
            <a:r>
              <a:rPr sz="2175" b="1">
                <a:solidFill>
                  <a:srgbClr val="122D3D"/>
                </a:solidFill>
                <a:latin typeface="Arial"/>
                <a:ea typeface="Arial"/>
                <a:cs typeface="Arial"/>
              </a:rPr>
              <a:t>Entrega: relatório, apresentação</a:t>
            </a:r>
          </a:p>
          <a:p xmlns:a="http://schemas.openxmlformats.org/drawingml/2006/main">
            <a:pPr>
              <a:defRPr sz="2175" b="1">
                <a:solidFill>
                  <a:srgbClr val="122D3D"/>
                </a:solidFill>
                <a:latin typeface="Arial"/>
                <a:ea typeface="Arial"/>
                <a:cs typeface="Arial"/>
              </a:defRPr>
            </a:pPr>
            <a:r>
              <a:rPr sz="2175" b="1">
                <a:solidFill>
                  <a:srgbClr val="122D3D"/>
                </a:solidFill>
                <a:latin typeface="Arial"/>
                <a:ea typeface="Arial"/>
                <a:cs typeface="Arial"/>
              </a:rPr>
              <a:t>e código reproduzível</a:t>
            </a:r>
          </a:p>
        </p:txBody>
      </p:sp>
      <p:sp>
        <p:nvSpPr>
          <p:cNvPr id="9" name="">
            <a:extLst xmlns:a="http://schemas.openxmlformats.org/drawingml/2006/main">
              <a:ext uri="{FF2B5EF4-FFF2-40B4-BE49-F238E27FC236}">
                <a16:creationId xmlns:a16="http://schemas.microsoft.com/office/drawing/2014/main" id="{47C39231-E758-4B85-B52F-80710D61FC7A}"/>
              </a:ext>
            </a:extLst>
          </p:cNvPr>
          <p:cNvSpPr>
            <a:spLocks xmlns:a="http://schemas.openxmlformats.org/drawingml/2006/main" noGrp="1"/>
          </p:cNvSpPr>
          <p:nvPr/>
        </p:nvSpPr>
        <p:spPr>
          <a:xfrm xmlns:a="http://schemas.openxmlformats.org/drawingml/2006/main">
            <a:off x="609600" y="6353175"/>
            <a:ext cx="10144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4F6570"/>
                </a:solidFill>
                <a:latin typeface="Arial"/>
                <a:ea typeface="Arial"/>
                <a:cs typeface="Arial"/>
              </a:defRPr>
            </a:pPr>
            <a:r>
              <a:rPr sz="1275" b="0">
                <a:solidFill>
                  <a:srgbClr val="4F6570"/>
                </a:solidFill>
                <a:latin typeface="Arial"/>
                <a:ea typeface="Arial"/>
                <a:cs typeface="Arial"/>
              </a:rPr>
              <a:t>Uso de IA na preparação dos materiais e código, com verificações sobre dados e funcionamento.</a:t>
            </a:r>
          </a:p>
        </p:txBody>
      </p:sp>
    </p:spTree>
    <p:extLst>
      <p:ext uri="{BB962C8B-B14F-4D97-AF65-F5344CB8AC3E}">
        <p14:creationId xmlns:p14="http://schemas.microsoft.com/office/powerpoint/2010/main" val="100367225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2026-10-03T15:06:40.6080000Z</dcterms:created>
  <dcterms:modified xsi:type="dcterms:W3CDTF">2026-10-03T15:06:40.6080000Z</dcterms:modified>
</coreProperties>
</file>