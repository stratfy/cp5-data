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2.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76e8196af47467f" /><Relationship Type="http://schemas.openxmlformats.org/officeDocument/2006/relationships/extended-properties" Target="/docProps/app.xml" Id="R33cfa9ce836e47d0" /><Relationship Type="http://schemas.openxmlformats.org/officeDocument/2006/relationships/officeDocument" Target="/ppt/presentation.xml" Id="R7a03f8f6248a447b" /></Relationships>
</file>

<file path=ppt/presentation.xml><?xml version="1.0" encoding="utf-8"?>
<p:presentation xmlns:p="http://schemas.openxmlformats.org/presentationml/2006/main">
  <p:sldMasterIdLst>
    <p:sldMasterId xmlns:r="http://schemas.openxmlformats.org/officeDocument/2006/relationships" id="2147483648" r:id="R4499eac4403a481a"/>
  </p:sldMasterIdLst>
  <p:notesMasterIdLst>
    <p:notesMasterId xmlns:r="http://schemas.openxmlformats.org/officeDocument/2006/relationships" r:id="R5bc16523e76e424c"/>
  </p:notesMasterIdLst>
  <p:sldIdLst>
    <p:sldId xmlns:r="http://schemas.openxmlformats.org/officeDocument/2006/relationships" id="256" r:id="R4a37392359c641b0"/>
    <p:sldId xmlns:r="http://schemas.openxmlformats.org/officeDocument/2006/relationships" id="257" r:id="R2001d54df6a8473c"/>
    <p:sldId xmlns:r="http://schemas.openxmlformats.org/officeDocument/2006/relationships" id="258" r:id="Raad499b81dc64e4e"/>
    <p:sldId xmlns:r="http://schemas.openxmlformats.org/officeDocument/2006/relationships" id="259" r:id="R78205205b20b4bf7"/>
    <p:sldId xmlns:r="http://schemas.openxmlformats.org/officeDocument/2006/relationships" id="260" r:id="R09b46c775bf84340"/>
    <p:sldId xmlns:r="http://schemas.openxmlformats.org/officeDocument/2006/relationships" id="261" r:id="R77f2b41c95cd4b60"/>
    <p:sldId xmlns:r="http://schemas.openxmlformats.org/officeDocument/2006/relationships" id="262" r:id="R2933130e33854a43"/>
    <p:sldId xmlns:r="http://schemas.openxmlformats.org/officeDocument/2006/relationships" id="263" r:id="Rc1aa9caa8cdf466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bf5ffa0e76f4fbe" /><Relationship Type="http://schemas.openxmlformats.org/officeDocument/2006/relationships/slideMaster" Target="/ppt/slideMasters/slideMaster1.xml" Id="R4499eac4403a481a" /><Relationship Type="http://schemas.openxmlformats.org/officeDocument/2006/relationships/notesMaster" Target="/ppt/notesMasters/notesMaster1.xml" Id="R5bc16523e76e424c" /><Relationship Type="http://schemas.openxmlformats.org/officeDocument/2006/relationships/presProps" Target="/ppt/presProps.xml" Id="R4bef748cc74447f5" /><Relationship Type="http://schemas.openxmlformats.org/officeDocument/2006/relationships/tableStyles" Target="/ppt/tableStyles.xml" Id="Ra026e29c241240d2" /><Relationship Type="http://schemas.openxmlformats.org/officeDocument/2006/relationships/slide" Target="/ppt/slides/slide1.xml" Id="R4a37392359c641b0" /><Relationship Type="http://schemas.openxmlformats.org/officeDocument/2006/relationships/slide" Target="/ppt/slides/slide2.xml" Id="R2001d54df6a8473c" /><Relationship Type="http://schemas.openxmlformats.org/officeDocument/2006/relationships/slide" Target="/ppt/slides/slide3.xml" Id="Raad499b81dc64e4e" /><Relationship Type="http://schemas.openxmlformats.org/officeDocument/2006/relationships/slide" Target="/ppt/slides/slide4.xml" Id="R78205205b20b4bf7" /><Relationship Type="http://schemas.openxmlformats.org/officeDocument/2006/relationships/slide" Target="/ppt/slides/slide5.xml" Id="R09b46c775bf84340" /><Relationship Type="http://schemas.openxmlformats.org/officeDocument/2006/relationships/slide" Target="/ppt/slides/slide6.xml" Id="R77f2b41c95cd4b60" /><Relationship Type="http://schemas.openxmlformats.org/officeDocument/2006/relationships/slide" Target="/ppt/slides/slide7.xml" Id="R2933130e33854a43" /><Relationship Type="http://schemas.openxmlformats.org/officeDocument/2006/relationships/slide" Target="/ppt/slides/slide8.xml" Id="Rc1aa9caa8cdf466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f07114d78b2469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b0720008c4c4e17" /><Relationship Type="http://schemas.openxmlformats.org/officeDocument/2006/relationships/notesMaster" Target="/ppt/notesMasters/notesMaster1.xml" Id="R7ba58e62de054723" /></Relationships>
</file>

<file path=ppt/notesSlides/_rels/notesSlide2.xml.rels>&#65279;<?xml version="1.0" encoding="utf-8"?><Relationships xmlns="http://schemas.openxmlformats.org/package/2006/relationships"><Relationship Type="http://schemas.openxmlformats.org/officeDocument/2006/relationships/slide" Target="/ppt/slides/slide2.xml" Id="R4c6915029618443a" /><Relationship Type="http://schemas.openxmlformats.org/officeDocument/2006/relationships/notesMaster" Target="/ppt/notesMasters/notesMaster1.xml" Id="R98c45f0105074031" /></Relationships>
</file>

<file path=ppt/notesSlides/_rels/notesSlide3.xml.rels>&#65279;<?xml version="1.0" encoding="utf-8"?><Relationships xmlns="http://schemas.openxmlformats.org/package/2006/relationships"><Relationship Type="http://schemas.openxmlformats.org/officeDocument/2006/relationships/slide" Target="/ppt/slides/slide3.xml" Id="R8edff29e761840f8" /><Relationship Type="http://schemas.openxmlformats.org/officeDocument/2006/relationships/notesMaster" Target="/ppt/notesMasters/notesMaster1.xml" Id="Rfb845606624347b8" /></Relationships>
</file>

<file path=ppt/notesSlides/_rels/notesSlide4.xml.rels>&#65279;<?xml version="1.0" encoding="utf-8"?><Relationships xmlns="http://schemas.openxmlformats.org/package/2006/relationships"><Relationship Type="http://schemas.openxmlformats.org/officeDocument/2006/relationships/slide" Target="/ppt/slides/slide4.xml" Id="R57f3631b83ca4a0a" /><Relationship Type="http://schemas.openxmlformats.org/officeDocument/2006/relationships/notesMaster" Target="/ppt/notesMasters/notesMaster1.xml" Id="R4d2c8e98b105468a" /></Relationships>
</file>

<file path=ppt/notesSlides/_rels/notesSlide5.xml.rels>&#65279;<?xml version="1.0" encoding="utf-8"?><Relationships xmlns="http://schemas.openxmlformats.org/package/2006/relationships"><Relationship Type="http://schemas.openxmlformats.org/officeDocument/2006/relationships/slide" Target="/ppt/slides/slide5.xml" Id="Rbb6d33b3d6984bf1" /><Relationship Type="http://schemas.openxmlformats.org/officeDocument/2006/relationships/notesMaster" Target="/ppt/notesMasters/notesMaster1.xml" Id="Rca4c2369267d41d4" /></Relationships>
</file>

<file path=ppt/notesSlides/_rels/notesSlide6.xml.rels>&#65279;<?xml version="1.0" encoding="utf-8"?><Relationships xmlns="http://schemas.openxmlformats.org/package/2006/relationships"><Relationship Type="http://schemas.openxmlformats.org/officeDocument/2006/relationships/slide" Target="/ppt/slides/slide6.xml" Id="R3c64fa99ff294545" /><Relationship Type="http://schemas.openxmlformats.org/officeDocument/2006/relationships/notesMaster" Target="/ppt/notesMasters/notesMaster1.xml" Id="R8d4f848631f64ae3" /></Relationships>
</file>

<file path=ppt/notesSlides/_rels/notesSlide7.xml.rels>&#65279;<?xml version="1.0" encoding="utf-8"?><Relationships xmlns="http://schemas.openxmlformats.org/package/2006/relationships"><Relationship Type="http://schemas.openxmlformats.org/officeDocument/2006/relationships/slide" Target="/ppt/slides/slide7.xml" Id="Re80ce1e810624f53" /><Relationship Type="http://schemas.openxmlformats.org/officeDocument/2006/relationships/notesMaster" Target="/ppt/notesMasters/notesMaster1.xml" Id="Rdc61aadc31964710" /></Relationships>
</file>

<file path=ppt/notesSlides/_rels/notesSlide8.xml.rels>&#65279;<?xml version="1.0" encoding="utf-8"?><Relationships xmlns="http://schemas.openxmlformats.org/package/2006/relationships"><Relationship Type="http://schemas.openxmlformats.org/officeDocument/2006/relationships/slide" Target="/ppt/slides/slide8.xml" Id="Ref9b7095f64a4963" /><Relationship Type="http://schemas.openxmlformats.org/officeDocument/2006/relationships/notesMaster" Target="/ppt/notesMasters/notesMaster1.xml" Id="R56db29406c5e411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Luigi Mendes Cabrini · RM 563552. Tempo 65 segundos.</a:t>
            </a:r>
          </a:p>
          <a:p xmlns:a="http://schemas.openxmlformats.org/drawingml/2006/main">
            <a:r>
              <a:t>Apresentar a solução e o público. Explicar que a consulta concentra os dados fornecidos pelo professor em um painel. O benefício esperado é obter um total por unidade e período com acesso ao recorte que produziu o número. O CPSI é uma simulação de Contrato Público para Solução Inovadora, sem contratação real.</a:t>
            </a:r>
          </a:p>
          <a:p xmlns:a="http://schemas.openxmlformats.org/drawingml/2006/main">
            <a:r>
              <a:t/>
            </a:r>
          </a:p>
          <a:p xmlns:a="http://schemas.openxmlformats.org/drawingml/2006/main">
            <a:r>
              <a:t>Fontes: Enunciado acadêmico CP2_CPSI_Enunciado_Simplificado_2026 (1).docx, turma 2ESPH-2026</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a:p xmlns:a="http://schemas.openxmlformats.org/drawingml/2006/main">
            <a:r>
              <a:t/>
            </a:r>
          </a:p>
          <a:p xmlns:a="http://schemas.openxmlformats.org/drawingml/2006/main">
            <a:r>
              <a:t>Público: gestores públicos e analistas de controle interno. Problema: comparar a soma de ValorPago por unidade e período sem perder sua origem entre arquivos extensos. O benefício é esperado, sem ganho de tempo medido em pesquisa com usuários.</a:t>
            </a:r>
          </a:p>
          <a:p xmlns:a="http://schemas.openxmlformats.org/drawingml/2006/main">
            <a:r>
              <a:t/>
            </a:r>
          </a:p>
          <a:p xmlns:a="http://schemas.openxmlformats.org/drawingml/2006/main">
            <a:r>
              <a:t>Roteiro: 11 minutos de conteúdo e 1 minuto de margem para transições e imprevistos.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Luigi Mendes Cabrini · RM 563552. Tempo 75 segundos.</a:t>
            </a:r>
          </a:p>
          <a:p xmlns:a="http://schemas.openxmlformats.org/drawingml/2006/main">
            <a:r>
              <a:t>Mostrar como reproduzir a importação. Os arquivos de 2024 somam 505.950 registros analisados. O campo Orgao está vazio em 100% dos quatro CSVs, enquanto UnidadeGestora aparece nos 505.950 registros. Por isso a POC usa unidades gestoras como dimensão de comparação. Explicar a auditoria encontrou zero datas inválidas, zero ValorPago ausentes/inválidos e zero duplicatas exatas. 339.887 registros têm ValorPago zero. 9.886 registros trazem ajustes negativos, cuja soma é R$ -381.794.044,19 e permanece no total líquido. Nenhuma linha foi deduplicada. Diferenciar ValorPago de empenhado, liquidado e restos a pagar. A equivalência com o recurso atual do portal e a cobertura integral estadual não foram comprovadas.</a:t>
            </a:r>
          </a:p>
          <a:p xmlns:a="http://schemas.openxmlformats.org/drawingml/2006/main">
            <a:r>
              <a:t/>
            </a:r>
          </a:p>
          <a:p xmlns:a="http://schemas.openxmlformats.org/drawingml/2006/main">
            <a:r>
              <a:t>Fontes: Portal de Dados Abertos do ES, base de execução orçamentária SIGEFES. https://dados2.es.gov.br/dataset/portal-da-transparencia-despesas-execucao-orcamentaria-e-financeira/resource/b34ae52a-a739-412a-9bab-80f53ba72f4f?inner_span=True</a:t>
            </a:r>
          </a:p>
          <a:p xmlns:a="http://schemas.openxmlformats.org/drawingml/2006/main">
            <a:r>
              <a:t>Dicionário de despesas fornecido em Downloads/dicionario_despesas.pdf</a:t>
            </a:r>
          </a:p>
          <a:p xmlns:a="http://schemas.openxmlformats.org/drawingml/2006/main">
            <a:r>
              <a:t>despesas_es_2024_completo_parte_01.csv, despesas_es_2024_completo_parte_02.csv, despesas_es_2024_completo_parte_03.csv, despesas_es_2024_completo_parte_04.csv</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a:p xmlns:a="http://schemas.openxmlformats.org/drawingml/2006/main">
            <a:r>
              <a:t/>
            </a:r>
          </a:p>
          <a:p xmlns:a="http://schemas.openxmlformats.org/drawingml/2006/main">
            <a:r>
              <a:t>As ausências não viram zero. A aplicação distingue ausência, zero e valor negativo, e informa valores válidos fora do calendário. A carga preserva datas ou valores ausentes como nulos; erros de largura ou ano são auditados. O agrupamento usa código e nome de UnidadeGestora.</a:t>
            </a:r>
          </a:p>
          <a:p xmlns:a="http://schemas.openxmlformats.org/drawingml/2006/main">
            <a:r>
              <a:t/>
            </a:r>
          </a:p>
          <a:p xmlns:a="http://schemas.openxmlformats.org/drawingml/2006/main">
            <a:r>
              <a:t>Roteiro: 11 minutos de conteúdo e 1 minuto de margem para transições e imprevistos.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Bruno Koeke · RM 561309. Tempo 75 segundos.</a:t>
            </a:r>
          </a:p>
          <a:p xmlns:a="http://schemas.openxmlformats.org/drawingml/2006/main">
            <a:r>
              <a:t>Descrever a pergunta 1. As cinco maiores unidades totalizam 54,86% da soma líquida de ValorPago, R$ 10.337.098.858,62. O conjunto tem 117 unidades gestoras. A primeira é FUNDO ESTADUAL DE SAÚDE, com R$ 1.560.443.755,54 e 69.006 registros. Os valores não incluem ValorRap. O ranking é descritivo. Cada barra agrega ValorPago do conjunto por unidade gestora. Os nomes abreviados no gráfico são: Fundo Estadual de Saúde = 440901 FUNDO ESTADUAL DE SAÚDE; Fundo Financeiro = 600210 FUNDO FINANCEIRO; Educação = 420101 SECRETARIA DE ESTADO DA EDUCAÇÃO; Administração SEFAZ = 800102 ADMINISTRAÇÃO GERAL A CARGO DA SEFAZ; Proteção Social Militar = 600212 FUNDO DE PROTEÇÃO SOCIAL DOS MILITARES. Explicar que concentração é descritiva e não demonstra irregularidade. O achado orientou o ranking e o filtro por unidade na POC.</a:t>
            </a:r>
          </a:p>
          <a:p xmlns:a="http://schemas.openxmlformats.org/drawingml/2006/main">
            <a:r>
              <a:t/>
            </a:r>
          </a:p>
          <a:p xmlns:a="http://schemas.openxmlformats.org/drawingml/2006/main">
            <a:r>
              <a:t>Fontes: Portal de Dados Abertos do ES, base de execução orçamentária SIGEFES. https://dados2.es.gov.br/dataset/portal-da-transparencia-despesas-execucao-orcamentaria-e-financeira/resource/b34ae52a-a739-412a-9bab-80f53ba72f4f?inner_span=True</a:t>
            </a:r>
          </a:p>
          <a:p xmlns:a="http://schemas.openxmlformats.org/drawingml/2006/main">
            <a:r>
              <a:t>despesas_es_2024_completo_parte_01.csv, despesas_es_2024_completo_parte_02.csv, despesas_es_2024_completo_parte_03.csv, despesas_es_2024_completo_parte_04.csv</a:t>
            </a:r>
          </a:p>
          <a:p xmlns:a="http://schemas.openxmlformats.org/drawingml/2006/main">
            <a:r>
              <a:t>Resumo calculado em data/resumo_analise.json, sem combinar medidas monetárias distintas.</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a:p xmlns:a="http://schemas.openxmlformats.org/drawingml/2006/main">
            <a:r>
              <a:t/>
            </a:r>
          </a:p>
          <a:p xmlns:a="http://schemas.openxmlformats.org/drawingml/2006/main">
            <a:r>
              <a:t>Os gráficos mantêm dados nativos editáveis em milhões de reais, com rótulos em português. A concentração de 54,86% nas cinco primeiras unidades orientou a priorização pelo ranking e a investigação do recorte.</a:t>
            </a:r>
          </a:p>
          <a:p xmlns:a="http://schemas.openxmlformats.org/drawingml/2006/main">
            <a:r>
              <a:t/>
            </a:r>
          </a:p>
          <a:p xmlns:a="http://schemas.openxmlformats.org/drawingml/2006/main">
            <a:r>
              <a:t>Roteiro: 11 minutos de conteúdo e 1 minuto de margem para transições e imprevistos.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Bruno Koeke · RM 561309. Tempo 95 segundos.</a:t>
            </a:r>
          </a:p>
          <a:p xmlns:a="http://schemas.openxmlformats.org/drawingml/2006/main">
            <a:r>
              <a:t>Descrever a pergunta 2 e a série mensal. Dezembro soma R$ 1.648.054.158,32, em 55.327 registros. A média dos 12 totais é R$ 861.424.904,89, mediana R$ 830.429.539,28 e desvio padrão amostral R$ 308.017.812,38. Os 12 meses observados são completos dentro dos arquivos locais. Não há evidência suficiente para atribuir causalidade ao aumento. A data representa a data do documento/registro conforme o dicionário, não prova a data de saída efetiva de caixa. O total do conjunto é uma soma observada. Média, mediana e desvio padrão mensal são estatísticas descritivas. Não calcular IC da média mensal porque há possível sazonalidade e dependência entre meses. O complemento didático usa uma amostra aleatória simples interna de registros com semente 2024 e intervalo de Wilson de 95% para a proporção de linhas com ValorPago &gt; 0. A população-alvo é somente o conjunto fornecido e não todo o Estado. O recorte sistemático de origem não permite extrapolação estadual. O sorteio interno é aleatório e reprodutível. A amostra tem n=10000 e k=3126 registros positivos, proporção 31,26%. Wilson resulta em 30,36% a 32,18%. A proporção exata conhecida na base é 30,87%. O intervalo usa aproximação binomial sem correção da população finita, conservadora frente ao sorteio sem reposição. O conjunto tem N=505950 linhas elegíveis e amostra de 1,98%</a:t>
            </a:r>
          </a:p>
          <a:p xmlns:a="http://schemas.openxmlformats.org/drawingml/2006/main">
            <a:r>
              <a:t/>
            </a:r>
          </a:p>
          <a:p xmlns:a="http://schemas.openxmlformats.org/drawingml/2006/main">
            <a:r>
              <a:t>Fontes: Portal de Dados Abertos do ES, base de execução orçamentária SIGEFES. https://dados2.es.gov.br/dataset/portal-da-transparencia-despesas-execucao-orcamentaria-e-financeira/resource/b34ae52a-a739-412a-9bab-80f53ba72f4f?inner_span=True</a:t>
            </a:r>
          </a:p>
          <a:p xmlns:a="http://schemas.openxmlformats.org/drawingml/2006/main">
            <a:r>
              <a:t>Dicionário de despesas fornecido em Downloads/dicionario_despesas.pdf</a:t>
            </a:r>
          </a:p>
          <a:p xmlns:a="http://schemas.openxmlformats.org/drawingml/2006/main">
            <a:r>
              <a:t>NIST, intervalo de Wilson para proporções. https://www.itl.nist.gov/div898/handbook/prc/section2/prc241.htm</a:t>
            </a:r>
          </a:p>
          <a:p xmlns:a="http://schemas.openxmlformats.org/drawingml/2006/main">
            <a:r>
              <a:t>despesas_es_2024_completo_parte_01.csv, despesas_es_2024_completo_parte_02.csv, despesas_es_2024_completo_parte_03.csv, despesas_es_2024_completo_parte_04.csv</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a:p xmlns:a="http://schemas.openxmlformats.org/drawingml/2006/main">
            <a:r>
              <a:t/>
            </a:r>
          </a:p>
          <a:p xmlns:a="http://schemas.openxmlformats.org/drawingml/2006/main">
            <a:r>
              <a:t>O pico mensal orientou o filtro mensal e a consulta de composição por unidade, demonstrada com Saúde em dezembro. A população-alvo do IC é a base local de registros.</a:t>
            </a:r>
          </a:p>
          <a:p xmlns:a="http://schemas.openxmlformats.org/drawingml/2006/main">
            <a:r>
              <a:t/>
            </a:r>
          </a:p>
          <a:p xmlns:a="http://schemas.openxmlformats.org/drawingml/2006/main">
            <a:r>
              <a:t>Roteiro: 11 minutos de conteúdo e 1 minuto de margem para transições e imprevistos.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Rogério Cruz Arroyo · RM 563517. Tempo 190 segundos.</a:t>
            </a:r>
          </a:p>
          <a:p xmlns:a="http://schemas.openxmlformats.org/drawingml/2006/main">
            <a:r>
              <a:t>Abrir o painel local. Mostrar a base carregada e selecionar uma unidade no ranking. Filtrar um mês e ler os indicadores. Consultar composição e abrir a rastreabilidade de um resultado. Exibir arquivo e linha, sem dados bancários ou pessoais. Selecionar uma combinação sem dados e observar a resposta. Mostrar o roteiro de execução do README e os testes. A tecnologia web local foi escolhida para reduzir dependências da POC, enquanto o SQLite mantém agregações reproduzíveis. Demonstrar apenas recursos implementados e explicar as limitações. Alternativa de contingência: material capturado, mantendo a demonstração ao vivo como principal.</a:t>
            </a:r>
          </a:p>
          <a:p xmlns:a="http://schemas.openxmlformats.org/drawingml/2006/main">
            <a:r>
              <a:t/>
            </a:r>
          </a:p>
          <a:p xmlns:a="http://schemas.openxmlformats.org/drawingml/2006/main">
            <a:r>
              <a:t>Fontes: Enunciado acadêmico CP2_CPSI_Enunciado_Simplificado_2026 (1).docx, turma 2ESPH-2026</a:t>
            </a:r>
          </a:p>
          <a:p xmlns:a="http://schemas.openxmlformats.org/drawingml/2006/main">
            <a:r>
              <a:t>Código da POC no projeto cp5-data, Python biblioteca padrão e SQLite.</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a:p xmlns:a="http://schemas.openxmlformats.org/drawingml/2006/main">
            <a:r>
              <a:t/>
            </a:r>
          </a:p>
          <a:p xmlns:a="http://schemas.openxmlformats.org/drawingml/2006/main">
            <a:r>
              <a:t>Executar Saúde (440901) em dezembro: 7.790 registros e R$ 185.199.026,38. Mostrar arquivo e linha de um registro, exportar o recorte e depois Polícia Penal (460113) em janeiro, sem registros. O importador lê CSVs e grava os registros no SQLite, com auditoria e centavos inteiros. Se um arquivo vier incompleto, a interface mostra avisos de valores ausentes e da diferença entre série mensal e total. Fonte da imagem: captura própria do painel em outputs/painel_apresentacao.jpg.</a:t>
            </a:r>
          </a:p>
          <a:p xmlns:a="http://schemas.openxmlformats.org/drawingml/2006/main">
            <a:r>
              <a:t/>
            </a:r>
          </a:p>
          <a:p xmlns:a="http://schemas.openxmlformats.org/drawingml/2006/main">
            <a:r>
              <a:t>Roteiro: 11 minutos de conteúdo e 1 minuto de margem para transições e imprevistos.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Anthony Sforzin · RM 562096. Tempo 60 segundos.</a:t>
            </a:r>
          </a:p>
          <a:p xmlns:a="http://schemas.openxmlformats.org/drawingml/2006/main">
            <a:r>
              <a:t>Explicar que esta tabela propõe a divisão futura, sem afirmar contribuições já realizadas. Os marcos descrevem a evolução da POC que já funciona e coincidem com o relatório. Semanas 1–2: produto e dados revisam perguntas e indicadores com usuários. Semanas 3–4: dados e testes ampliam a auditoria, conciliam totais e repetem a carga. Semanas 5–8: desenvolvimento melhora a usabilidade, com uma jornada executável por usuário externo. Semanas 9–12: dados e desenvolvimento integram 2025 somente com períodos e medidas comparáveis. Semanas 13–14: testes e produto entregam relatório de validação, testes sem falhas e aprovação documentada dos campos exportados. Semanas 15–16: toda a equipe entrega piloto, README e pacote, reproduzindo a jornada e o total de referência em ambiente limpo. Se 2025 ou uma integração atrasar, manter o conjunto validado de 2024 e registrar o recorte. O enunciado exige 5 a 8 estudantes. O grupo optou por manter quatro integrantes. Não houve autorização explícita do professor para a exceção.</a:t>
            </a:r>
          </a:p>
          <a:p xmlns:a="http://schemas.openxmlformats.org/drawingml/2006/main">
            <a:r>
              <a:t/>
            </a:r>
          </a:p>
          <a:p xmlns:a="http://schemas.openxmlformats.org/drawingml/2006/main">
            <a:r>
              <a:t>Fontes: Enunciado acadêmico CP2_CPSI_Enunciado_Simplificado_2026 (1).docx, turma 2ESPH-2026</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a:p xmlns:a="http://schemas.openxmlformats.org/drawingml/2006/main">
            <a:r>
              <a:t/>
            </a:r>
          </a:p>
          <a:p xmlns:a="http://schemas.openxmlformats.org/drawingml/2006/main">
            <a:r>
              <a:t>Entregáveis individuais: Luigi, problema/requisitos e plano; Bruno, importação/auditoria e análise; Rogério, aplicação/arquitetura e execução; Anthony, testes/reprodução e documentação. As responsabilidades são propostas para revisão pelo grupo. Não afirmar trabalho já realizado, aceite dos papéis ou autorização para quatro integrantes.</a:t>
            </a:r>
          </a:p>
          <a:p xmlns:a="http://schemas.openxmlformats.org/drawingml/2006/main">
            <a:r>
              <a:t/>
            </a:r>
          </a:p>
          <a:p xmlns:a="http://schemas.openxmlformats.org/drawingml/2006/main">
            <a:r>
              <a:t>Roteiro: 11 minutos de conteúdo e 1 minuto de margem para transições e imprevistos.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Anthony Sforzin · RM 562096. Tempo 60 segundos.</a:t>
            </a:r>
          </a:p>
          <a:p xmlns:a="http://schemas.openxmlformats.org/drawingml/2006/main">
            <a:r>
              <a:t>Explicar a memória de cálculo. Pessoal: 11.200 + 19.200 + 28.800 + 9.600 = 68.800 reais. Somando infraestrutura/licenças de 3.200, a base é 72.000 reais. Contingência de 20% soma 14.400, totalizando 86.400. O custo de operação combina 1.200 de manutenção com 600 de infraestrutura, 1.800 por mês, ou 21.600 por 12 meses. Estes valores estimam uma evolução profissional de até 16 semanas, sem afirmar que o grupo gastou esse montante. Relacionar cada risco ao responsável e à mitigação apresentada.</a:t>
            </a:r>
          </a:p>
          <a:p xmlns:a="http://schemas.openxmlformats.org/drawingml/2006/main">
            <a:r>
              <a:t/>
            </a:r>
          </a:p>
          <a:p xmlns:a="http://schemas.openxmlformats.org/drawingml/2006/main">
            <a:r>
              <a:t>Fontes: Enunciado acadêmico CP2_CPSI_Enunciado_Simplificado_2026 (1).docx, turma 2ESPH-2026</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a:p xmlns:a="http://schemas.openxmlformats.org/drawingml/2006/main">
            <a:r>
              <a:t/>
            </a:r>
          </a:p>
          <a:p xmlns:a="http://schemas.openxmlformats.org/drawingml/2006/main">
            <a:r>
              <a:t>Os impactos são comparação enviesada, total incorreto e atraso da comparação de 2025. Responsáveis: Bruno, Anthony e Luigi, respectivamente. Rogério responde pela contingência de falha técnica, testando outro computador e levando pacote/captura. O relatório contém o plano completo.</a:t>
            </a:r>
          </a:p>
          <a:p xmlns:a="http://schemas.openxmlformats.org/drawingml/2006/main">
            <a:r>
              <a:t/>
            </a:r>
          </a:p>
          <a:p xmlns:a="http://schemas.openxmlformats.org/drawingml/2006/main">
            <a:r>
              <a:t>Roteiro: 11 minutos de conteúdo e 1 minuto de margem para transições e imprevistos.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Anthony Sforzin · RM 562096. Tempo 40 segundos.</a:t>
            </a:r>
          </a:p>
          <a:p xmlns:a="http://schemas.openxmlformats.org/drawingml/2006/main">
            <a:r>
              <a:t>Concluir retomando o valor da jornada demonstrada. Identificar o que funciona e o que pertence ao plano posterior. Explicar que dados incompletos e a semântica de Data limitam as conclusões. Informar que os links estão preenchidos e que o acesso da banca ainda deve ser validado. Preparar respostas sobre as duas perguntas, o indicador, a rastreabilidade, as funções, o cronograma e o orçamento. O conteúdo soma 660 segundos, 11 minutos, com 60 segundos de margem operacional dentro dos 12 minutos.</a:t>
            </a:r>
          </a:p>
          <a:p xmlns:a="http://schemas.openxmlformats.org/drawingml/2006/main">
            <a:r>
              <a:t/>
            </a:r>
          </a:p>
          <a:p xmlns:a="http://schemas.openxmlformats.org/drawingml/2006/main">
            <a:r>
              <a:t>Fontes: Enunciado acadêmico CP2_CPSI_Enunciado_Simplificado_2026 (1).docx, turma 2ESPH-2026</a:t>
            </a:r>
          </a:p>
          <a:p xmlns:a="http://schemas.openxmlformats.org/drawingml/2006/main">
            <a:r>
              <a:t>Portal de Dados Abertos do ES, base de execução orçamentária SIGEFES. https://dados2.es.gov.br/dataset/portal-da-transparencia-despesas-execucao-orcamentaria-e-financeira/resource/b34ae52a-a739-412a-9bab-80f53ba72f4f?inner_span=True</a:t>
            </a:r>
          </a:p>
          <a:p xmlns:a="http://schemas.openxmlformats.org/drawingml/2006/main">
            <a:r>
              <a:t>NIST, intervalo de Wilson para proporções. https://www.itl.nist.gov/div898/handbook/prc/section2/prc241.htm</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a:p xmlns:a="http://schemas.openxmlformats.org/drawingml/2006/main">
            <a:r>
              <a:t/>
            </a:r>
          </a:p>
          <a:p xmlns:a="http://schemas.openxmlformats.org/drawingml/2006/main">
            <a:r>
              <a:t>A população-alvo do IC é a base local. O uso de IA foi acompanhado de auditoria, reconciliação, testes e verificação da origem. A revisão humana das partes permanece responsabilidade do grupo. Código: https://github.com/Stratfy/cp5-data</a:t>
            </a:r>
          </a:p>
          <a:p xmlns:a="http://schemas.openxmlformats.org/drawingml/2006/main">
            <a:r>
              <a:t/>
            </a:r>
          </a:p>
          <a:p xmlns:a="http://schemas.openxmlformats.org/drawingml/2006/main">
            <a:r>
              <a:t>Roteiro: 11 minutos de conteúdo e 1 minuto de margem para transições e imprevistos.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b90c53510a442e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125e5b6ed24a81" /><Relationship Type="http://schemas.openxmlformats.org/officeDocument/2006/relationships/slideLayout" Target="/ppt/slideLayouts/slideLayout1.xml" Id="R347da088d7be4da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47da088d7be4da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669ce2337304b29" /><Relationship Type="http://schemas.openxmlformats.org/officeDocument/2006/relationships/notesSlide" Target="/ppt/notesSlides/notesSlide1.xml" Id="Rc3a6c4d9aef0449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c0665a196074c81" /><Relationship Type="http://schemas.openxmlformats.org/officeDocument/2006/relationships/notesSlide" Target="/ppt/notesSlides/notesSlide2.xml" Id="Re045f2ce295b405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8ffdecb10914c1b" /><Relationship Type="http://schemas.openxmlformats.org/officeDocument/2006/relationships/chart" Target="/ppt/slides/charts/chart1.xml" Id="R23fa2bfdb05c4c2f" /><Relationship Type="http://schemas.openxmlformats.org/officeDocument/2006/relationships/notesSlide" Target="/ppt/notesSlides/notesSlide3.xml" Id="R1413987a56814d4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e1d9bed02d14fd2" /><Relationship Type="http://schemas.openxmlformats.org/officeDocument/2006/relationships/chart" Target="/ppt/slides/charts/chart2.xml" Id="R66cd13e96b11477d" /><Relationship Type="http://schemas.openxmlformats.org/officeDocument/2006/relationships/notesSlide" Target="/ppt/notesSlides/notesSlide4.xml" Id="R3804511a59444ed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8c07b5999814609" /><Relationship Type="http://schemas.openxmlformats.org/officeDocument/2006/relationships/image" Target="/ppt/media/image.jpeg" Id="R5a99795b3bd9474a" /><Relationship Type="http://schemas.openxmlformats.org/officeDocument/2006/relationships/notesSlide" Target="/ppt/notesSlides/notesSlide5.xml" Id="Rcbcc6c09066548c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29336c777444047" /><Relationship Type="http://schemas.openxmlformats.org/officeDocument/2006/relationships/notesSlide" Target="/ppt/notesSlides/notesSlide6.xml" Id="R6f44c3b318ad45d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10bf4f126604d5f" /><Relationship Type="http://schemas.openxmlformats.org/officeDocument/2006/relationships/notesSlide" Target="/ppt/notesSlides/notesSlide7.xml" Id="R7ab21ad7d8af46a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fee6c4f2bb94d59" /><Relationship Type="http://schemas.openxmlformats.org/officeDocument/2006/relationships/notesSlide" Target="/ppt/notesSlides/notesSlide8.xml" Id="Rd94693d6d0124a2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ValorPago em R$ milhões</c:v>
          </c:tx>
          <c:spPr>
            <a:solidFill xmlns:a="http://schemas.openxmlformats.org/drawingml/2006/main">
              <a:srgbClr val="2563EB"/>
            </a:solidFill>
          </c:spPr>
          <c:dLbls>
            <c:dLbl>
              <c:idx val="0"/>
              <c:tx>
                <c:rich>
                  <a:bodyPr xmlns:a="http://schemas.openxmlformats.org/drawingml/2006/main"/>
                  <a:lstStyle xmlns:a="http://schemas.openxmlformats.org/drawingml/2006/main"/>
                  <a:p xmlns:a="http://schemas.openxmlformats.org/drawingml/2006/main">
                    <a:r>
                      <a:rPr sz="1650" b="1">
                        <a:solidFill>
                          <a:srgbClr val="14283F"/>
                        </a:solidFill>
                        <a:latin typeface="Arial"/>
                        <a:ea typeface="Arial"/>
                        <a:cs typeface="Arial"/>
                      </a:rPr>
                      <a:t>623,32</a:t>
                    </a:r>
                  </a:p>
                </c:rich>
              </c:tx>
              <c:txPr>
                <a:bodyPr xmlns:a="http://schemas.openxmlformats.org/drawingml/2006/main" anchorCtr="1"/>
                <a:lstStyle xmlns:a="http://schemas.openxmlformats.org/drawingml/2006/main"/>
                <a:p xmlns:a="http://schemas.openxmlformats.org/drawingml/2006/main">
                  <a:pPr>
                    <a:defRPr sz="1650" b="1">
                      <a:solidFill>
                        <a:srgbClr val="14283F"/>
                      </a:solidFill>
                      <a:latin typeface="Arial"/>
                      <a:ea typeface="Arial"/>
                      <a:cs typeface="Arial"/>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650" b="1">
                        <a:solidFill>
                          <a:srgbClr val="14283F"/>
                        </a:solidFill>
                        <a:latin typeface="Arial"/>
                        <a:ea typeface="Arial"/>
                        <a:cs typeface="Arial"/>
                      </a:rPr>
                      <a:t>844,21</a:t>
                    </a:r>
                  </a:p>
                </c:rich>
              </c:tx>
              <c:txPr>
                <a:bodyPr xmlns:a="http://schemas.openxmlformats.org/drawingml/2006/main" anchorCtr="1"/>
                <a:lstStyle xmlns:a="http://schemas.openxmlformats.org/drawingml/2006/main"/>
                <a:p xmlns:a="http://schemas.openxmlformats.org/drawingml/2006/main">
                  <a:pPr>
                    <a:defRPr sz="1650" b="1">
                      <a:solidFill>
                        <a:srgbClr val="14283F"/>
                      </a:solidFill>
                      <a:latin typeface="Arial"/>
                      <a:ea typeface="Arial"/>
                      <a:cs typeface="Arial"/>
                    </a:defRPr>
                  </a:pPr>
                </a:p>
              </c:txPr>
              <c:dLblPos val="outEnd"/>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650" b="1">
                        <a:solidFill>
                          <a:srgbClr val="14283F"/>
                        </a:solidFill>
                        <a:latin typeface="Arial"/>
                        <a:ea typeface="Arial"/>
                        <a:cs typeface="Arial"/>
                      </a:rPr>
                      <a:t>1.165,26</a:t>
                    </a:r>
                  </a:p>
                </c:rich>
              </c:tx>
              <c:txPr>
                <a:bodyPr xmlns:a="http://schemas.openxmlformats.org/drawingml/2006/main" anchorCtr="1"/>
                <a:lstStyle xmlns:a="http://schemas.openxmlformats.org/drawingml/2006/main"/>
                <a:p xmlns:a="http://schemas.openxmlformats.org/drawingml/2006/main">
                  <a:pPr>
                    <a:defRPr sz="1650" b="1">
                      <a:solidFill>
                        <a:srgbClr val="14283F"/>
                      </a:solidFill>
                      <a:latin typeface="Arial"/>
                      <a:ea typeface="Arial"/>
                      <a:cs typeface="Arial"/>
                    </a:defRPr>
                  </a:pPr>
                </a:p>
              </c:txPr>
              <c:dLblPos val="outEnd"/>
              <c:showLegendKey val="0"/>
              <c:showVal val="0"/>
              <c:showCatName val="0"/>
              <c:showSerName val="0"/>
              <c:showPercent val="0"/>
              <c:showBubbleSize val="0"/>
            </c:dLbl>
            <c:dLbl>
              <c:idx val="3"/>
              <c:tx>
                <c:rich>
                  <a:bodyPr xmlns:a="http://schemas.openxmlformats.org/drawingml/2006/main"/>
                  <a:lstStyle xmlns:a="http://schemas.openxmlformats.org/drawingml/2006/main"/>
                  <a:p xmlns:a="http://schemas.openxmlformats.org/drawingml/2006/main">
                    <a:r>
                      <a:rPr sz="1650" b="1">
                        <a:solidFill>
                          <a:srgbClr val="14283F"/>
                        </a:solidFill>
                        <a:latin typeface="Arial"/>
                        <a:ea typeface="Arial"/>
                        <a:cs typeface="Arial"/>
                      </a:rPr>
                      <a:t>1.477,60</a:t>
                    </a:r>
                  </a:p>
                </c:rich>
              </c:tx>
              <c:txPr>
                <a:bodyPr xmlns:a="http://schemas.openxmlformats.org/drawingml/2006/main" anchorCtr="1"/>
                <a:lstStyle xmlns:a="http://schemas.openxmlformats.org/drawingml/2006/main"/>
                <a:p xmlns:a="http://schemas.openxmlformats.org/drawingml/2006/main">
                  <a:pPr>
                    <a:defRPr sz="1650" b="1">
                      <a:solidFill>
                        <a:srgbClr val="14283F"/>
                      </a:solidFill>
                      <a:latin typeface="Arial"/>
                      <a:ea typeface="Arial"/>
                      <a:cs typeface="Arial"/>
                    </a:defRPr>
                  </a:pPr>
                </a:p>
              </c:txPr>
              <c:dLblPos val="outEnd"/>
              <c:showLegendKey val="0"/>
              <c:showVal val="0"/>
              <c:showCatName val="0"/>
              <c:showSerName val="0"/>
              <c:showPercent val="0"/>
              <c:showBubbleSize val="0"/>
            </c:dLbl>
            <c:dLbl>
              <c:idx val="4"/>
              <c:tx>
                <c:rich>
                  <a:bodyPr xmlns:a="http://schemas.openxmlformats.org/drawingml/2006/main"/>
                  <a:lstStyle xmlns:a="http://schemas.openxmlformats.org/drawingml/2006/main"/>
                  <a:p xmlns:a="http://schemas.openxmlformats.org/drawingml/2006/main">
                    <a:r>
                      <a:rPr sz="1650" b="1">
                        <a:solidFill>
                          <a:srgbClr val="14283F"/>
                        </a:solidFill>
                        <a:latin typeface="Arial"/>
                        <a:ea typeface="Arial"/>
                        <a:cs typeface="Arial"/>
                      </a:rPr>
                      <a:t>1.560,44</a:t>
                    </a:r>
                  </a:p>
                </c:rich>
              </c:tx>
              <c:txPr>
                <a:bodyPr xmlns:a="http://schemas.openxmlformats.org/drawingml/2006/main" anchorCtr="1"/>
                <a:lstStyle xmlns:a="http://schemas.openxmlformats.org/drawingml/2006/main"/>
                <a:p xmlns:a="http://schemas.openxmlformats.org/drawingml/2006/main">
                  <a:pPr>
                    <a:defRPr sz="1650" b="1">
                      <a:solidFill>
                        <a:srgbClr val="14283F"/>
                      </a:solidFill>
                      <a:latin typeface="Arial"/>
                      <a:ea typeface="Arial"/>
                      <a:cs typeface="Arial"/>
                    </a:defRPr>
                  </a:pPr>
                </a:p>
              </c:txPr>
              <c:dLblPos val="outEnd"/>
              <c:showLegendKey val="0"/>
              <c:showVal val="0"/>
              <c:showCatName val="0"/>
              <c:showSerName val="0"/>
              <c:showPercent val="0"/>
              <c:showBubbleSize val="0"/>
            </c:dLbl>
          </c:dLbls>
          <c:cat>
            <c:strRef>
              <c:f>'Chart Data'!$A$2:$A$6</c:f>
              <c:strCache>
                <c:ptCount val="5"/>
                <c:pt idx="0">
                  <c:v>Proteção Social Militar</c:v>
                </c:pt>
                <c:pt idx="1">
                  <c:v>Administração SEFAZ</c:v>
                </c:pt>
                <c:pt idx="2">
                  <c:v>Educação</c:v>
                </c:pt>
                <c:pt idx="3">
                  <c:v>Fundo Financeiro</c:v>
                </c:pt>
                <c:pt idx="4">
                  <c:v>Fundo Estadual de Saúde</c:v>
                </c:pt>
              </c:strCache>
            </c:strRef>
          </c:cat>
          <c:val>
            <c:numRef>
              <c:f>'Chart Data'!$B$2:$B$6</c:f>
              <c:numCache>
                <c:formatCode>[$-pt-BR]#,##0.00</c:formatCode>
                <c:ptCount val="5"/>
                <c:pt idx="0">
                  <c:v>623.3240258</c:v>
                </c:pt>
                <c:pt idx="1">
                  <c:v>844.2051142</c:v>
                </c:pt>
                <c:pt idx="2">
                  <c:v>1165.25776344</c:v>
                </c:pt>
                <c:pt idx="3">
                  <c:v>1477.60204631</c:v>
                </c:pt>
                <c:pt idx="4">
                  <c:v>1560.44375554</c:v>
                </c:pt>
              </c:numCache>
            </c:numRef>
          </c:val>
        </c:ser>
        <c:dLbls>
          <c:txPr>
            <a:bodyPr xmlns:a="http://schemas.openxmlformats.org/drawingml/2006/main" anchorCtr="1"/>
            <a:lstStyle xmlns:a="http://schemas.openxmlformats.org/drawingml/2006/main"/>
            <a:p xmlns:a="http://schemas.openxmlformats.org/drawingml/2006/main">
              <a:pPr>
                <a:defRPr sz="1650" b="1">
                  <a:solidFill>
                    <a:srgbClr val="14283F"/>
                  </a:solidFill>
                  <a:latin typeface="Arial"/>
                  <a:ea typeface="Arial"/>
                  <a:cs typeface="Arial"/>
                </a:defRPr>
              </a:pPr>
            </a:p>
          </c:txPr>
          <c:dLblPos val="outEnd"/>
          <c:showLegendKey val="0"/>
          <c:showVal val="0"/>
          <c:showCatName val="0"/>
          <c:showSerName val="0"/>
          <c:showPercent val="0"/>
          <c:showBubbleSize val="0"/>
          <c:showLeaderLines val="0"/>
        </c:dLbls>
        <c:gapWidth val="8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4283F"/>
                </a:solidFill>
                <a:latin typeface="Arial"/>
                <a:ea typeface="Arial"/>
                <a:cs typeface="Arial"/>
              </a:defRPr>
            </a:pPr>
          </a:p>
        </c:txPr>
        <c:crossAx val="48672768"/>
      </c:catAx>
      <c:valAx>
        <c:axId val="48672768"/>
        <c:scaling>
          <c:orientation val="minMax"/>
          <c:max val="1950"/>
          <c:min val="0"/>
        </c:scaling>
        <c:delete val="0"/>
        <c:axPos val="b"/>
        <c:numFmt formatCode="0"/>
        <c:majorTickMark val="none"/>
        <c:minorTickMark val="none"/>
        <c:tickLblPos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ValorPago em R$ milhões</c:v>
          </c:tx>
          <c:spPr>
            <a:ln xmlns:a="http://schemas.openxmlformats.org/drawingml/2006/main" w="38100">
              <a:solidFill>
                <a:srgbClr val="2563EB"/>
              </a:solidFill>
            </a:ln>
          </c:spPr>
          <c:marker>
            <c:symbol val="circle"/>
            <c:size val="7"/>
            <c:spPr>
              <a:solidFill xmlns:a="http://schemas.openxmlformats.org/drawingml/2006/main">
                <a:srgbClr val="2563EB"/>
              </a:solidFill>
            </c:spPr>
          </c:marker>
          <c:dPt>
            <c:idx val="11"/>
            <c:spPr>
              <a:solidFill xmlns:a="http://schemas.openxmlformats.org/drawingml/2006/main">
                <a:srgbClr val="14283F"/>
              </a:solidFill>
              <a:ln xmlns:a="http://schemas.openxmlformats.org/drawingml/2006/main" w="19050">
                <a:solidFill>
                  <a:srgbClr val="14283F"/>
                </a:solidFill>
              </a:ln>
            </c:spPr>
          </c:dPt>
          <c:cat>
            <c:strRef>
              <c:f>'Chart Data'!$A$2:$A$13</c:f>
              <c:strCache>
                <c:ptCount val="12"/>
                <c:pt idx="0">
                  <c:v>Jan</c:v>
                </c:pt>
                <c:pt idx="1">
                  <c:v>Fev</c:v>
                </c:pt>
                <c:pt idx="2">
                  <c:v>Mar</c:v>
                </c:pt>
                <c:pt idx="3">
                  <c:v>Abr</c:v>
                </c:pt>
                <c:pt idx="4">
                  <c:v>Mai</c:v>
                </c:pt>
                <c:pt idx="5">
                  <c:v>Jun</c:v>
                </c:pt>
                <c:pt idx="6">
                  <c:v>Jul</c:v>
                </c:pt>
                <c:pt idx="7">
                  <c:v>Ago</c:v>
                </c:pt>
                <c:pt idx="8">
                  <c:v>Set</c:v>
                </c:pt>
                <c:pt idx="9">
                  <c:v>Out</c:v>
                </c:pt>
                <c:pt idx="10">
                  <c:v>Nov</c:v>
                </c:pt>
                <c:pt idx="11">
                  <c:v>Dez</c:v>
                </c:pt>
              </c:strCache>
            </c:strRef>
          </c:cat>
          <c:val>
            <c:numRef>
              <c:f>'Chart Data'!$B$2:$B$13</c:f>
              <c:numCache>
                <c:formatCode>[$-pt-BR]#,##0.00</c:formatCode>
                <c:ptCount val="12"/>
                <c:pt idx="0">
                  <c:v>634.74398843</c:v>
                </c:pt>
                <c:pt idx="1">
                  <c:v>562.14451502</c:v>
                </c:pt>
                <c:pt idx="2">
                  <c:v>461.74798232</c:v>
                </c:pt>
                <c:pt idx="3">
                  <c:v>707.72609549</c:v>
                </c:pt>
                <c:pt idx="4">
                  <c:v>903.26009209</c:v>
                </c:pt>
                <c:pt idx="5">
                  <c:v>812.29691861</c:v>
                </c:pt>
                <c:pt idx="6">
                  <c:v>1094.51740433</c:v>
                </c:pt>
                <c:pt idx="7">
                  <c:v>848.56215994</c:v>
                </c:pt>
                <c:pt idx="8">
                  <c:v>745.54569426</c:v>
                </c:pt>
                <c:pt idx="9">
                  <c:v>1027.41294933</c:v>
                </c:pt>
                <c:pt idx="10">
                  <c:v>891.08690048</c:v>
                </c:pt>
                <c:pt idx="11">
                  <c:v>1648.05415832</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CE3EC"/>
            </a:solidFill>
          </a:ln>
        </c:spPr>
        <c:txPr>
          <a:bodyPr xmlns:a="http://schemas.openxmlformats.org/drawingml/2006/main" anchorCtr="1"/>
          <a:lstStyle xmlns:a="http://schemas.openxmlformats.org/drawingml/2006/main"/>
          <a:p xmlns:a="http://schemas.openxmlformats.org/drawingml/2006/main">
            <a:pPr>
              <a:defRPr sz="1575">
                <a:solidFill>
                  <a:srgbClr val="14283F"/>
                </a:solidFill>
                <a:latin typeface="Arial"/>
                <a:ea typeface="Arial"/>
                <a:cs typeface="Arial"/>
              </a:defRPr>
            </a:pPr>
          </a:p>
        </c:txPr>
        <c:crossAx val="48672768"/>
      </c:catAx>
      <c:valAx>
        <c:axId val="48672768"/>
        <c:scaling>
          <c:orientation val="minMax"/>
          <c:max val="2000"/>
          <c:min val="0"/>
        </c:scaling>
        <c:delete val="0"/>
        <c:axPos val="l"/>
        <c:majorGridlines>
          <c:spPr>
            <a:ln xmlns:a="http://schemas.openxmlformats.org/drawingml/2006/main" w="9525">
              <a:solidFill>
                <a:srgbClr val="DCE3EC"/>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5D6D82"/>
                </a:solidFill>
                <a:latin typeface="Arial"/>
                <a:ea typeface="Arial"/>
                <a:cs typeface="Arial"/>
              </a:defRPr>
            </a:pPr>
          </a:p>
        </c:txPr>
        <c:crossAx val="48650112"/>
        <c:crossBetween val="between"/>
        <c:majorUnit val="500"/>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34FA401F-2B9E-403B-9616-8946F2470945}"/>
              </a:ext>
            </a:extLst>
          </p:cNvPr>
          <p:cNvSpPr>
            <a:spLocks xmlns:a="http://schemas.openxmlformats.org/drawingml/2006/main" noGrp="1"/>
          </p:cNvSpPr>
          <p:nvPr/>
        </p:nvSpPr>
        <p:spPr>
          <a:xfrm xmlns:a="http://schemas.openxmlformats.org/drawingml/2006/main">
            <a:off x="609600" y="209550"/>
            <a:ext cx="723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2563EB"/>
                </a:solidFill>
                <a:latin typeface="Arial"/>
                <a:ea typeface="Arial"/>
                <a:cs typeface="Arial"/>
              </a:defRPr>
            </a:pPr>
            <a:r>
              <a:rPr sz="1125" b="1">
                <a:solidFill>
                  <a:srgbClr val="2563EB"/>
                </a:solidFill>
                <a:latin typeface="Arial"/>
                <a:ea typeface="Arial"/>
                <a:cs typeface="Arial"/>
              </a:rPr>
              <a:t>PAGAMENTOS ES 2024</a:t>
            </a:r>
          </a:p>
        </p:txBody>
      </p:sp>
      <p:sp>
        <p:nvSpPr>
          <p:cNvPr id="2" name="">
            <a:extLst xmlns:a="http://schemas.openxmlformats.org/drawingml/2006/main">
              <a:ext uri="{FF2B5EF4-FFF2-40B4-BE49-F238E27FC236}">
                <a16:creationId xmlns:a16="http://schemas.microsoft.com/office/drawing/2014/main" id="{F7339694-9562-4B36-AAAB-4CE9ADF7D0CB}"/>
              </a:ext>
            </a:extLst>
          </p:cNvPr>
          <p:cNvSpPr>
            <a:spLocks xmlns:a="http://schemas.openxmlformats.org/drawingml/2006/main" noGrp="1"/>
          </p:cNvSpPr>
          <p:nvPr/>
        </p:nvSpPr>
        <p:spPr>
          <a:xfrm xmlns:a="http://schemas.openxmlformats.org/drawingml/2006/main">
            <a:off x="9001125" y="209550"/>
            <a:ext cx="257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2563EB"/>
                </a:solidFill>
                <a:latin typeface="Arial"/>
                <a:ea typeface="Arial"/>
                <a:cs typeface="Arial"/>
              </a:defRPr>
            </a:pPr>
            <a:r>
              <a:rPr sz="1125" b="1">
                <a:solidFill>
                  <a:srgbClr val="2563EB"/>
                </a:solidFill>
                <a:latin typeface="Arial"/>
                <a:ea typeface="Arial"/>
                <a:cs typeface="Arial"/>
              </a:rPr>
              <a:t>PROPOSTA</a:t>
            </a:r>
          </a:p>
        </p:txBody>
      </p:sp>
      <p:sp>
        <p:nvSpPr>
          <p:cNvPr id="3" name="">
            <a:extLst xmlns:a="http://schemas.openxmlformats.org/drawingml/2006/main">
              <a:ext uri="{FF2B5EF4-FFF2-40B4-BE49-F238E27FC236}">
                <a16:creationId xmlns:a16="http://schemas.microsoft.com/office/drawing/2014/main" id="{28F9BCCC-80AC-4E23-AE08-E6332C432D25}"/>
              </a:ext>
            </a:extLst>
          </p:cNvPr>
          <p:cNvSpPr>
            <a:spLocks xmlns:a="http://schemas.openxmlformats.org/drawingml/2006/main" noGrp="1"/>
          </p:cNvSpPr>
          <p:nvPr/>
        </p:nvSpPr>
        <p:spPr>
          <a:xfrm xmlns:a="http://schemas.openxmlformats.org/drawingml/2006/main">
            <a:off x="609600" y="6315075"/>
            <a:ext cx="10972800" cy="0"/>
          </a:xfrm>
          <a:prstGeom xmlns:a="http://schemas.openxmlformats.org/drawingml/2006/main" prst="line">
            <a:avLst/>
          </a:prstGeom>
          <a:noFill xmlns:a="http://schemas.openxmlformats.org/drawingml/2006/main"/>
          <a:ln xmlns:a="http://schemas.openxmlformats.org/drawingml/2006/main" w="9525">
            <a:solidFill>
              <a:srgbClr val="DCE3EC"/>
            </a:solidFill>
          </a:ln>
        </p:spPr>
      </p:sp>
      <p:sp>
        <p:nvSpPr>
          <p:cNvPr id="4" name="">
            <a:extLst xmlns:a="http://schemas.openxmlformats.org/drawingml/2006/main">
              <a:ext uri="{FF2B5EF4-FFF2-40B4-BE49-F238E27FC236}">
                <a16:creationId xmlns:a16="http://schemas.microsoft.com/office/drawing/2014/main" id="{F905B2A0-1D74-464C-BDFB-B3744D747AA5}"/>
              </a:ext>
            </a:extLst>
          </p:cNvPr>
          <p:cNvSpPr>
            <a:spLocks xmlns:a="http://schemas.openxmlformats.org/drawingml/2006/main" noGrp="1"/>
          </p:cNvSpPr>
          <p:nvPr/>
        </p:nvSpPr>
        <p:spPr>
          <a:xfrm xmlns:a="http://schemas.openxmlformats.org/drawingml/2006/main">
            <a:off x="10801350" y="6419850"/>
            <a:ext cx="904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5D6D82"/>
                </a:solidFill>
                <a:latin typeface="Arial"/>
                <a:ea typeface="Arial"/>
                <a:cs typeface="Arial"/>
              </a:defRPr>
            </a:pPr>
            <a:r>
              <a:rPr sz="1200" b="0">
                <a:solidFill>
                  <a:srgbClr val="5D6D82"/>
                </a:solidFill>
                <a:latin typeface="Arial"/>
                <a:ea typeface="Arial"/>
                <a:cs typeface="Arial"/>
              </a:rPr>
              <a:t>01 / 08</a:t>
            </a:r>
          </a:p>
        </p:txBody>
      </p:sp>
      <p:sp>
        <p:nvSpPr>
          <p:cNvPr id="5" name="">
            <a:extLst xmlns:a="http://schemas.openxmlformats.org/drawingml/2006/main">
              <a:ext uri="{FF2B5EF4-FFF2-40B4-BE49-F238E27FC236}">
                <a16:creationId xmlns:a16="http://schemas.microsoft.com/office/drawing/2014/main" id="{A898E0A0-A13E-4750-8ABB-C0483AD9D3AA}"/>
              </a:ext>
            </a:extLst>
          </p:cNvPr>
          <p:cNvSpPr>
            <a:spLocks xmlns:a="http://schemas.openxmlformats.org/drawingml/2006/main" noGrp="1"/>
          </p:cNvSpPr>
          <p:nvPr/>
        </p:nvSpPr>
        <p:spPr>
          <a:xfrm xmlns:a="http://schemas.openxmlformats.org/drawingml/2006/main">
            <a:off x="609600" y="1000125"/>
            <a:ext cx="1057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75" b="1">
                <a:solidFill>
                  <a:srgbClr val="2563EB"/>
                </a:solidFill>
                <a:latin typeface="Arial"/>
                <a:ea typeface="Arial"/>
                <a:cs typeface="Arial"/>
              </a:defRPr>
            </a:pPr>
            <a:r>
              <a:rPr sz="1575" b="1">
                <a:solidFill>
                  <a:srgbClr val="2563EB"/>
                </a:solidFill>
                <a:latin typeface="Arial"/>
                <a:ea typeface="Arial"/>
                <a:cs typeface="Arial"/>
              </a:rPr>
              <a:t>PROPOSTA TÉCNICA E PROVA DE CONCEITO</a:t>
            </a:r>
          </a:p>
        </p:txBody>
      </p:sp>
      <p:sp>
        <p:nvSpPr>
          <p:cNvPr id="6" name="">
            <a:extLst xmlns:a="http://schemas.openxmlformats.org/drawingml/2006/main">
              <a:ext uri="{FF2B5EF4-FFF2-40B4-BE49-F238E27FC236}">
                <a16:creationId xmlns:a16="http://schemas.microsoft.com/office/drawing/2014/main" id="{0868D845-344E-4244-9D45-2D05D4A2D96E}"/>
              </a:ext>
            </a:extLst>
          </p:cNvPr>
          <p:cNvSpPr>
            <a:spLocks xmlns:a="http://schemas.openxmlformats.org/drawingml/2006/main" noGrp="1"/>
          </p:cNvSpPr>
          <p:nvPr/>
        </p:nvSpPr>
        <p:spPr>
          <a:xfrm xmlns:a="http://schemas.openxmlformats.org/drawingml/2006/main">
            <a:off x="609600" y="1514475"/>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800" b="1">
                <a:solidFill>
                  <a:srgbClr val="14283F"/>
                </a:solidFill>
                <a:latin typeface="Arial"/>
                <a:ea typeface="Arial"/>
                <a:cs typeface="Arial"/>
              </a:defRPr>
            </a:pPr>
            <a:r>
              <a:rPr sz="4800" b="1">
                <a:solidFill>
                  <a:srgbClr val="14283F"/>
                </a:solidFill>
                <a:latin typeface="Arial"/>
                <a:ea typeface="Arial"/>
                <a:cs typeface="Arial"/>
              </a:rPr>
              <a:t>Pagamentos ES 2024</a:t>
            </a:r>
          </a:p>
        </p:txBody>
      </p:sp>
      <p:sp>
        <p:nvSpPr>
          <p:cNvPr id="7" name="">
            <a:extLst xmlns:a="http://schemas.openxmlformats.org/drawingml/2006/main">
              <a:ext uri="{FF2B5EF4-FFF2-40B4-BE49-F238E27FC236}">
                <a16:creationId xmlns:a16="http://schemas.microsoft.com/office/drawing/2014/main" id="{E2829133-68FB-499A-AD5B-8460046B260D}"/>
              </a:ext>
            </a:extLst>
          </p:cNvPr>
          <p:cNvSpPr>
            <a:spLocks xmlns:a="http://schemas.openxmlformats.org/drawingml/2006/main" noGrp="1"/>
          </p:cNvSpPr>
          <p:nvPr/>
        </p:nvSpPr>
        <p:spPr>
          <a:xfrm xmlns:a="http://schemas.openxmlformats.org/drawingml/2006/main">
            <a:off x="609600" y="2514600"/>
            <a:ext cx="10572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1">
                <a:solidFill>
                  <a:srgbClr val="14283F"/>
                </a:solidFill>
                <a:latin typeface="Arial"/>
                <a:ea typeface="Arial"/>
                <a:cs typeface="Arial"/>
              </a:defRPr>
            </a:pPr>
            <a:r>
              <a:rPr sz="2700" b="1">
                <a:solidFill>
                  <a:srgbClr val="14283F"/>
                </a:solidFill>
                <a:latin typeface="Arial"/>
                <a:ea typeface="Arial"/>
                <a:cs typeface="Arial"/>
              </a:rPr>
              <a:t>Análise de despesas públicas</a:t>
            </a:r>
          </a:p>
        </p:txBody>
      </p:sp>
      <p:sp>
        <p:nvSpPr>
          <p:cNvPr id="8" name="">
            <a:extLst xmlns:a="http://schemas.openxmlformats.org/drawingml/2006/main">
              <a:ext uri="{FF2B5EF4-FFF2-40B4-BE49-F238E27FC236}">
                <a16:creationId xmlns:a16="http://schemas.microsoft.com/office/drawing/2014/main" id="{97BD422D-E707-4624-B5D3-3DD56A614C52}"/>
              </a:ext>
            </a:extLst>
          </p:cNvPr>
          <p:cNvSpPr>
            <a:spLocks xmlns:a="http://schemas.openxmlformats.org/drawingml/2006/main" noGrp="1"/>
          </p:cNvSpPr>
          <p:nvPr/>
        </p:nvSpPr>
        <p:spPr>
          <a:xfrm xmlns:a="http://schemas.openxmlformats.org/drawingml/2006/main">
            <a:off x="609600" y="3124200"/>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0">
                <a:solidFill>
                  <a:srgbClr val="5D6D82"/>
                </a:solidFill>
                <a:latin typeface="Arial"/>
                <a:ea typeface="Arial"/>
                <a:cs typeface="Arial"/>
              </a:defRPr>
            </a:pPr>
            <a:r>
              <a:rPr sz="2025" b="0">
                <a:solidFill>
                  <a:srgbClr val="5D6D82"/>
                </a:solidFill>
                <a:latin typeface="Arial"/>
                <a:ea typeface="Arial"/>
                <a:cs typeface="Arial"/>
              </a:rPr>
              <a:t>Consulta por unidade gestora e período, com origem verificável.</a:t>
            </a:r>
          </a:p>
        </p:txBody>
      </p:sp>
      <p:sp>
        <p:nvSpPr>
          <p:cNvPr id="9" name="">
            <a:extLst xmlns:a="http://schemas.openxmlformats.org/drawingml/2006/main">
              <a:ext uri="{FF2B5EF4-FFF2-40B4-BE49-F238E27FC236}">
                <a16:creationId xmlns:a16="http://schemas.microsoft.com/office/drawing/2014/main" id="{8758A78E-DAEA-4CA5-91FF-5FF789EB2AEB}"/>
              </a:ext>
            </a:extLst>
          </p:cNvPr>
          <p:cNvSpPr>
            <a:spLocks xmlns:a="http://schemas.openxmlformats.org/drawingml/2006/main" noGrp="1"/>
          </p:cNvSpPr>
          <p:nvPr/>
        </p:nvSpPr>
        <p:spPr>
          <a:xfrm xmlns:a="http://schemas.openxmlformats.org/drawingml/2006/main">
            <a:off x="609600" y="35623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5D6D82"/>
                </a:solidFill>
                <a:latin typeface="Arial"/>
                <a:ea typeface="Arial"/>
                <a:cs typeface="Arial"/>
              </a:defRPr>
            </a:pPr>
            <a:r>
              <a:rPr sz="1800" b="0">
                <a:solidFill>
                  <a:srgbClr val="5D6D82"/>
                </a:solidFill>
                <a:latin typeface="Arial"/>
                <a:ea typeface="Arial"/>
                <a:cs typeface="Arial"/>
              </a:rPr>
              <a:t>Para gestores públicos e analistas de controle interno</a:t>
            </a:r>
          </a:p>
        </p:txBody>
      </p:sp>
      <p:sp>
        <p:nvSpPr>
          <p:cNvPr id="10" name="">
            <a:extLst xmlns:a="http://schemas.openxmlformats.org/drawingml/2006/main">
              <a:ext uri="{FF2B5EF4-FFF2-40B4-BE49-F238E27FC236}">
                <a16:creationId xmlns:a16="http://schemas.microsoft.com/office/drawing/2014/main" id="{0BA1E094-6524-4D50-BB8C-5C8BEEB75F79}"/>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DCE3EC"/>
            </a:solidFill>
          </a:ln>
        </p:spPr>
      </p:sp>
      <p:sp>
        <p:nvSpPr>
          <p:cNvPr id="11" name="">
            <a:extLst xmlns:a="http://schemas.openxmlformats.org/drawingml/2006/main">
              <a:ext uri="{FF2B5EF4-FFF2-40B4-BE49-F238E27FC236}">
                <a16:creationId xmlns:a16="http://schemas.microsoft.com/office/drawing/2014/main" id="{7FF86471-FE94-4A0E-B000-49739BE75FF3}"/>
              </a:ext>
            </a:extLst>
          </p:cNvPr>
          <p:cNvSpPr>
            <a:spLocks xmlns:a="http://schemas.openxmlformats.org/drawingml/2006/main" noGrp="1"/>
          </p:cNvSpPr>
          <p:nvPr/>
        </p:nvSpPr>
        <p:spPr>
          <a:xfrm xmlns:a="http://schemas.openxmlformats.org/drawingml/2006/main">
            <a:off x="609600" y="4324350"/>
            <a:ext cx="342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2563EB"/>
                </a:solidFill>
                <a:latin typeface="Arial"/>
                <a:ea typeface="Arial"/>
                <a:cs typeface="Arial"/>
              </a:defRPr>
            </a:pPr>
            <a:r>
              <a:rPr sz="3600" b="1">
                <a:solidFill>
                  <a:srgbClr val="2563EB"/>
                </a:solidFill>
                <a:latin typeface="Arial"/>
                <a:ea typeface="Arial"/>
                <a:cs typeface="Arial"/>
              </a:rPr>
              <a:t>505.950</a:t>
            </a:r>
          </a:p>
        </p:txBody>
      </p:sp>
      <p:sp>
        <p:nvSpPr>
          <p:cNvPr id="12" name="">
            <a:extLst xmlns:a="http://schemas.openxmlformats.org/drawingml/2006/main">
              <a:ext uri="{FF2B5EF4-FFF2-40B4-BE49-F238E27FC236}">
                <a16:creationId xmlns:a16="http://schemas.microsoft.com/office/drawing/2014/main" id="{DA3ABAA4-4850-417D-BF55-B2CBC8CA44C7}"/>
              </a:ext>
            </a:extLst>
          </p:cNvPr>
          <p:cNvSpPr>
            <a:spLocks xmlns:a="http://schemas.openxmlformats.org/drawingml/2006/main" noGrp="1"/>
          </p:cNvSpPr>
          <p:nvPr/>
        </p:nvSpPr>
        <p:spPr>
          <a:xfrm xmlns:a="http://schemas.openxmlformats.org/drawingml/2006/main">
            <a:off x="609600" y="4962525"/>
            <a:ext cx="342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75" b="0">
                <a:solidFill>
                  <a:srgbClr val="5D6D82"/>
                </a:solidFill>
                <a:latin typeface="Arial"/>
                <a:ea typeface="Arial"/>
                <a:cs typeface="Arial"/>
              </a:defRPr>
            </a:pPr>
            <a:r>
              <a:rPr sz="1575" b="0">
                <a:solidFill>
                  <a:srgbClr val="5D6D82"/>
                </a:solidFill>
                <a:latin typeface="Arial"/>
                <a:ea typeface="Arial"/>
                <a:cs typeface="Arial"/>
              </a:rPr>
              <a:t>registros recebidos</a:t>
            </a:r>
          </a:p>
        </p:txBody>
      </p:sp>
      <p:sp>
        <p:nvSpPr>
          <p:cNvPr id="13" name="">
            <a:extLst xmlns:a="http://schemas.openxmlformats.org/drawingml/2006/main">
              <a:ext uri="{FF2B5EF4-FFF2-40B4-BE49-F238E27FC236}">
                <a16:creationId xmlns:a16="http://schemas.microsoft.com/office/drawing/2014/main" id="{0DC32F46-4555-47E6-B47D-47D5CEE287A3}"/>
              </a:ext>
            </a:extLst>
          </p:cNvPr>
          <p:cNvSpPr>
            <a:spLocks xmlns:a="http://schemas.openxmlformats.org/drawingml/2006/main" noGrp="1"/>
          </p:cNvSpPr>
          <p:nvPr/>
        </p:nvSpPr>
        <p:spPr>
          <a:xfrm xmlns:a="http://schemas.openxmlformats.org/drawingml/2006/main">
            <a:off x="4381500" y="4324350"/>
            <a:ext cx="342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2563EB"/>
                </a:solidFill>
                <a:latin typeface="Arial"/>
                <a:ea typeface="Arial"/>
                <a:cs typeface="Arial"/>
              </a:defRPr>
            </a:pPr>
            <a:r>
              <a:rPr sz="3600" b="1">
                <a:solidFill>
                  <a:srgbClr val="2563EB"/>
                </a:solidFill>
                <a:latin typeface="Arial"/>
                <a:ea typeface="Arial"/>
                <a:cs typeface="Arial"/>
              </a:rPr>
              <a:t>117</a:t>
            </a:r>
          </a:p>
        </p:txBody>
      </p:sp>
      <p:sp>
        <p:nvSpPr>
          <p:cNvPr id="14" name="">
            <a:extLst xmlns:a="http://schemas.openxmlformats.org/drawingml/2006/main">
              <a:ext uri="{FF2B5EF4-FFF2-40B4-BE49-F238E27FC236}">
                <a16:creationId xmlns:a16="http://schemas.microsoft.com/office/drawing/2014/main" id="{41CAF2C7-CBDA-496A-9503-18A545C8C33E}"/>
              </a:ext>
            </a:extLst>
          </p:cNvPr>
          <p:cNvSpPr>
            <a:spLocks xmlns:a="http://schemas.openxmlformats.org/drawingml/2006/main" noGrp="1"/>
          </p:cNvSpPr>
          <p:nvPr/>
        </p:nvSpPr>
        <p:spPr>
          <a:xfrm xmlns:a="http://schemas.openxmlformats.org/drawingml/2006/main">
            <a:off x="4381500" y="4962525"/>
            <a:ext cx="342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75" b="0">
                <a:solidFill>
                  <a:srgbClr val="5D6D82"/>
                </a:solidFill>
                <a:latin typeface="Arial"/>
                <a:ea typeface="Arial"/>
                <a:cs typeface="Arial"/>
              </a:defRPr>
            </a:pPr>
            <a:r>
              <a:rPr sz="1575" b="0">
                <a:solidFill>
                  <a:srgbClr val="5D6D82"/>
                </a:solidFill>
                <a:latin typeface="Arial"/>
                <a:ea typeface="Arial"/>
                <a:cs typeface="Arial"/>
              </a:rPr>
              <a:t>unidades gestoras</a:t>
            </a:r>
          </a:p>
        </p:txBody>
      </p:sp>
      <p:sp>
        <p:nvSpPr>
          <p:cNvPr id="15" name="">
            <a:extLst xmlns:a="http://schemas.openxmlformats.org/drawingml/2006/main">
              <a:ext uri="{FF2B5EF4-FFF2-40B4-BE49-F238E27FC236}">
                <a16:creationId xmlns:a16="http://schemas.microsoft.com/office/drawing/2014/main" id="{E0F9B48B-8BB9-4687-93A3-94BB5C80CCB7}"/>
              </a:ext>
            </a:extLst>
          </p:cNvPr>
          <p:cNvSpPr>
            <a:spLocks xmlns:a="http://schemas.openxmlformats.org/drawingml/2006/main" noGrp="1"/>
          </p:cNvSpPr>
          <p:nvPr/>
        </p:nvSpPr>
        <p:spPr>
          <a:xfrm xmlns:a="http://schemas.openxmlformats.org/drawingml/2006/main">
            <a:off x="8153400" y="4324350"/>
            <a:ext cx="342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2563EB"/>
                </a:solidFill>
                <a:latin typeface="Arial"/>
                <a:ea typeface="Arial"/>
                <a:cs typeface="Arial"/>
              </a:defRPr>
            </a:pPr>
            <a:r>
              <a:rPr sz="3600" b="1">
                <a:solidFill>
                  <a:srgbClr val="2563EB"/>
                </a:solidFill>
                <a:latin typeface="Arial"/>
                <a:ea typeface="Arial"/>
                <a:cs typeface="Arial"/>
              </a:rPr>
              <a:t>2024</a:t>
            </a:r>
          </a:p>
        </p:txBody>
      </p:sp>
      <p:sp>
        <p:nvSpPr>
          <p:cNvPr id="16" name="">
            <a:extLst xmlns:a="http://schemas.openxmlformats.org/drawingml/2006/main">
              <a:ext uri="{FF2B5EF4-FFF2-40B4-BE49-F238E27FC236}">
                <a16:creationId xmlns:a16="http://schemas.microsoft.com/office/drawing/2014/main" id="{4D0E41A8-151E-487D-871E-F369CABA8A96}"/>
              </a:ext>
            </a:extLst>
          </p:cNvPr>
          <p:cNvSpPr>
            <a:spLocks xmlns:a="http://schemas.openxmlformats.org/drawingml/2006/main" noGrp="1"/>
          </p:cNvSpPr>
          <p:nvPr/>
        </p:nvSpPr>
        <p:spPr>
          <a:xfrm xmlns:a="http://schemas.openxmlformats.org/drawingml/2006/main">
            <a:off x="8153400" y="4962525"/>
            <a:ext cx="342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75" b="0">
                <a:solidFill>
                  <a:srgbClr val="5D6D82"/>
                </a:solidFill>
                <a:latin typeface="Arial"/>
                <a:ea typeface="Arial"/>
                <a:cs typeface="Arial"/>
              </a:defRPr>
            </a:pPr>
            <a:r>
              <a:rPr sz="1575" b="0">
                <a:solidFill>
                  <a:srgbClr val="5D6D82"/>
                </a:solidFill>
                <a:latin typeface="Arial"/>
                <a:ea typeface="Arial"/>
                <a:cs typeface="Arial"/>
              </a:rPr>
              <a:t>ano do recorte</a:t>
            </a:r>
          </a:p>
        </p:txBody>
      </p:sp>
      <p:sp>
        <p:nvSpPr>
          <p:cNvPr id="17" name="">
            <a:extLst xmlns:a="http://schemas.openxmlformats.org/drawingml/2006/main">
              <a:ext uri="{FF2B5EF4-FFF2-40B4-BE49-F238E27FC236}">
                <a16:creationId xmlns:a16="http://schemas.microsoft.com/office/drawing/2014/main" id="{F0C6B944-43F4-47F1-984A-07F293C4F4B7}"/>
              </a:ext>
            </a:extLst>
          </p:cNvPr>
          <p:cNvSpPr>
            <a:spLocks xmlns:a="http://schemas.openxmlformats.org/drawingml/2006/main" noGrp="1"/>
          </p:cNvSpPr>
          <p:nvPr/>
        </p:nvSpPr>
        <p:spPr>
          <a:xfrm xmlns:a="http://schemas.openxmlformats.org/drawingml/2006/main">
            <a:off x="609600" y="5505450"/>
            <a:ext cx="52673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75" b="0">
                <a:solidFill>
                  <a:srgbClr val="14283F"/>
                </a:solidFill>
                <a:latin typeface="Arial"/>
                <a:ea typeface="Arial"/>
                <a:cs typeface="Arial"/>
              </a:defRPr>
            </a:pPr>
            <a:r>
              <a:rPr sz="1575" b="0">
                <a:solidFill>
                  <a:srgbClr val="14283F"/>
                </a:solidFill>
                <a:latin typeface="Arial"/>
                <a:ea typeface="Arial"/>
                <a:cs typeface="Arial"/>
              </a:rPr>
              <a:t>Luigi Mendes Cabrini · RM 563552</a:t>
            </a:r>
          </a:p>
          <a:p xmlns:a="http://schemas.openxmlformats.org/drawingml/2006/main">
            <a:pPr>
              <a:defRPr sz="1575" b="0">
                <a:solidFill>
                  <a:srgbClr val="14283F"/>
                </a:solidFill>
                <a:latin typeface="Arial"/>
                <a:ea typeface="Arial"/>
                <a:cs typeface="Arial"/>
              </a:defRPr>
            </a:pPr>
            <a:r>
              <a:rPr sz="1575" b="0">
                <a:solidFill>
                  <a:srgbClr val="14283F"/>
                </a:solidFill>
                <a:latin typeface="Arial"/>
                <a:ea typeface="Arial"/>
                <a:cs typeface="Arial"/>
              </a:rPr>
              <a:t>Bruno Koeke · RM 561309</a:t>
            </a:r>
          </a:p>
        </p:txBody>
      </p:sp>
      <p:sp>
        <p:nvSpPr>
          <p:cNvPr id="18" name="">
            <a:extLst xmlns:a="http://schemas.openxmlformats.org/drawingml/2006/main">
              <a:ext uri="{FF2B5EF4-FFF2-40B4-BE49-F238E27FC236}">
                <a16:creationId xmlns:a16="http://schemas.microsoft.com/office/drawing/2014/main" id="{A8D38A4A-72CA-4580-9E44-868137CCE4D1}"/>
              </a:ext>
            </a:extLst>
          </p:cNvPr>
          <p:cNvSpPr>
            <a:spLocks xmlns:a="http://schemas.openxmlformats.org/drawingml/2006/main" noGrp="1"/>
          </p:cNvSpPr>
          <p:nvPr/>
        </p:nvSpPr>
        <p:spPr>
          <a:xfrm xmlns:a="http://schemas.openxmlformats.org/drawingml/2006/main">
            <a:off x="6286500" y="5505450"/>
            <a:ext cx="5295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75" b="0">
                <a:solidFill>
                  <a:srgbClr val="14283F"/>
                </a:solidFill>
                <a:latin typeface="Arial"/>
                <a:ea typeface="Arial"/>
                <a:cs typeface="Arial"/>
              </a:defRPr>
            </a:pPr>
            <a:r>
              <a:rPr sz="1575" b="0">
                <a:solidFill>
                  <a:srgbClr val="14283F"/>
                </a:solidFill>
                <a:latin typeface="Arial"/>
                <a:ea typeface="Arial"/>
                <a:cs typeface="Arial"/>
              </a:rPr>
              <a:t>Rogério Cruz Arroyo · RM 563517</a:t>
            </a:r>
          </a:p>
          <a:p xmlns:a="http://schemas.openxmlformats.org/drawingml/2006/main">
            <a:pPr>
              <a:defRPr sz="1575" b="0">
                <a:solidFill>
                  <a:srgbClr val="14283F"/>
                </a:solidFill>
                <a:latin typeface="Arial"/>
                <a:ea typeface="Arial"/>
                <a:cs typeface="Arial"/>
              </a:defRPr>
            </a:pPr>
            <a:r>
              <a:rPr sz="1575" b="0">
                <a:solidFill>
                  <a:srgbClr val="14283F"/>
                </a:solidFill>
                <a:latin typeface="Arial"/>
                <a:ea typeface="Arial"/>
                <a:cs typeface="Arial"/>
              </a:rPr>
              <a:t>Anthony Sforzin · RM 562096</a:t>
            </a:r>
          </a:p>
        </p:txBody>
      </p:sp>
      <p:sp>
        <p:nvSpPr>
          <p:cNvPr id="19" name="">
            <a:extLst xmlns:a="http://schemas.openxmlformats.org/drawingml/2006/main">
              <a:ext uri="{FF2B5EF4-FFF2-40B4-BE49-F238E27FC236}">
                <a16:creationId xmlns:a16="http://schemas.microsoft.com/office/drawing/2014/main" id="{06B6D59A-4EEE-40FE-B3D0-8A61361AB261}"/>
              </a:ext>
            </a:extLst>
          </p:cNvPr>
          <p:cNvSpPr>
            <a:spLocks xmlns:a="http://schemas.openxmlformats.org/drawingml/2006/main" noGrp="1"/>
          </p:cNvSpPr>
          <p:nvPr/>
        </p:nvSpPr>
        <p:spPr>
          <a:xfrm xmlns:a="http://schemas.openxmlformats.org/drawingml/2006/main">
            <a:off x="609600" y="6419850"/>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5D6D82"/>
                </a:solidFill>
                <a:latin typeface="Arial"/>
                <a:ea typeface="Arial"/>
                <a:cs typeface="Arial"/>
              </a:defRPr>
            </a:pPr>
            <a:r>
              <a:rPr sz="1200" b="0">
                <a:solidFill>
                  <a:srgbClr val="5D6D82"/>
                </a:solidFill>
                <a:latin typeface="Arial"/>
                <a:ea typeface="Arial"/>
                <a:cs typeface="Arial"/>
              </a:rPr>
              <a:t>2ESPH-2026. Equipe Pagamentos ES 2024. Proponente fictícia no CPSI simulado.</a:t>
            </a:r>
          </a:p>
        </p:txBody>
      </p:sp>
    </p:spTree>
    <p:extLst>
      <p:ext uri="{BB962C8B-B14F-4D97-AF65-F5344CB8AC3E}">
        <p14:creationId xmlns:p14="http://schemas.microsoft.com/office/powerpoint/2010/main" val="158582490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34478F1-6867-4B7D-9C9A-9627B4CF092A}"/>
              </a:ext>
            </a:extLst>
          </p:cNvPr>
          <p:cNvSpPr>
            <a:spLocks xmlns:a="http://schemas.openxmlformats.org/drawingml/2006/main" noGrp="1"/>
          </p:cNvSpPr>
          <p:nvPr/>
        </p:nvSpPr>
        <p:spPr>
          <a:xfrm xmlns:a="http://schemas.openxmlformats.org/drawingml/2006/main">
            <a:off x="609600" y="209550"/>
            <a:ext cx="723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2563EB"/>
                </a:solidFill>
                <a:latin typeface="Arial"/>
                <a:ea typeface="Arial"/>
                <a:cs typeface="Arial"/>
              </a:defRPr>
            </a:pPr>
            <a:r>
              <a:rPr sz="1125" b="1">
                <a:solidFill>
                  <a:srgbClr val="2563EB"/>
                </a:solidFill>
                <a:latin typeface="Arial"/>
                <a:ea typeface="Arial"/>
                <a:cs typeface="Arial"/>
              </a:rPr>
              <a:t>PAGAMENTOS ES 2024</a:t>
            </a:r>
          </a:p>
        </p:txBody>
      </p:sp>
      <p:sp>
        <p:nvSpPr>
          <p:cNvPr id="2" name="">
            <a:extLst xmlns:a="http://schemas.openxmlformats.org/drawingml/2006/main">
              <a:ext uri="{FF2B5EF4-FFF2-40B4-BE49-F238E27FC236}">
                <a16:creationId xmlns:a16="http://schemas.microsoft.com/office/drawing/2014/main" id="{6513C0A7-64E2-4A2E-B43A-1BA806863063}"/>
              </a:ext>
            </a:extLst>
          </p:cNvPr>
          <p:cNvSpPr>
            <a:spLocks xmlns:a="http://schemas.openxmlformats.org/drawingml/2006/main" noGrp="1"/>
          </p:cNvSpPr>
          <p:nvPr/>
        </p:nvSpPr>
        <p:spPr>
          <a:xfrm xmlns:a="http://schemas.openxmlformats.org/drawingml/2006/main">
            <a:off x="9001125" y="209550"/>
            <a:ext cx="257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2563EB"/>
                </a:solidFill>
                <a:latin typeface="Arial"/>
                <a:ea typeface="Arial"/>
                <a:cs typeface="Arial"/>
              </a:defRPr>
            </a:pPr>
            <a:r>
              <a:rPr sz="1125" b="1">
                <a:solidFill>
                  <a:srgbClr val="2563EB"/>
                </a:solidFill>
                <a:latin typeface="Arial"/>
                <a:ea typeface="Arial"/>
                <a:cs typeface="Arial"/>
              </a:rPr>
              <a:t>DADOS E MÉTODO</a:t>
            </a:r>
          </a:p>
        </p:txBody>
      </p:sp>
      <p:sp>
        <p:nvSpPr>
          <p:cNvPr id="3" name="">
            <a:extLst xmlns:a="http://schemas.openxmlformats.org/drawingml/2006/main">
              <a:ext uri="{FF2B5EF4-FFF2-40B4-BE49-F238E27FC236}">
                <a16:creationId xmlns:a16="http://schemas.microsoft.com/office/drawing/2014/main" id="{264BCDD1-3DBF-4218-B817-768C7CC74C10}"/>
              </a:ext>
            </a:extLst>
          </p:cNvPr>
          <p:cNvSpPr>
            <a:spLocks xmlns:a="http://schemas.openxmlformats.org/drawingml/2006/main" noGrp="1"/>
          </p:cNvSpPr>
          <p:nvPr/>
        </p:nvSpPr>
        <p:spPr>
          <a:xfrm xmlns:a="http://schemas.openxmlformats.org/drawingml/2006/main">
            <a:off x="609600" y="5524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1">
                <a:solidFill>
                  <a:srgbClr val="14283F"/>
                </a:solidFill>
                <a:latin typeface="Arial"/>
                <a:ea typeface="Arial"/>
                <a:cs typeface="Arial"/>
              </a:defRPr>
            </a:pPr>
            <a:r>
              <a:rPr sz="3225" b="1">
                <a:solidFill>
                  <a:srgbClr val="14283F"/>
                </a:solidFill>
                <a:latin typeface="Arial"/>
                <a:ea typeface="Arial"/>
                <a:cs typeface="Arial"/>
              </a:rPr>
              <a:t>Base de dados e metodologia</a:t>
            </a:r>
          </a:p>
        </p:txBody>
      </p:sp>
      <p:sp>
        <p:nvSpPr>
          <p:cNvPr id="4" name="">
            <a:extLst xmlns:a="http://schemas.openxmlformats.org/drawingml/2006/main">
              <a:ext uri="{FF2B5EF4-FFF2-40B4-BE49-F238E27FC236}">
                <a16:creationId xmlns:a16="http://schemas.microsoft.com/office/drawing/2014/main" id="{DC39161B-E70E-4571-A286-26672DB86F46}"/>
              </a:ext>
            </a:extLst>
          </p:cNvPr>
          <p:cNvSpPr>
            <a:spLocks xmlns:a="http://schemas.openxmlformats.org/drawingml/2006/main" noGrp="1"/>
          </p:cNvSpPr>
          <p:nvPr/>
        </p:nvSpPr>
        <p:spPr>
          <a:xfrm xmlns:a="http://schemas.openxmlformats.org/drawingml/2006/main">
            <a:off x="609600" y="6315075"/>
            <a:ext cx="10972800" cy="0"/>
          </a:xfrm>
          <a:prstGeom xmlns:a="http://schemas.openxmlformats.org/drawingml/2006/main" prst="line">
            <a:avLst/>
          </a:prstGeom>
          <a:noFill xmlns:a="http://schemas.openxmlformats.org/drawingml/2006/main"/>
          <a:ln xmlns:a="http://schemas.openxmlformats.org/drawingml/2006/main" w="9525">
            <a:solidFill>
              <a:srgbClr val="DCE3EC"/>
            </a:solidFill>
          </a:ln>
        </p:spPr>
      </p:sp>
      <p:sp>
        <p:nvSpPr>
          <p:cNvPr id="5" name="">
            <a:extLst xmlns:a="http://schemas.openxmlformats.org/drawingml/2006/main">
              <a:ext uri="{FF2B5EF4-FFF2-40B4-BE49-F238E27FC236}">
                <a16:creationId xmlns:a16="http://schemas.microsoft.com/office/drawing/2014/main" id="{3776068B-9762-464B-81EF-478095C34A22}"/>
              </a:ext>
            </a:extLst>
          </p:cNvPr>
          <p:cNvSpPr>
            <a:spLocks xmlns:a="http://schemas.openxmlformats.org/drawingml/2006/main" noGrp="1"/>
          </p:cNvSpPr>
          <p:nvPr/>
        </p:nvSpPr>
        <p:spPr>
          <a:xfrm xmlns:a="http://schemas.openxmlformats.org/drawingml/2006/main">
            <a:off x="10801350" y="6419850"/>
            <a:ext cx="904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5D6D82"/>
                </a:solidFill>
                <a:latin typeface="Arial"/>
                <a:ea typeface="Arial"/>
                <a:cs typeface="Arial"/>
              </a:defRPr>
            </a:pPr>
            <a:r>
              <a:rPr sz="1200" b="0">
                <a:solidFill>
                  <a:srgbClr val="5D6D82"/>
                </a:solidFill>
                <a:latin typeface="Arial"/>
                <a:ea typeface="Arial"/>
                <a:cs typeface="Arial"/>
              </a:rPr>
              <a:t>02 / 08</a:t>
            </a:r>
          </a:p>
        </p:txBody>
      </p:sp>
      <p:sp>
        <p:nvSpPr>
          <p:cNvPr id="6" name="">
            <a:extLst xmlns:a="http://schemas.openxmlformats.org/drawingml/2006/main">
              <a:ext uri="{FF2B5EF4-FFF2-40B4-BE49-F238E27FC236}">
                <a16:creationId xmlns:a16="http://schemas.microsoft.com/office/drawing/2014/main" id="{1E5A20F7-536E-4A39-BACC-D76EF0BF26CB}"/>
              </a:ext>
            </a:extLst>
          </p:cNvPr>
          <p:cNvSpPr>
            <a:spLocks xmlns:a="http://schemas.openxmlformats.org/drawingml/2006/main" noGrp="1"/>
          </p:cNvSpPr>
          <p:nvPr/>
        </p:nvSpPr>
        <p:spPr>
          <a:xfrm xmlns:a="http://schemas.openxmlformats.org/drawingml/2006/main">
            <a:off x="609600" y="1504950"/>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900" b="1">
                <a:solidFill>
                  <a:srgbClr val="2563EB"/>
                </a:solidFill>
                <a:latin typeface="Arial"/>
                <a:ea typeface="Arial"/>
                <a:cs typeface="Arial"/>
              </a:defRPr>
            </a:pPr>
            <a:r>
              <a:rPr sz="3900" b="1">
                <a:solidFill>
                  <a:srgbClr val="2563EB"/>
                </a:solidFill>
                <a:latin typeface="Arial"/>
                <a:ea typeface="Arial"/>
                <a:cs typeface="Arial"/>
              </a:rPr>
              <a:t>4 arquivos</a:t>
            </a:r>
          </a:p>
        </p:txBody>
      </p:sp>
      <p:sp>
        <p:nvSpPr>
          <p:cNvPr id="7" name="">
            <a:extLst xmlns:a="http://schemas.openxmlformats.org/drawingml/2006/main">
              <a:ext uri="{FF2B5EF4-FFF2-40B4-BE49-F238E27FC236}">
                <a16:creationId xmlns:a16="http://schemas.microsoft.com/office/drawing/2014/main" id="{CB08C5AA-37A9-4BE1-BCD8-0217F998C117}"/>
              </a:ext>
            </a:extLst>
          </p:cNvPr>
          <p:cNvSpPr>
            <a:spLocks xmlns:a="http://schemas.openxmlformats.org/drawingml/2006/main" noGrp="1"/>
          </p:cNvSpPr>
          <p:nvPr/>
        </p:nvSpPr>
        <p:spPr>
          <a:xfrm xmlns:a="http://schemas.openxmlformats.org/drawingml/2006/main">
            <a:off x="609600" y="2314575"/>
            <a:ext cx="3429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14283F"/>
                </a:solidFill>
                <a:latin typeface="Arial"/>
                <a:ea typeface="Arial"/>
                <a:cs typeface="Arial"/>
              </a:defRPr>
            </a:pPr>
            <a:r>
              <a:rPr sz="2250" b="0">
                <a:solidFill>
                  <a:srgbClr val="14283F"/>
                </a:solidFill>
                <a:latin typeface="Arial"/>
                <a:ea typeface="Arial"/>
                <a:cs typeface="Arial"/>
              </a:rPr>
              <a:t>2024, recorte sistemático</a:t>
            </a:r>
          </a:p>
          <a:p xmlns:a="http://schemas.openxmlformats.org/drawingml/2006/main">
            <a:pPr>
              <a:defRPr sz="2250" b="0">
                <a:solidFill>
                  <a:srgbClr val="14283F"/>
                </a:solidFill>
                <a:latin typeface="Arial"/>
                <a:ea typeface="Arial"/>
                <a:cs typeface="Arial"/>
              </a:defRPr>
            </a:pPr>
            <a:r>
              <a:rPr sz="2250" b="0">
                <a:solidFill>
                  <a:srgbClr val="14283F"/>
                </a:solidFill>
                <a:latin typeface="Arial"/>
                <a:ea typeface="Arial"/>
                <a:cs typeface="Arial"/>
              </a:rPr>
              <a:t>505.950 registros</a:t>
            </a:r>
          </a:p>
          <a:p xmlns:a="http://schemas.openxmlformats.org/drawingml/2006/main">
            <a:pPr>
              <a:defRPr sz="2250" b="0">
                <a:solidFill>
                  <a:srgbClr val="14283F"/>
                </a:solidFill>
                <a:latin typeface="Arial"/>
                <a:ea typeface="Arial"/>
                <a:cs typeface="Arial"/>
              </a:defRPr>
            </a:pPr>
            <a:r>
              <a:rPr sz="2250" b="0">
                <a:solidFill>
                  <a:srgbClr val="14283F"/>
                </a:solidFill>
                <a:latin typeface="Arial"/>
                <a:ea typeface="Arial"/>
                <a:cs typeface="Arial"/>
              </a:rPr>
              <a:t>117 unidades gestoras</a:t>
            </a:r>
          </a:p>
        </p:txBody>
      </p:sp>
      <p:sp>
        <p:nvSpPr>
          <p:cNvPr id="8" name="">
            <a:extLst xmlns:a="http://schemas.openxmlformats.org/drawingml/2006/main">
              <a:ext uri="{FF2B5EF4-FFF2-40B4-BE49-F238E27FC236}">
                <a16:creationId xmlns:a16="http://schemas.microsoft.com/office/drawing/2014/main" id="{02E1A055-27BD-4355-B7F3-E8FA41BB1A7F}"/>
              </a:ext>
            </a:extLst>
          </p:cNvPr>
          <p:cNvSpPr>
            <a:spLocks xmlns:a="http://schemas.openxmlformats.org/drawingml/2006/main" noGrp="1"/>
          </p:cNvSpPr>
          <p:nvPr/>
        </p:nvSpPr>
        <p:spPr>
          <a:xfrm xmlns:a="http://schemas.openxmlformats.org/drawingml/2006/main">
            <a:off x="609600" y="4057650"/>
            <a:ext cx="3381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1">
                <a:solidFill>
                  <a:srgbClr val="2563EB"/>
                </a:solidFill>
                <a:latin typeface="Arial"/>
                <a:ea typeface="Arial"/>
                <a:cs typeface="Arial"/>
              </a:defRPr>
            </a:pPr>
            <a:r>
              <a:rPr sz="2700" b="1">
                <a:solidFill>
                  <a:srgbClr val="2563EB"/>
                </a:solidFill>
                <a:latin typeface="Arial"/>
                <a:ea typeface="Arial"/>
                <a:cs typeface="Arial"/>
              </a:rPr>
              <a:t>ValorPago</a:t>
            </a:r>
          </a:p>
        </p:txBody>
      </p:sp>
      <p:sp>
        <p:nvSpPr>
          <p:cNvPr id="9" name="">
            <a:extLst xmlns:a="http://schemas.openxmlformats.org/drawingml/2006/main">
              <a:ext uri="{FF2B5EF4-FFF2-40B4-BE49-F238E27FC236}">
                <a16:creationId xmlns:a16="http://schemas.microsoft.com/office/drawing/2014/main" id="{D004C397-7594-4D2A-A7BA-32183FA48826}"/>
              </a:ext>
            </a:extLst>
          </p:cNvPr>
          <p:cNvSpPr>
            <a:spLocks xmlns:a="http://schemas.openxmlformats.org/drawingml/2006/main" noGrp="1"/>
          </p:cNvSpPr>
          <p:nvPr/>
        </p:nvSpPr>
        <p:spPr>
          <a:xfrm xmlns:a="http://schemas.openxmlformats.org/drawingml/2006/main">
            <a:off x="609600" y="4657725"/>
            <a:ext cx="3524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14283F"/>
                </a:solidFill>
                <a:latin typeface="Arial"/>
                <a:ea typeface="Arial"/>
                <a:cs typeface="Arial"/>
              </a:defRPr>
            </a:pPr>
            <a:r>
              <a:rPr sz="1950" b="0">
                <a:solidFill>
                  <a:srgbClr val="14283F"/>
                </a:solidFill>
                <a:latin typeface="Arial"/>
                <a:ea typeface="Arial"/>
                <a:cs typeface="Arial"/>
              </a:rPr>
              <a:t>Soma líquida em centavos.</a:t>
            </a:r>
          </a:p>
          <a:p xmlns:a="http://schemas.openxmlformats.org/drawingml/2006/main">
            <a:pPr>
              <a:defRPr sz="1950" b="0">
                <a:solidFill>
                  <a:srgbClr val="14283F"/>
                </a:solidFill>
                <a:latin typeface="Arial"/>
                <a:ea typeface="Arial"/>
                <a:cs typeface="Arial"/>
              </a:defRPr>
            </a:pPr>
            <a:r>
              <a:rPr sz="1950" b="0">
                <a:solidFill>
                  <a:srgbClr val="14283F"/>
                </a:solidFill>
                <a:latin typeface="Arial"/>
                <a:ea typeface="Arial"/>
                <a:cs typeface="Arial"/>
              </a:rPr>
              <a:t>Zeros e negativos preservados.</a:t>
            </a:r>
          </a:p>
        </p:txBody>
      </p:sp>
      <p:sp>
        <p:nvSpPr>
          <p:cNvPr id="10" name="">
            <a:extLst xmlns:a="http://schemas.openxmlformats.org/drawingml/2006/main">
              <a:ext uri="{FF2B5EF4-FFF2-40B4-BE49-F238E27FC236}">
                <a16:creationId xmlns:a16="http://schemas.microsoft.com/office/drawing/2014/main" id="{018D71D4-0C9C-47C6-95B4-82CCB2CEB9D5}"/>
              </a:ext>
            </a:extLst>
          </p:cNvPr>
          <p:cNvSpPr>
            <a:spLocks xmlns:a="http://schemas.openxmlformats.org/drawingml/2006/main" noGrp="1"/>
          </p:cNvSpPr>
          <p:nvPr/>
        </p:nvSpPr>
        <p:spPr>
          <a:xfrm xmlns:a="http://schemas.openxmlformats.org/drawingml/2006/main">
            <a:off x="4686300" y="1504950"/>
            <a:ext cx="6810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14283F"/>
                </a:solidFill>
                <a:latin typeface="Arial"/>
                <a:ea typeface="Arial"/>
                <a:cs typeface="Arial"/>
              </a:defRPr>
            </a:pPr>
            <a:r>
              <a:rPr sz="1875" b="1">
                <a:solidFill>
                  <a:srgbClr val="14283F"/>
                </a:solidFill>
                <a:latin typeface="Arial"/>
                <a:ea typeface="Arial"/>
                <a:cs typeface="Arial"/>
              </a:rPr>
              <a:t>01  Importação</a:t>
            </a:r>
          </a:p>
        </p:txBody>
      </p:sp>
      <p:sp>
        <p:nvSpPr>
          <p:cNvPr id="11" name="">
            <a:extLst xmlns:a="http://schemas.openxmlformats.org/drawingml/2006/main">
              <a:ext uri="{FF2B5EF4-FFF2-40B4-BE49-F238E27FC236}">
                <a16:creationId xmlns:a16="http://schemas.microsoft.com/office/drawing/2014/main" id="{A6C65963-C8DC-4583-B5DF-AB3B7C813AE3}"/>
              </a:ext>
            </a:extLst>
          </p:cNvPr>
          <p:cNvSpPr>
            <a:spLocks xmlns:a="http://schemas.openxmlformats.org/drawingml/2006/main" noGrp="1"/>
          </p:cNvSpPr>
          <p:nvPr/>
        </p:nvSpPr>
        <p:spPr>
          <a:xfrm xmlns:a="http://schemas.openxmlformats.org/drawingml/2006/main">
            <a:off x="4686300" y="1914525"/>
            <a:ext cx="6810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5D6D82"/>
                </a:solidFill>
                <a:latin typeface="Arial"/>
                <a:ea typeface="Arial"/>
                <a:cs typeface="Arial"/>
              </a:defRPr>
            </a:pPr>
            <a:r>
              <a:rPr sz="1875" b="0">
                <a:solidFill>
                  <a:srgbClr val="5D6D82"/>
                </a:solidFill>
                <a:latin typeface="Arial"/>
                <a:ea typeface="Arial"/>
                <a:cs typeface="Arial"/>
              </a:rPr>
              <a:t>CSV com ;, UTF-8 BOM e vírgula decimal.</a:t>
            </a:r>
          </a:p>
        </p:txBody>
      </p:sp>
      <p:sp>
        <p:nvSpPr>
          <p:cNvPr id="12" name="">
            <a:extLst xmlns:a="http://schemas.openxmlformats.org/drawingml/2006/main">
              <a:ext uri="{FF2B5EF4-FFF2-40B4-BE49-F238E27FC236}">
                <a16:creationId xmlns:a16="http://schemas.microsoft.com/office/drawing/2014/main" id="{FB00AC4B-E097-45AF-997E-F9B01A673467}"/>
              </a:ext>
            </a:extLst>
          </p:cNvPr>
          <p:cNvSpPr>
            <a:spLocks xmlns:a="http://schemas.openxmlformats.org/drawingml/2006/main" noGrp="1"/>
          </p:cNvSpPr>
          <p:nvPr/>
        </p:nvSpPr>
        <p:spPr>
          <a:xfrm xmlns:a="http://schemas.openxmlformats.org/drawingml/2006/main">
            <a:off x="4686300" y="2438400"/>
            <a:ext cx="6858000" cy="0"/>
          </a:xfrm>
          <a:prstGeom xmlns:a="http://schemas.openxmlformats.org/drawingml/2006/main" prst="line">
            <a:avLst/>
          </a:prstGeom>
          <a:noFill xmlns:a="http://schemas.openxmlformats.org/drawingml/2006/main"/>
          <a:ln xmlns:a="http://schemas.openxmlformats.org/drawingml/2006/main" w="9525">
            <a:solidFill>
              <a:srgbClr val="DCE3EC"/>
            </a:solidFill>
          </a:ln>
        </p:spPr>
      </p:sp>
      <p:sp>
        <p:nvSpPr>
          <p:cNvPr id="13" name="">
            <a:extLst xmlns:a="http://schemas.openxmlformats.org/drawingml/2006/main">
              <a:ext uri="{FF2B5EF4-FFF2-40B4-BE49-F238E27FC236}">
                <a16:creationId xmlns:a16="http://schemas.microsoft.com/office/drawing/2014/main" id="{4EB2657B-3DB8-4362-AFF9-D1FFB3345D03}"/>
              </a:ext>
            </a:extLst>
          </p:cNvPr>
          <p:cNvSpPr>
            <a:spLocks xmlns:a="http://schemas.openxmlformats.org/drawingml/2006/main" noGrp="1"/>
          </p:cNvSpPr>
          <p:nvPr/>
        </p:nvSpPr>
        <p:spPr>
          <a:xfrm xmlns:a="http://schemas.openxmlformats.org/drawingml/2006/main">
            <a:off x="4686300" y="2543175"/>
            <a:ext cx="6810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14283F"/>
                </a:solidFill>
                <a:latin typeface="Arial"/>
                <a:ea typeface="Arial"/>
                <a:cs typeface="Arial"/>
              </a:defRPr>
            </a:pPr>
            <a:r>
              <a:rPr sz="1875" b="1">
                <a:solidFill>
                  <a:srgbClr val="14283F"/>
                </a:solidFill>
                <a:latin typeface="Arial"/>
                <a:ea typeface="Arial"/>
                <a:cs typeface="Arial"/>
              </a:rPr>
              <a:t>02  Auditoria</a:t>
            </a:r>
          </a:p>
        </p:txBody>
      </p:sp>
      <p:sp>
        <p:nvSpPr>
          <p:cNvPr id="14" name="">
            <a:extLst xmlns:a="http://schemas.openxmlformats.org/drawingml/2006/main">
              <a:ext uri="{FF2B5EF4-FFF2-40B4-BE49-F238E27FC236}">
                <a16:creationId xmlns:a16="http://schemas.microsoft.com/office/drawing/2014/main" id="{BE08FC1F-C7E9-4598-A846-268A7B2335D0}"/>
              </a:ext>
            </a:extLst>
          </p:cNvPr>
          <p:cNvSpPr>
            <a:spLocks xmlns:a="http://schemas.openxmlformats.org/drawingml/2006/main" noGrp="1"/>
          </p:cNvSpPr>
          <p:nvPr/>
        </p:nvSpPr>
        <p:spPr>
          <a:xfrm xmlns:a="http://schemas.openxmlformats.org/drawingml/2006/main">
            <a:off x="4686300" y="2952750"/>
            <a:ext cx="6810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5D6D82"/>
                </a:solidFill>
                <a:latin typeface="Arial"/>
                <a:ea typeface="Arial"/>
                <a:cs typeface="Arial"/>
              </a:defRPr>
            </a:pPr>
            <a:r>
              <a:rPr sz="1875" b="0">
                <a:solidFill>
                  <a:srgbClr val="5D6D82"/>
                </a:solidFill>
                <a:latin typeface="Arial"/>
                <a:ea typeface="Arial"/>
                <a:cs typeface="Arial"/>
              </a:rPr>
              <a:t>Zero inválidos e duplicatas completas.</a:t>
            </a:r>
          </a:p>
        </p:txBody>
      </p:sp>
      <p:sp>
        <p:nvSpPr>
          <p:cNvPr id="15" name="">
            <a:extLst xmlns:a="http://schemas.openxmlformats.org/drawingml/2006/main">
              <a:ext uri="{FF2B5EF4-FFF2-40B4-BE49-F238E27FC236}">
                <a16:creationId xmlns:a16="http://schemas.microsoft.com/office/drawing/2014/main" id="{1436CA04-6133-4B35-9BB3-0192E311260C}"/>
              </a:ext>
            </a:extLst>
          </p:cNvPr>
          <p:cNvSpPr>
            <a:spLocks xmlns:a="http://schemas.openxmlformats.org/drawingml/2006/main" noGrp="1"/>
          </p:cNvSpPr>
          <p:nvPr/>
        </p:nvSpPr>
        <p:spPr>
          <a:xfrm xmlns:a="http://schemas.openxmlformats.org/drawingml/2006/main">
            <a:off x="4686300" y="3476625"/>
            <a:ext cx="6858000" cy="0"/>
          </a:xfrm>
          <a:prstGeom xmlns:a="http://schemas.openxmlformats.org/drawingml/2006/main" prst="line">
            <a:avLst/>
          </a:prstGeom>
          <a:noFill xmlns:a="http://schemas.openxmlformats.org/drawingml/2006/main"/>
          <a:ln xmlns:a="http://schemas.openxmlformats.org/drawingml/2006/main" w="9525">
            <a:solidFill>
              <a:srgbClr val="DCE3EC"/>
            </a:solidFill>
          </a:ln>
        </p:spPr>
      </p:sp>
      <p:sp>
        <p:nvSpPr>
          <p:cNvPr id="16" name="">
            <a:extLst xmlns:a="http://schemas.openxmlformats.org/drawingml/2006/main">
              <a:ext uri="{FF2B5EF4-FFF2-40B4-BE49-F238E27FC236}">
                <a16:creationId xmlns:a16="http://schemas.microsoft.com/office/drawing/2014/main" id="{C4AFF4FD-C59C-4075-B8C3-8830C943F8C9}"/>
              </a:ext>
            </a:extLst>
          </p:cNvPr>
          <p:cNvSpPr>
            <a:spLocks xmlns:a="http://schemas.openxmlformats.org/drawingml/2006/main" noGrp="1"/>
          </p:cNvSpPr>
          <p:nvPr/>
        </p:nvSpPr>
        <p:spPr>
          <a:xfrm xmlns:a="http://schemas.openxmlformats.org/drawingml/2006/main">
            <a:off x="4686300" y="3581400"/>
            <a:ext cx="6810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14283F"/>
                </a:solidFill>
                <a:latin typeface="Arial"/>
                <a:ea typeface="Arial"/>
                <a:cs typeface="Arial"/>
              </a:defRPr>
            </a:pPr>
            <a:r>
              <a:rPr sz="1875" b="1">
                <a:solidFill>
                  <a:srgbClr val="14283F"/>
                </a:solidFill>
                <a:latin typeface="Arial"/>
                <a:ea typeface="Arial"/>
                <a:cs typeface="Arial"/>
              </a:rPr>
              <a:t>03  Comparação</a:t>
            </a:r>
          </a:p>
        </p:txBody>
      </p:sp>
      <p:sp>
        <p:nvSpPr>
          <p:cNvPr id="17" name="">
            <a:extLst xmlns:a="http://schemas.openxmlformats.org/drawingml/2006/main">
              <a:ext uri="{FF2B5EF4-FFF2-40B4-BE49-F238E27FC236}">
                <a16:creationId xmlns:a16="http://schemas.microsoft.com/office/drawing/2014/main" id="{91EDD5DE-B392-45DA-88DE-6A53C0AEB2F0}"/>
              </a:ext>
            </a:extLst>
          </p:cNvPr>
          <p:cNvSpPr>
            <a:spLocks xmlns:a="http://schemas.openxmlformats.org/drawingml/2006/main" noGrp="1"/>
          </p:cNvSpPr>
          <p:nvPr/>
        </p:nvSpPr>
        <p:spPr>
          <a:xfrm xmlns:a="http://schemas.openxmlformats.org/drawingml/2006/main">
            <a:off x="4686300" y="3990975"/>
            <a:ext cx="6810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5D6D82"/>
                </a:solidFill>
                <a:latin typeface="Arial"/>
                <a:ea typeface="Arial"/>
                <a:cs typeface="Arial"/>
              </a:defRPr>
            </a:pPr>
            <a:r>
              <a:rPr sz="1875" b="0">
                <a:solidFill>
                  <a:srgbClr val="5D6D82"/>
                </a:solidFill>
                <a:latin typeface="Arial"/>
                <a:ea typeface="Arial"/>
                <a:cs typeface="Arial"/>
              </a:rPr>
              <a:t>Orgao vazio. Agrupamento por unidade gestora.</a:t>
            </a:r>
          </a:p>
        </p:txBody>
      </p:sp>
      <p:sp>
        <p:nvSpPr>
          <p:cNvPr id="18" name="">
            <a:extLst xmlns:a="http://schemas.openxmlformats.org/drawingml/2006/main">
              <a:ext uri="{FF2B5EF4-FFF2-40B4-BE49-F238E27FC236}">
                <a16:creationId xmlns:a16="http://schemas.microsoft.com/office/drawing/2014/main" id="{22B75A1B-713F-4282-820B-D971229726F2}"/>
              </a:ext>
            </a:extLst>
          </p:cNvPr>
          <p:cNvSpPr>
            <a:spLocks xmlns:a="http://schemas.openxmlformats.org/drawingml/2006/main" noGrp="1"/>
          </p:cNvSpPr>
          <p:nvPr/>
        </p:nvSpPr>
        <p:spPr>
          <a:xfrm xmlns:a="http://schemas.openxmlformats.org/drawingml/2006/main">
            <a:off x="4686300" y="4514850"/>
            <a:ext cx="6858000" cy="0"/>
          </a:xfrm>
          <a:prstGeom xmlns:a="http://schemas.openxmlformats.org/drawingml/2006/main" prst="line">
            <a:avLst/>
          </a:prstGeom>
          <a:noFill xmlns:a="http://schemas.openxmlformats.org/drawingml/2006/main"/>
          <a:ln xmlns:a="http://schemas.openxmlformats.org/drawingml/2006/main" w="9525">
            <a:solidFill>
              <a:srgbClr val="DCE3EC"/>
            </a:solidFill>
          </a:ln>
        </p:spPr>
      </p:sp>
      <p:sp>
        <p:nvSpPr>
          <p:cNvPr id="19" name="">
            <a:extLst xmlns:a="http://schemas.openxmlformats.org/drawingml/2006/main">
              <a:ext uri="{FF2B5EF4-FFF2-40B4-BE49-F238E27FC236}">
                <a16:creationId xmlns:a16="http://schemas.microsoft.com/office/drawing/2014/main" id="{44F8B7CF-D0A3-4FB8-A901-C616B797D69A}"/>
              </a:ext>
            </a:extLst>
          </p:cNvPr>
          <p:cNvSpPr>
            <a:spLocks xmlns:a="http://schemas.openxmlformats.org/drawingml/2006/main" noGrp="1"/>
          </p:cNvSpPr>
          <p:nvPr/>
        </p:nvSpPr>
        <p:spPr>
          <a:xfrm xmlns:a="http://schemas.openxmlformats.org/drawingml/2006/main">
            <a:off x="4686300" y="4619625"/>
            <a:ext cx="6810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14283F"/>
                </a:solidFill>
                <a:latin typeface="Arial"/>
                <a:ea typeface="Arial"/>
                <a:cs typeface="Arial"/>
              </a:defRPr>
            </a:pPr>
            <a:r>
              <a:rPr sz="1875" b="1">
                <a:solidFill>
                  <a:srgbClr val="14283F"/>
                </a:solidFill>
                <a:latin typeface="Arial"/>
                <a:ea typeface="Arial"/>
                <a:cs typeface="Arial"/>
              </a:rPr>
              <a:t>04  Conferência</a:t>
            </a:r>
          </a:p>
        </p:txBody>
      </p:sp>
      <p:sp>
        <p:nvSpPr>
          <p:cNvPr id="20" name="">
            <a:extLst xmlns:a="http://schemas.openxmlformats.org/drawingml/2006/main">
              <a:ext uri="{FF2B5EF4-FFF2-40B4-BE49-F238E27FC236}">
                <a16:creationId xmlns:a16="http://schemas.microsoft.com/office/drawing/2014/main" id="{B74F643E-3617-4B38-8516-1A4EA3650870}"/>
              </a:ext>
            </a:extLst>
          </p:cNvPr>
          <p:cNvSpPr>
            <a:spLocks xmlns:a="http://schemas.openxmlformats.org/drawingml/2006/main" noGrp="1"/>
          </p:cNvSpPr>
          <p:nvPr/>
        </p:nvSpPr>
        <p:spPr>
          <a:xfrm xmlns:a="http://schemas.openxmlformats.org/drawingml/2006/main">
            <a:off x="4686300" y="5029200"/>
            <a:ext cx="6810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5D6D82"/>
                </a:solidFill>
                <a:latin typeface="Arial"/>
                <a:ea typeface="Arial"/>
                <a:cs typeface="Arial"/>
              </a:defRPr>
            </a:pPr>
            <a:r>
              <a:rPr sz="1875" b="0">
                <a:solidFill>
                  <a:srgbClr val="5D6D82"/>
                </a:solidFill>
                <a:latin typeface="Arial"/>
                <a:ea typeface="Arial"/>
                <a:cs typeface="Arial"/>
              </a:rPr>
              <a:t>Cada registro preserva arquivo e linha de origem.</a:t>
            </a:r>
          </a:p>
        </p:txBody>
      </p:sp>
      <p:sp>
        <p:nvSpPr>
          <p:cNvPr id="21" name="">
            <a:extLst xmlns:a="http://schemas.openxmlformats.org/drawingml/2006/main">
              <a:ext uri="{FF2B5EF4-FFF2-40B4-BE49-F238E27FC236}">
                <a16:creationId xmlns:a16="http://schemas.microsoft.com/office/drawing/2014/main" id="{1C59FAB2-2670-416B-90A5-ABE91EC2A77E}"/>
              </a:ext>
            </a:extLst>
          </p:cNvPr>
          <p:cNvSpPr>
            <a:spLocks xmlns:a="http://schemas.openxmlformats.org/drawingml/2006/main" noGrp="1"/>
          </p:cNvSpPr>
          <p:nvPr/>
        </p:nvSpPr>
        <p:spPr>
          <a:xfrm xmlns:a="http://schemas.openxmlformats.org/drawingml/2006/main">
            <a:off x="609600" y="6419850"/>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5D6D82"/>
                </a:solidFill>
                <a:latin typeface="Arial"/>
                <a:ea typeface="Arial"/>
                <a:cs typeface="Arial"/>
              </a:defRPr>
            </a:pPr>
            <a:r>
              <a:rPr sz="1200" b="0">
                <a:solidFill>
                  <a:srgbClr val="5D6D82"/>
                </a:solidFill>
                <a:latin typeface="Arial"/>
                <a:ea typeface="Arial"/>
                <a:cs typeface="Arial"/>
              </a:rPr>
              <a:t>Recorte fornecido pelo professor. Cobertura integral estadual não comprovada.</a:t>
            </a:r>
          </a:p>
        </p:txBody>
      </p:sp>
    </p:spTree>
    <p:extLst>
      <p:ext uri="{BB962C8B-B14F-4D97-AF65-F5344CB8AC3E}">
        <p14:creationId xmlns:p14="http://schemas.microsoft.com/office/powerpoint/2010/main" val="191002171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D895E48-AFFC-4E67-84B4-54D8A1AD92E1}"/>
              </a:ext>
            </a:extLst>
          </p:cNvPr>
          <p:cNvSpPr>
            <a:spLocks xmlns:a="http://schemas.openxmlformats.org/drawingml/2006/main" noGrp="1"/>
          </p:cNvSpPr>
          <p:nvPr/>
        </p:nvSpPr>
        <p:spPr>
          <a:xfrm xmlns:a="http://schemas.openxmlformats.org/drawingml/2006/main">
            <a:off x="609600" y="209550"/>
            <a:ext cx="723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2563EB"/>
                </a:solidFill>
                <a:latin typeface="Arial"/>
                <a:ea typeface="Arial"/>
                <a:cs typeface="Arial"/>
              </a:defRPr>
            </a:pPr>
            <a:r>
              <a:rPr sz="1125" b="1">
                <a:solidFill>
                  <a:srgbClr val="2563EB"/>
                </a:solidFill>
                <a:latin typeface="Arial"/>
                <a:ea typeface="Arial"/>
                <a:cs typeface="Arial"/>
              </a:rPr>
              <a:t>PAGAMENTOS ES 2024</a:t>
            </a:r>
          </a:p>
        </p:txBody>
      </p:sp>
      <p:sp>
        <p:nvSpPr>
          <p:cNvPr id="2" name="">
            <a:extLst xmlns:a="http://schemas.openxmlformats.org/drawingml/2006/main">
              <a:ext uri="{FF2B5EF4-FFF2-40B4-BE49-F238E27FC236}">
                <a16:creationId xmlns:a16="http://schemas.microsoft.com/office/drawing/2014/main" id="{C39F9978-2366-4D80-9D27-BCC5D700BBE0}"/>
              </a:ext>
            </a:extLst>
          </p:cNvPr>
          <p:cNvSpPr>
            <a:spLocks xmlns:a="http://schemas.openxmlformats.org/drawingml/2006/main" noGrp="1"/>
          </p:cNvSpPr>
          <p:nvPr/>
        </p:nvSpPr>
        <p:spPr>
          <a:xfrm xmlns:a="http://schemas.openxmlformats.org/drawingml/2006/main">
            <a:off x="9001125" y="209550"/>
            <a:ext cx="257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2563EB"/>
                </a:solidFill>
                <a:latin typeface="Arial"/>
                <a:ea typeface="Arial"/>
                <a:cs typeface="Arial"/>
              </a:defRPr>
            </a:pPr>
            <a:r>
              <a:rPr sz="1125" b="1">
                <a:solidFill>
                  <a:srgbClr val="2563EB"/>
                </a:solidFill>
                <a:latin typeface="Arial"/>
                <a:ea typeface="Arial"/>
                <a:cs typeface="Arial"/>
              </a:rPr>
              <a:t>CONCENTRAÇÃO</a:t>
            </a:r>
          </a:p>
        </p:txBody>
      </p:sp>
      <p:sp>
        <p:nvSpPr>
          <p:cNvPr id="3" name="">
            <a:extLst xmlns:a="http://schemas.openxmlformats.org/drawingml/2006/main">
              <a:ext uri="{FF2B5EF4-FFF2-40B4-BE49-F238E27FC236}">
                <a16:creationId xmlns:a16="http://schemas.microsoft.com/office/drawing/2014/main" id="{087FE349-3BA4-4A50-BE14-B5F4637904AB}"/>
              </a:ext>
            </a:extLst>
          </p:cNvPr>
          <p:cNvSpPr>
            <a:spLocks xmlns:a="http://schemas.openxmlformats.org/drawingml/2006/main" noGrp="1"/>
          </p:cNvSpPr>
          <p:nvPr/>
        </p:nvSpPr>
        <p:spPr>
          <a:xfrm xmlns:a="http://schemas.openxmlformats.org/drawingml/2006/main">
            <a:off x="609600" y="5524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1">
                <a:solidFill>
                  <a:srgbClr val="14283F"/>
                </a:solidFill>
                <a:latin typeface="Arial"/>
                <a:ea typeface="Arial"/>
                <a:cs typeface="Arial"/>
              </a:defRPr>
            </a:pPr>
            <a:r>
              <a:rPr sz="3225" b="1">
                <a:solidFill>
                  <a:srgbClr val="14283F"/>
                </a:solidFill>
                <a:latin typeface="Arial"/>
                <a:ea typeface="Arial"/>
                <a:cs typeface="Arial"/>
              </a:rPr>
              <a:t>Concentração por unidade gestora</a:t>
            </a:r>
          </a:p>
        </p:txBody>
      </p:sp>
      <p:sp>
        <p:nvSpPr>
          <p:cNvPr id="4" name="">
            <a:extLst xmlns:a="http://schemas.openxmlformats.org/drawingml/2006/main">
              <a:ext uri="{FF2B5EF4-FFF2-40B4-BE49-F238E27FC236}">
                <a16:creationId xmlns:a16="http://schemas.microsoft.com/office/drawing/2014/main" id="{0115274C-ABE3-4B95-844F-D8D2448F6D45}"/>
              </a:ext>
            </a:extLst>
          </p:cNvPr>
          <p:cNvSpPr>
            <a:spLocks xmlns:a="http://schemas.openxmlformats.org/drawingml/2006/main" noGrp="1"/>
          </p:cNvSpPr>
          <p:nvPr/>
        </p:nvSpPr>
        <p:spPr>
          <a:xfrm xmlns:a="http://schemas.openxmlformats.org/drawingml/2006/main">
            <a:off x="609600" y="6315075"/>
            <a:ext cx="10972800" cy="0"/>
          </a:xfrm>
          <a:prstGeom xmlns:a="http://schemas.openxmlformats.org/drawingml/2006/main" prst="line">
            <a:avLst/>
          </a:prstGeom>
          <a:noFill xmlns:a="http://schemas.openxmlformats.org/drawingml/2006/main"/>
          <a:ln xmlns:a="http://schemas.openxmlformats.org/drawingml/2006/main" w="9525">
            <a:solidFill>
              <a:srgbClr val="DCE3EC"/>
            </a:solidFill>
          </a:ln>
        </p:spPr>
      </p:sp>
      <p:sp>
        <p:nvSpPr>
          <p:cNvPr id="5" name="">
            <a:extLst xmlns:a="http://schemas.openxmlformats.org/drawingml/2006/main">
              <a:ext uri="{FF2B5EF4-FFF2-40B4-BE49-F238E27FC236}">
                <a16:creationId xmlns:a16="http://schemas.microsoft.com/office/drawing/2014/main" id="{1ADB5F6F-C731-4193-B77F-FD969E1065DE}"/>
              </a:ext>
            </a:extLst>
          </p:cNvPr>
          <p:cNvSpPr>
            <a:spLocks xmlns:a="http://schemas.openxmlformats.org/drawingml/2006/main" noGrp="1"/>
          </p:cNvSpPr>
          <p:nvPr/>
        </p:nvSpPr>
        <p:spPr>
          <a:xfrm xmlns:a="http://schemas.openxmlformats.org/drawingml/2006/main">
            <a:off x="10801350" y="6419850"/>
            <a:ext cx="904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5D6D82"/>
                </a:solidFill>
                <a:latin typeface="Arial"/>
                <a:ea typeface="Arial"/>
                <a:cs typeface="Arial"/>
              </a:defRPr>
            </a:pPr>
            <a:r>
              <a:rPr sz="1200" b="0">
                <a:solidFill>
                  <a:srgbClr val="5D6D82"/>
                </a:solidFill>
                <a:latin typeface="Arial"/>
                <a:ea typeface="Arial"/>
                <a:cs typeface="Arial"/>
              </a:rPr>
              <a:t>03 / 08</a:t>
            </a:r>
          </a:p>
        </p:txBody>
      </p:sp>
      <p:sp>
        <p:nvSpPr>
          <p:cNvPr id="6" name="">
            <a:extLst xmlns:a="http://schemas.openxmlformats.org/drawingml/2006/main">
              <a:ext uri="{FF2B5EF4-FFF2-40B4-BE49-F238E27FC236}">
                <a16:creationId xmlns:a16="http://schemas.microsoft.com/office/drawing/2014/main" id="{CE1FBE0B-2B38-4C03-8B64-5D32491763D5}"/>
              </a:ext>
            </a:extLst>
          </p:cNvPr>
          <p:cNvSpPr>
            <a:spLocks xmlns:a="http://schemas.openxmlformats.org/drawingml/2006/main" noGrp="1"/>
          </p:cNvSpPr>
          <p:nvPr/>
        </p:nvSpPr>
        <p:spPr>
          <a:xfrm xmlns:a="http://schemas.openxmlformats.org/drawingml/2006/main">
            <a:off x="609600" y="11906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5D6D82"/>
                </a:solidFill>
                <a:latin typeface="Arial"/>
                <a:ea typeface="Arial"/>
                <a:cs typeface="Arial"/>
              </a:defRPr>
            </a:pPr>
            <a:r>
              <a:rPr sz="2100" b="0">
                <a:solidFill>
                  <a:srgbClr val="5D6D82"/>
                </a:solidFill>
                <a:latin typeface="Arial"/>
                <a:ea typeface="Arial"/>
                <a:cs typeface="Arial"/>
              </a:rPr>
              <a:t>Quais unidades concentram o valor pago líquido?</a:t>
            </a:r>
          </a:p>
        </p:txBody>
      </p:sp>
      <p:graphicFrame>
        <p:nvGraphicFramePr>
          <p:cNvPr id="21" name="Chart"/>
          <p:cNvGraphicFramePr/>
          <p:nvPr/>
        </p:nvGraphicFramePr>
        <p:xfrm>
          <a:off xmlns:a="http://schemas.openxmlformats.org/drawingml/2006/main" x="609600" y="2009775"/>
          <a:ext xmlns:a="http://schemas.openxmlformats.org/drawingml/2006/main" cx="7820025" cy="3352800"/>
        </p:xfrm>
        <a:graphic xmlns:a="http://schemas.openxmlformats.org/drawingml/2006/main">
          <a:graphicData uri="http://schemas.openxmlformats.org/drawingml/2006/chart">
            <c:chart xmlns:r="http://schemas.openxmlformats.org/officeDocument/2006/relationships" xmlns:c="http://schemas.openxmlformats.org/drawingml/2006/chart" r:id="R23fa2bfdb05c4c2f"/>
          </a:graphicData>
        </a:graphic>
      </p:graphicFrame>
      <p:sp>
        <p:nvSpPr>
          <p:cNvPr id="8" name="">
            <a:extLst xmlns:a="http://schemas.openxmlformats.org/drawingml/2006/main">
              <a:ext uri="{FF2B5EF4-FFF2-40B4-BE49-F238E27FC236}">
                <a16:creationId xmlns:a16="http://schemas.microsoft.com/office/drawing/2014/main" id="{B419BC49-CBF3-40AB-9C67-CE95DF218405}"/>
              </a:ext>
            </a:extLst>
          </p:cNvPr>
          <p:cNvSpPr>
            <a:spLocks xmlns:a="http://schemas.openxmlformats.org/drawingml/2006/main" noGrp="1"/>
          </p:cNvSpPr>
          <p:nvPr/>
        </p:nvSpPr>
        <p:spPr>
          <a:xfrm xmlns:a="http://schemas.openxmlformats.org/drawingml/2006/main">
            <a:off x="8839200" y="2000250"/>
            <a:ext cx="28003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975" b="1">
                <a:solidFill>
                  <a:srgbClr val="2563EB"/>
                </a:solidFill>
                <a:latin typeface="Arial"/>
                <a:ea typeface="Arial"/>
                <a:cs typeface="Arial"/>
              </a:defRPr>
            </a:pPr>
            <a:r>
              <a:rPr sz="3975" b="1">
                <a:solidFill>
                  <a:srgbClr val="2563EB"/>
                </a:solidFill>
                <a:latin typeface="Arial"/>
                <a:ea typeface="Arial"/>
                <a:cs typeface="Arial"/>
              </a:rPr>
              <a:t>54,86%</a:t>
            </a:r>
          </a:p>
        </p:txBody>
      </p:sp>
      <p:sp>
        <p:nvSpPr>
          <p:cNvPr id="9" name="">
            <a:extLst xmlns:a="http://schemas.openxmlformats.org/drawingml/2006/main">
              <a:ext uri="{FF2B5EF4-FFF2-40B4-BE49-F238E27FC236}">
                <a16:creationId xmlns:a16="http://schemas.microsoft.com/office/drawing/2014/main" id="{11C5D355-1082-47FE-959A-C871CBECF40F}"/>
              </a:ext>
            </a:extLst>
          </p:cNvPr>
          <p:cNvSpPr>
            <a:spLocks xmlns:a="http://schemas.openxmlformats.org/drawingml/2006/main" noGrp="1"/>
          </p:cNvSpPr>
          <p:nvPr/>
        </p:nvSpPr>
        <p:spPr>
          <a:xfrm xmlns:a="http://schemas.openxmlformats.org/drawingml/2006/main">
            <a:off x="8839200" y="2895600"/>
            <a:ext cx="2667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14283F"/>
                </a:solidFill>
                <a:latin typeface="Arial"/>
                <a:ea typeface="Arial"/>
                <a:cs typeface="Arial"/>
              </a:defRPr>
            </a:pPr>
            <a:r>
              <a:rPr sz="2100" b="0">
                <a:solidFill>
                  <a:srgbClr val="14283F"/>
                </a:solidFill>
                <a:latin typeface="Arial"/>
                <a:ea typeface="Arial"/>
                <a:cs typeface="Arial"/>
              </a:rPr>
              <a:t>da soma líquida</a:t>
            </a:r>
          </a:p>
          <a:p xmlns:a="http://schemas.openxmlformats.org/drawingml/2006/main">
            <a:pPr>
              <a:defRPr sz="2100" b="0">
                <a:solidFill>
                  <a:srgbClr val="14283F"/>
                </a:solidFill>
                <a:latin typeface="Arial"/>
                <a:ea typeface="Arial"/>
                <a:cs typeface="Arial"/>
              </a:defRPr>
            </a:pPr>
            <a:r>
              <a:rPr sz="2100" b="0">
                <a:solidFill>
                  <a:srgbClr val="14283F"/>
                </a:solidFill>
                <a:latin typeface="Arial"/>
                <a:ea typeface="Arial"/>
                <a:cs typeface="Arial"/>
              </a:rPr>
              <a:t>nas cinco primeiras</a:t>
            </a:r>
          </a:p>
        </p:txBody>
      </p:sp>
      <p:sp>
        <p:nvSpPr>
          <p:cNvPr id="10" name="">
            <a:extLst xmlns:a="http://schemas.openxmlformats.org/drawingml/2006/main">
              <a:ext uri="{FF2B5EF4-FFF2-40B4-BE49-F238E27FC236}">
                <a16:creationId xmlns:a16="http://schemas.microsoft.com/office/drawing/2014/main" id="{C5556B88-392A-4B64-8AF8-13AC57ADCDAE}"/>
              </a:ext>
            </a:extLst>
          </p:cNvPr>
          <p:cNvSpPr>
            <a:spLocks xmlns:a="http://schemas.openxmlformats.org/drawingml/2006/main" noGrp="1"/>
          </p:cNvSpPr>
          <p:nvPr/>
        </p:nvSpPr>
        <p:spPr>
          <a:xfrm xmlns:a="http://schemas.openxmlformats.org/drawingml/2006/main">
            <a:off x="8839200" y="4057650"/>
            <a:ext cx="28003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1">
                <a:solidFill>
                  <a:srgbClr val="14283F"/>
                </a:solidFill>
                <a:latin typeface="Arial"/>
                <a:ea typeface="Arial"/>
                <a:cs typeface="Arial"/>
              </a:defRPr>
            </a:pPr>
            <a:r>
              <a:rPr sz="2550" b="1">
                <a:solidFill>
                  <a:srgbClr val="14283F"/>
                </a:solidFill>
                <a:latin typeface="Arial"/>
                <a:ea typeface="Arial"/>
                <a:cs typeface="Arial"/>
              </a:rPr>
              <a:t>R$ 10,34 bi</a:t>
            </a:r>
          </a:p>
        </p:txBody>
      </p:sp>
      <p:sp>
        <p:nvSpPr>
          <p:cNvPr id="11" name="">
            <a:extLst xmlns:a="http://schemas.openxmlformats.org/drawingml/2006/main">
              <a:ext uri="{FF2B5EF4-FFF2-40B4-BE49-F238E27FC236}">
                <a16:creationId xmlns:a16="http://schemas.microsoft.com/office/drawing/2014/main" id="{E03E3E9B-14AE-4629-A312-B7DF4B2B58AE}"/>
              </a:ext>
            </a:extLst>
          </p:cNvPr>
          <p:cNvSpPr>
            <a:spLocks xmlns:a="http://schemas.openxmlformats.org/drawingml/2006/main" noGrp="1"/>
          </p:cNvSpPr>
          <p:nvPr/>
        </p:nvSpPr>
        <p:spPr>
          <a:xfrm xmlns:a="http://schemas.openxmlformats.org/drawingml/2006/main">
            <a:off x="8839200" y="4600575"/>
            <a:ext cx="2714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5D6D82"/>
                </a:solidFill>
                <a:latin typeface="Arial"/>
                <a:ea typeface="Arial"/>
                <a:cs typeface="Arial"/>
              </a:defRPr>
            </a:pPr>
            <a:r>
              <a:rPr sz="1800" b="0">
                <a:solidFill>
                  <a:srgbClr val="5D6D82"/>
                </a:solidFill>
                <a:latin typeface="Arial"/>
                <a:ea typeface="Arial"/>
                <a:cs typeface="Arial"/>
              </a:rPr>
              <a:t>total no conjunto</a:t>
            </a:r>
          </a:p>
        </p:txBody>
      </p:sp>
      <p:sp>
        <p:nvSpPr>
          <p:cNvPr id="12" name="">
            <a:extLst xmlns:a="http://schemas.openxmlformats.org/drawingml/2006/main">
              <a:ext uri="{FF2B5EF4-FFF2-40B4-BE49-F238E27FC236}">
                <a16:creationId xmlns:a16="http://schemas.microsoft.com/office/drawing/2014/main" id="{9604DD80-F76C-41CA-A1DB-4D338A29D68C}"/>
              </a:ext>
            </a:extLst>
          </p:cNvPr>
          <p:cNvSpPr>
            <a:spLocks xmlns:a="http://schemas.openxmlformats.org/drawingml/2006/main" noGrp="1"/>
          </p:cNvSpPr>
          <p:nvPr/>
        </p:nvSpPr>
        <p:spPr>
          <a:xfrm xmlns:a="http://schemas.openxmlformats.org/drawingml/2006/main">
            <a:off x="609600" y="5572125"/>
            <a:ext cx="3000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1">
                <a:solidFill>
                  <a:srgbClr val="2563EB"/>
                </a:solidFill>
                <a:latin typeface="Arial"/>
                <a:ea typeface="Arial"/>
                <a:cs typeface="Arial"/>
              </a:defRPr>
            </a:pPr>
            <a:r>
              <a:rPr sz="1800" b="1">
                <a:solidFill>
                  <a:srgbClr val="2563EB"/>
                </a:solidFill>
                <a:latin typeface="Arial"/>
                <a:ea typeface="Arial"/>
                <a:cs typeface="Arial"/>
              </a:rPr>
              <a:t>Decisão de produto</a:t>
            </a:r>
          </a:p>
        </p:txBody>
      </p:sp>
      <p:sp>
        <p:nvSpPr>
          <p:cNvPr id="13" name="">
            <a:extLst xmlns:a="http://schemas.openxmlformats.org/drawingml/2006/main">
              <a:ext uri="{FF2B5EF4-FFF2-40B4-BE49-F238E27FC236}">
                <a16:creationId xmlns:a16="http://schemas.microsoft.com/office/drawing/2014/main" id="{A7935070-592E-4D59-813B-46CC0BA5BBD6}"/>
              </a:ext>
            </a:extLst>
          </p:cNvPr>
          <p:cNvSpPr>
            <a:spLocks xmlns:a="http://schemas.openxmlformats.org/drawingml/2006/main" noGrp="1"/>
          </p:cNvSpPr>
          <p:nvPr/>
        </p:nvSpPr>
        <p:spPr>
          <a:xfrm xmlns:a="http://schemas.openxmlformats.org/drawingml/2006/main">
            <a:off x="3619500" y="5572125"/>
            <a:ext cx="77819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4283F"/>
                </a:solidFill>
                <a:latin typeface="Arial"/>
                <a:ea typeface="Arial"/>
                <a:cs typeface="Arial"/>
              </a:defRPr>
            </a:pPr>
            <a:r>
              <a:rPr sz="1875" b="0">
                <a:solidFill>
                  <a:srgbClr val="14283F"/>
                </a:solidFill>
                <a:latin typeface="Arial"/>
                <a:ea typeface="Arial"/>
                <a:cs typeface="Arial"/>
              </a:rPr>
              <a:t>Ranking prioriza a unidade para consulta dos registros.</a:t>
            </a:r>
          </a:p>
        </p:txBody>
      </p:sp>
      <p:sp>
        <p:nvSpPr>
          <p:cNvPr id="14" name="">
            <a:extLst xmlns:a="http://schemas.openxmlformats.org/drawingml/2006/main">
              <a:ext uri="{FF2B5EF4-FFF2-40B4-BE49-F238E27FC236}">
                <a16:creationId xmlns:a16="http://schemas.microsoft.com/office/drawing/2014/main" id="{01C5974F-1D2E-49F2-BA1D-62BB39F752AF}"/>
              </a:ext>
            </a:extLst>
          </p:cNvPr>
          <p:cNvSpPr>
            <a:spLocks xmlns:a="http://schemas.openxmlformats.org/drawingml/2006/main" noGrp="1"/>
          </p:cNvSpPr>
          <p:nvPr/>
        </p:nvSpPr>
        <p:spPr>
          <a:xfrm xmlns:a="http://schemas.openxmlformats.org/drawingml/2006/main">
            <a:off x="609600" y="6419850"/>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5D6D82"/>
                </a:solidFill>
                <a:latin typeface="Arial"/>
                <a:ea typeface="Arial"/>
                <a:cs typeface="Arial"/>
              </a:defRPr>
            </a:pPr>
            <a:r>
              <a:rPr sz="1200" b="0">
                <a:solidFill>
                  <a:srgbClr val="5D6D82"/>
                </a:solidFill>
                <a:latin typeface="Arial"/>
                <a:ea typeface="Arial"/>
                <a:cs typeface="Arial"/>
              </a:rPr>
              <a:t>ValorPago líquido em R$ milhões. Todos os meses de 2024. 505.950 registros.</a:t>
            </a:r>
          </a:p>
        </p:txBody>
      </p:sp>
    </p:spTree>
    <p:extLst>
      <p:ext uri="{BB962C8B-B14F-4D97-AF65-F5344CB8AC3E}">
        <p14:creationId xmlns:p14="http://schemas.microsoft.com/office/powerpoint/2010/main" val="104582556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F3DF76A-6545-418D-BD97-6BC6FF3707C9}"/>
              </a:ext>
            </a:extLst>
          </p:cNvPr>
          <p:cNvSpPr>
            <a:spLocks xmlns:a="http://schemas.openxmlformats.org/drawingml/2006/main" noGrp="1"/>
          </p:cNvSpPr>
          <p:nvPr/>
        </p:nvSpPr>
        <p:spPr>
          <a:xfrm xmlns:a="http://schemas.openxmlformats.org/drawingml/2006/main">
            <a:off x="609600" y="209550"/>
            <a:ext cx="723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2563EB"/>
                </a:solidFill>
                <a:latin typeface="Arial"/>
                <a:ea typeface="Arial"/>
                <a:cs typeface="Arial"/>
              </a:defRPr>
            </a:pPr>
            <a:r>
              <a:rPr sz="1125" b="1">
                <a:solidFill>
                  <a:srgbClr val="2563EB"/>
                </a:solidFill>
                <a:latin typeface="Arial"/>
                <a:ea typeface="Arial"/>
                <a:cs typeface="Arial"/>
              </a:rPr>
              <a:t>PAGAMENTOS ES 2024</a:t>
            </a:r>
          </a:p>
        </p:txBody>
      </p:sp>
      <p:sp>
        <p:nvSpPr>
          <p:cNvPr id="2" name="">
            <a:extLst xmlns:a="http://schemas.openxmlformats.org/drawingml/2006/main">
              <a:ext uri="{FF2B5EF4-FFF2-40B4-BE49-F238E27FC236}">
                <a16:creationId xmlns:a16="http://schemas.microsoft.com/office/drawing/2014/main" id="{1AAB3DBF-91D1-40FD-89F1-654B89321BB1}"/>
              </a:ext>
            </a:extLst>
          </p:cNvPr>
          <p:cNvSpPr>
            <a:spLocks xmlns:a="http://schemas.openxmlformats.org/drawingml/2006/main" noGrp="1"/>
          </p:cNvSpPr>
          <p:nvPr/>
        </p:nvSpPr>
        <p:spPr>
          <a:xfrm xmlns:a="http://schemas.openxmlformats.org/drawingml/2006/main">
            <a:off x="9001125" y="209550"/>
            <a:ext cx="257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2563EB"/>
                </a:solidFill>
                <a:latin typeface="Arial"/>
                <a:ea typeface="Arial"/>
                <a:cs typeface="Arial"/>
              </a:defRPr>
            </a:pPr>
            <a:r>
              <a:rPr sz="1125" b="1">
                <a:solidFill>
                  <a:srgbClr val="2563EB"/>
                </a:solidFill>
                <a:latin typeface="Arial"/>
                <a:ea typeface="Arial"/>
                <a:cs typeface="Arial"/>
              </a:rPr>
              <a:t>CALENDÁRIO</a:t>
            </a:r>
          </a:p>
        </p:txBody>
      </p:sp>
      <p:sp>
        <p:nvSpPr>
          <p:cNvPr id="3" name="">
            <a:extLst xmlns:a="http://schemas.openxmlformats.org/drawingml/2006/main">
              <a:ext uri="{FF2B5EF4-FFF2-40B4-BE49-F238E27FC236}">
                <a16:creationId xmlns:a16="http://schemas.microsoft.com/office/drawing/2014/main" id="{480826EC-00E9-465B-89BC-2FA4B1CAD8B6}"/>
              </a:ext>
            </a:extLst>
          </p:cNvPr>
          <p:cNvSpPr>
            <a:spLocks xmlns:a="http://schemas.openxmlformats.org/drawingml/2006/main" noGrp="1"/>
          </p:cNvSpPr>
          <p:nvPr/>
        </p:nvSpPr>
        <p:spPr>
          <a:xfrm xmlns:a="http://schemas.openxmlformats.org/drawingml/2006/main">
            <a:off x="609600" y="5524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1">
                <a:solidFill>
                  <a:srgbClr val="14283F"/>
                </a:solidFill>
                <a:latin typeface="Arial"/>
                <a:ea typeface="Arial"/>
                <a:cs typeface="Arial"/>
              </a:defRPr>
            </a:pPr>
            <a:r>
              <a:rPr sz="3225" b="1">
                <a:solidFill>
                  <a:srgbClr val="14283F"/>
                </a:solidFill>
                <a:latin typeface="Arial"/>
                <a:ea typeface="Arial"/>
                <a:cs typeface="Arial"/>
              </a:rPr>
              <a:t>Evolução mensal de ValorPago</a:t>
            </a:r>
          </a:p>
        </p:txBody>
      </p:sp>
      <p:sp>
        <p:nvSpPr>
          <p:cNvPr id="4" name="">
            <a:extLst xmlns:a="http://schemas.openxmlformats.org/drawingml/2006/main">
              <a:ext uri="{FF2B5EF4-FFF2-40B4-BE49-F238E27FC236}">
                <a16:creationId xmlns:a16="http://schemas.microsoft.com/office/drawing/2014/main" id="{161B9892-5E18-49C8-8540-0D71DCED3DB1}"/>
              </a:ext>
            </a:extLst>
          </p:cNvPr>
          <p:cNvSpPr>
            <a:spLocks xmlns:a="http://schemas.openxmlformats.org/drawingml/2006/main" noGrp="1"/>
          </p:cNvSpPr>
          <p:nvPr/>
        </p:nvSpPr>
        <p:spPr>
          <a:xfrm xmlns:a="http://schemas.openxmlformats.org/drawingml/2006/main">
            <a:off x="609600" y="6315075"/>
            <a:ext cx="10972800" cy="0"/>
          </a:xfrm>
          <a:prstGeom xmlns:a="http://schemas.openxmlformats.org/drawingml/2006/main" prst="line">
            <a:avLst/>
          </a:prstGeom>
          <a:noFill xmlns:a="http://schemas.openxmlformats.org/drawingml/2006/main"/>
          <a:ln xmlns:a="http://schemas.openxmlformats.org/drawingml/2006/main" w="9525">
            <a:solidFill>
              <a:srgbClr val="DCE3EC"/>
            </a:solidFill>
          </a:ln>
        </p:spPr>
      </p:sp>
      <p:sp>
        <p:nvSpPr>
          <p:cNvPr id="5" name="">
            <a:extLst xmlns:a="http://schemas.openxmlformats.org/drawingml/2006/main">
              <a:ext uri="{FF2B5EF4-FFF2-40B4-BE49-F238E27FC236}">
                <a16:creationId xmlns:a16="http://schemas.microsoft.com/office/drawing/2014/main" id="{C60C2A35-56F7-460A-B3D3-491272F322E6}"/>
              </a:ext>
            </a:extLst>
          </p:cNvPr>
          <p:cNvSpPr>
            <a:spLocks xmlns:a="http://schemas.openxmlformats.org/drawingml/2006/main" noGrp="1"/>
          </p:cNvSpPr>
          <p:nvPr/>
        </p:nvSpPr>
        <p:spPr>
          <a:xfrm xmlns:a="http://schemas.openxmlformats.org/drawingml/2006/main">
            <a:off x="10801350" y="6419850"/>
            <a:ext cx="904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5D6D82"/>
                </a:solidFill>
                <a:latin typeface="Arial"/>
                <a:ea typeface="Arial"/>
                <a:cs typeface="Arial"/>
              </a:defRPr>
            </a:pPr>
            <a:r>
              <a:rPr sz="1200" b="0">
                <a:solidFill>
                  <a:srgbClr val="5D6D82"/>
                </a:solidFill>
                <a:latin typeface="Arial"/>
                <a:ea typeface="Arial"/>
                <a:cs typeface="Arial"/>
              </a:rPr>
              <a:t>04 / 08</a:t>
            </a:r>
          </a:p>
        </p:txBody>
      </p:sp>
      <p:sp>
        <p:nvSpPr>
          <p:cNvPr id="6" name="">
            <a:extLst xmlns:a="http://schemas.openxmlformats.org/drawingml/2006/main">
              <a:ext uri="{FF2B5EF4-FFF2-40B4-BE49-F238E27FC236}">
                <a16:creationId xmlns:a16="http://schemas.microsoft.com/office/drawing/2014/main" id="{181DC6EC-2267-4712-B275-3F76FE76DC78}"/>
              </a:ext>
            </a:extLst>
          </p:cNvPr>
          <p:cNvSpPr>
            <a:spLocks xmlns:a="http://schemas.openxmlformats.org/drawingml/2006/main" noGrp="1"/>
          </p:cNvSpPr>
          <p:nvPr/>
        </p:nvSpPr>
        <p:spPr>
          <a:xfrm xmlns:a="http://schemas.openxmlformats.org/drawingml/2006/main">
            <a:off x="609600" y="11906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5D6D82"/>
                </a:solidFill>
                <a:latin typeface="Arial"/>
                <a:ea typeface="Arial"/>
                <a:cs typeface="Arial"/>
              </a:defRPr>
            </a:pPr>
            <a:r>
              <a:rPr sz="2100" b="0">
                <a:solidFill>
                  <a:srgbClr val="5D6D82"/>
                </a:solidFill>
                <a:latin typeface="Arial"/>
                <a:ea typeface="Arial"/>
                <a:cs typeface="Arial"/>
              </a:rPr>
              <a:t>Como o valor pago líquido varia ao longo do ano?</a:t>
            </a:r>
          </a:p>
        </p:txBody>
      </p:sp>
      <p:graphicFrame>
        <p:nvGraphicFramePr>
          <p:cNvPr id="22" name="Chart"/>
          <p:cNvGraphicFramePr/>
          <p:nvPr/>
        </p:nvGraphicFramePr>
        <p:xfrm>
          <a:off xmlns:a="http://schemas.openxmlformats.org/drawingml/2006/main" x="609600" y="1990725"/>
          <a:ext xmlns:a="http://schemas.openxmlformats.org/drawingml/2006/main" cx="7791450" cy="3238500"/>
        </p:xfrm>
        <a:graphic xmlns:a="http://schemas.openxmlformats.org/drawingml/2006/main">
          <a:graphicData uri="http://schemas.openxmlformats.org/drawingml/2006/chart">
            <c:chart xmlns:r="http://schemas.openxmlformats.org/officeDocument/2006/relationships" xmlns:c="http://schemas.openxmlformats.org/drawingml/2006/chart" r:id="R66cd13e96b11477d"/>
          </a:graphicData>
        </a:graphic>
      </p:graphicFrame>
      <p:sp>
        <p:nvSpPr>
          <p:cNvPr id="8" name="">
            <a:extLst xmlns:a="http://schemas.openxmlformats.org/drawingml/2006/main">
              <a:ext uri="{FF2B5EF4-FFF2-40B4-BE49-F238E27FC236}">
                <a16:creationId xmlns:a16="http://schemas.microsoft.com/office/drawing/2014/main" id="{36E87E3C-07F8-47E1-B279-6263F6F602BD}"/>
              </a:ext>
            </a:extLst>
          </p:cNvPr>
          <p:cNvSpPr>
            <a:spLocks xmlns:a="http://schemas.openxmlformats.org/drawingml/2006/main" noGrp="1"/>
          </p:cNvSpPr>
          <p:nvPr/>
        </p:nvSpPr>
        <p:spPr>
          <a:xfrm xmlns:a="http://schemas.openxmlformats.org/drawingml/2006/main">
            <a:off x="8848725" y="2009775"/>
            <a:ext cx="27432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2563EB"/>
                </a:solidFill>
                <a:latin typeface="Arial"/>
                <a:ea typeface="Arial"/>
                <a:cs typeface="Arial"/>
              </a:defRPr>
            </a:pPr>
            <a:r>
              <a:rPr sz="3600" b="1">
                <a:solidFill>
                  <a:srgbClr val="2563EB"/>
                </a:solidFill>
                <a:latin typeface="Arial"/>
                <a:ea typeface="Arial"/>
                <a:cs typeface="Arial"/>
              </a:rPr>
              <a:t>R$ 1,65 bi</a:t>
            </a:r>
          </a:p>
        </p:txBody>
      </p:sp>
      <p:sp>
        <p:nvSpPr>
          <p:cNvPr id="9" name="">
            <a:extLst xmlns:a="http://schemas.openxmlformats.org/drawingml/2006/main">
              <a:ext uri="{FF2B5EF4-FFF2-40B4-BE49-F238E27FC236}">
                <a16:creationId xmlns:a16="http://schemas.microsoft.com/office/drawing/2014/main" id="{5E33EE6A-48CE-43B2-9358-E729DDD16400}"/>
              </a:ext>
            </a:extLst>
          </p:cNvPr>
          <p:cNvSpPr>
            <a:spLocks xmlns:a="http://schemas.openxmlformats.org/drawingml/2006/main" noGrp="1"/>
          </p:cNvSpPr>
          <p:nvPr/>
        </p:nvSpPr>
        <p:spPr>
          <a:xfrm xmlns:a="http://schemas.openxmlformats.org/drawingml/2006/main">
            <a:off x="8848725" y="2828925"/>
            <a:ext cx="26765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0">
                <a:solidFill>
                  <a:srgbClr val="14283F"/>
                </a:solidFill>
                <a:latin typeface="Arial"/>
                <a:ea typeface="Arial"/>
                <a:cs typeface="Arial"/>
              </a:defRPr>
            </a:pPr>
            <a:r>
              <a:rPr sz="2025" b="0">
                <a:solidFill>
                  <a:srgbClr val="14283F"/>
                </a:solidFill>
                <a:latin typeface="Arial"/>
                <a:ea typeface="Arial"/>
                <a:cs typeface="Arial"/>
              </a:rPr>
              <a:t>em dezembro,</a:t>
            </a:r>
          </a:p>
          <a:p xmlns:a="http://schemas.openxmlformats.org/drawingml/2006/main">
            <a:pPr>
              <a:defRPr sz="2025" b="0">
                <a:solidFill>
                  <a:srgbClr val="14283F"/>
                </a:solidFill>
                <a:latin typeface="Arial"/>
                <a:ea typeface="Arial"/>
                <a:cs typeface="Arial"/>
              </a:defRPr>
            </a:pPr>
            <a:r>
              <a:rPr sz="2025" b="0">
                <a:solidFill>
                  <a:srgbClr val="14283F"/>
                </a:solidFill>
                <a:latin typeface="Arial"/>
                <a:ea typeface="Arial"/>
                <a:cs typeface="Arial"/>
              </a:rPr>
              <a:t>maior soma mensal</a:t>
            </a:r>
          </a:p>
        </p:txBody>
      </p:sp>
      <p:sp>
        <p:nvSpPr>
          <p:cNvPr id="10" name="">
            <a:extLst xmlns:a="http://schemas.openxmlformats.org/drawingml/2006/main">
              <a:ext uri="{FF2B5EF4-FFF2-40B4-BE49-F238E27FC236}">
                <a16:creationId xmlns:a16="http://schemas.microsoft.com/office/drawing/2014/main" id="{C1E324D8-9C6C-44BE-A525-6AB29BCE0933}"/>
              </a:ext>
            </a:extLst>
          </p:cNvPr>
          <p:cNvSpPr>
            <a:spLocks xmlns:a="http://schemas.openxmlformats.org/drawingml/2006/main" noGrp="1"/>
          </p:cNvSpPr>
          <p:nvPr/>
        </p:nvSpPr>
        <p:spPr>
          <a:xfrm xmlns:a="http://schemas.openxmlformats.org/drawingml/2006/main">
            <a:off x="8848725" y="3705225"/>
            <a:ext cx="2667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5D6D82"/>
                </a:solidFill>
                <a:latin typeface="Arial"/>
                <a:ea typeface="Arial"/>
                <a:cs typeface="Arial"/>
              </a:defRPr>
            </a:pPr>
            <a:r>
              <a:rPr sz="1800" b="0">
                <a:solidFill>
                  <a:srgbClr val="5D6D82"/>
                </a:solidFill>
                <a:latin typeface="Arial"/>
                <a:ea typeface="Arial"/>
                <a:cs typeface="Arial"/>
              </a:rPr>
              <a:t>Média R$ 861,4 mi</a:t>
            </a:r>
          </a:p>
          <a:p xmlns:a="http://schemas.openxmlformats.org/drawingml/2006/main">
            <a:pPr>
              <a:defRPr sz="1800" b="0">
                <a:solidFill>
                  <a:srgbClr val="5D6D82"/>
                </a:solidFill>
                <a:latin typeface="Arial"/>
                <a:ea typeface="Arial"/>
                <a:cs typeface="Arial"/>
              </a:defRPr>
            </a:pPr>
            <a:r>
              <a:rPr sz="1800" b="0">
                <a:solidFill>
                  <a:srgbClr val="5D6D82"/>
                </a:solidFill>
                <a:latin typeface="Arial"/>
                <a:ea typeface="Arial"/>
                <a:cs typeface="Arial"/>
              </a:rPr>
              <a:t>Mediana R$ 830,4 mi</a:t>
            </a:r>
          </a:p>
          <a:p xmlns:a="http://schemas.openxmlformats.org/drawingml/2006/main">
            <a:pPr>
              <a:defRPr sz="1800" b="0">
                <a:solidFill>
                  <a:srgbClr val="5D6D82"/>
                </a:solidFill>
                <a:latin typeface="Arial"/>
                <a:ea typeface="Arial"/>
                <a:cs typeface="Arial"/>
              </a:defRPr>
            </a:pPr>
            <a:r>
              <a:rPr sz="1800" b="0">
                <a:solidFill>
                  <a:srgbClr val="5D6D82"/>
                </a:solidFill>
                <a:latin typeface="Arial"/>
                <a:ea typeface="Arial"/>
                <a:cs typeface="Arial"/>
              </a:rPr>
              <a:t>DP R$ 308,0 mi</a:t>
            </a:r>
          </a:p>
        </p:txBody>
      </p:sp>
      <p:sp>
        <p:nvSpPr>
          <p:cNvPr id="11" name="">
            <a:extLst xmlns:a="http://schemas.openxmlformats.org/drawingml/2006/main">
              <a:ext uri="{FF2B5EF4-FFF2-40B4-BE49-F238E27FC236}">
                <a16:creationId xmlns:a16="http://schemas.microsoft.com/office/drawing/2014/main" id="{C83F6D5F-95ED-4F6A-B42A-0A61997C71F9}"/>
              </a:ext>
            </a:extLst>
          </p:cNvPr>
          <p:cNvSpPr>
            <a:spLocks xmlns:a="http://schemas.openxmlformats.org/drawingml/2006/main" noGrp="1"/>
          </p:cNvSpPr>
          <p:nvPr/>
        </p:nvSpPr>
        <p:spPr>
          <a:xfrm xmlns:a="http://schemas.openxmlformats.org/drawingml/2006/main">
            <a:off x="8848725" y="4838700"/>
            <a:ext cx="27336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2563EB"/>
                </a:solidFill>
                <a:latin typeface="Arial"/>
                <a:ea typeface="Arial"/>
                <a:cs typeface="Arial"/>
              </a:defRPr>
            </a:pPr>
            <a:r>
              <a:rPr sz="1650" b="1">
                <a:solidFill>
                  <a:srgbClr val="2563EB"/>
                </a:solidFill>
                <a:latin typeface="Arial"/>
                <a:ea typeface="Arial"/>
                <a:cs typeface="Arial"/>
              </a:rPr>
              <a:t>Produto: filtro mensal</a:t>
            </a:r>
          </a:p>
          <a:p xmlns:a="http://schemas.openxmlformats.org/drawingml/2006/main">
            <a:pPr>
              <a:defRPr sz="1650" b="1">
                <a:solidFill>
                  <a:srgbClr val="2563EB"/>
                </a:solidFill>
                <a:latin typeface="Arial"/>
                <a:ea typeface="Arial"/>
                <a:cs typeface="Arial"/>
              </a:defRPr>
            </a:pPr>
            <a:r>
              <a:rPr sz="1650" b="1">
                <a:solidFill>
                  <a:srgbClr val="2563EB"/>
                </a:solidFill>
                <a:latin typeface="Arial"/>
                <a:ea typeface="Arial"/>
                <a:cs typeface="Arial"/>
              </a:rPr>
              <a:t>e consulta da composição</a:t>
            </a:r>
          </a:p>
        </p:txBody>
      </p:sp>
      <p:sp>
        <p:nvSpPr>
          <p:cNvPr id="12" name="">
            <a:extLst xmlns:a="http://schemas.openxmlformats.org/drawingml/2006/main">
              <a:ext uri="{FF2B5EF4-FFF2-40B4-BE49-F238E27FC236}">
                <a16:creationId xmlns:a16="http://schemas.microsoft.com/office/drawing/2014/main" id="{71D25AC4-2F47-44A0-8CDF-44DA64EAF31A}"/>
              </a:ext>
            </a:extLst>
          </p:cNvPr>
          <p:cNvSpPr>
            <a:spLocks xmlns:a="http://schemas.openxmlformats.org/drawingml/2006/main" noGrp="1"/>
          </p:cNvSpPr>
          <p:nvPr/>
        </p:nvSpPr>
        <p:spPr>
          <a:xfrm xmlns:a="http://schemas.openxmlformats.org/drawingml/2006/main">
            <a:off x="609600" y="5543550"/>
            <a:ext cx="29432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1">
                <a:solidFill>
                  <a:srgbClr val="2563EB"/>
                </a:solidFill>
                <a:latin typeface="Arial"/>
                <a:ea typeface="Arial"/>
                <a:cs typeface="Arial"/>
              </a:defRPr>
            </a:pPr>
            <a:r>
              <a:rPr sz="1725" b="1">
                <a:solidFill>
                  <a:srgbClr val="2563EB"/>
                </a:solidFill>
                <a:latin typeface="Arial"/>
                <a:ea typeface="Arial"/>
                <a:cs typeface="Arial"/>
              </a:rPr>
              <a:t>Amostragem interna</a:t>
            </a:r>
          </a:p>
        </p:txBody>
      </p:sp>
      <p:sp>
        <p:nvSpPr>
          <p:cNvPr id="13" name="">
            <a:extLst xmlns:a="http://schemas.openxmlformats.org/drawingml/2006/main">
              <a:ext uri="{FF2B5EF4-FFF2-40B4-BE49-F238E27FC236}">
                <a16:creationId xmlns:a16="http://schemas.microsoft.com/office/drawing/2014/main" id="{922A131B-7768-4D19-93FE-505D2C2150BF}"/>
              </a:ext>
            </a:extLst>
          </p:cNvPr>
          <p:cNvSpPr>
            <a:spLocks xmlns:a="http://schemas.openxmlformats.org/drawingml/2006/main" noGrp="1"/>
          </p:cNvSpPr>
          <p:nvPr/>
        </p:nvSpPr>
        <p:spPr>
          <a:xfrm xmlns:a="http://schemas.openxmlformats.org/drawingml/2006/main">
            <a:off x="3619500" y="5543550"/>
            <a:ext cx="7858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4283F"/>
                </a:solidFill>
                <a:latin typeface="Arial"/>
                <a:ea typeface="Arial"/>
                <a:cs typeface="Arial"/>
              </a:defRPr>
            </a:pPr>
            <a:r>
              <a:rPr sz="1725" b="0">
                <a:solidFill>
                  <a:srgbClr val="14283F"/>
                </a:solidFill>
                <a:latin typeface="Arial"/>
                <a:ea typeface="Arial"/>
                <a:cs typeface="Arial"/>
              </a:rPr>
              <a:t>IC 95%: 30,36% a 32,18% de registros positivos na base local.</a:t>
            </a:r>
          </a:p>
        </p:txBody>
      </p:sp>
      <p:sp>
        <p:nvSpPr>
          <p:cNvPr id="14" name="">
            <a:extLst xmlns:a="http://schemas.openxmlformats.org/drawingml/2006/main">
              <a:ext uri="{FF2B5EF4-FFF2-40B4-BE49-F238E27FC236}">
                <a16:creationId xmlns:a16="http://schemas.microsoft.com/office/drawing/2014/main" id="{2336C653-A4B0-4A89-81BB-3FA4A7DE5EDA}"/>
              </a:ext>
            </a:extLst>
          </p:cNvPr>
          <p:cNvSpPr>
            <a:spLocks xmlns:a="http://schemas.openxmlformats.org/drawingml/2006/main" noGrp="1"/>
          </p:cNvSpPr>
          <p:nvPr/>
        </p:nvSpPr>
        <p:spPr>
          <a:xfrm xmlns:a="http://schemas.openxmlformats.org/drawingml/2006/main">
            <a:off x="3619500" y="5876925"/>
            <a:ext cx="7858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0">
                <a:solidFill>
                  <a:srgbClr val="5D6D82"/>
                </a:solidFill>
                <a:latin typeface="Arial"/>
                <a:ea typeface="Arial"/>
                <a:cs typeface="Arial"/>
              </a:defRPr>
            </a:pPr>
            <a:r>
              <a:rPr sz="1500" b="0">
                <a:solidFill>
                  <a:srgbClr val="5D6D82"/>
                </a:solidFill>
                <a:latin typeface="Arial"/>
                <a:ea typeface="Arial"/>
                <a:cs typeface="Arial"/>
              </a:rPr>
              <a:t>n = 10.000, semente 2024. Proporção amostral 31,26%. Método de Wilson.</a:t>
            </a:r>
          </a:p>
        </p:txBody>
      </p:sp>
      <p:sp>
        <p:nvSpPr>
          <p:cNvPr id="15" name="">
            <a:extLst xmlns:a="http://schemas.openxmlformats.org/drawingml/2006/main">
              <a:ext uri="{FF2B5EF4-FFF2-40B4-BE49-F238E27FC236}">
                <a16:creationId xmlns:a16="http://schemas.microsoft.com/office/drawing/2014/main" id="{0B4757D4-6D3F-4814-AC9D-A4EA633AC380}"/>
              </a:ext>
            </a:extLst>
          </p:cNvPr>
          <p:cNvSpPr>
            <a:spLocks xmlns:a="http://schemas.openxmlformats.org/drawingml/2006/main" noGrp="1"/>
          </p:cNvSpPr>
          <p:nvPr/>
        </p:nvSpPr>
        <p:spPr>
          <a:xfrm xmlns:a="http://schemas.openxmlformats.org/drawingml/2006/main">
            <a:off x="609600" y="6419850"/>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5D6D82"/>
                </a:solidFill>
                <a:latin typeface="Arial"/>
                <a:ea typeface="Arial"/>
                <a:cs typeface="Arial"/>
              </a:defRPr>
            </a:pPr>
            <a:r>
              <a:rPr sz="1200" b="0">
                <a:solidFill>
                  <a:srgbClr val="5D6D82"/>
                </a:solidFill>
                <a:latin typeface="Arial"/>
                <a:ea typeface="Arial"/>
                <a:cs typeface="Arial"/>
              </a:rPr>
              <a:t>ValorPago líquido em R$ milhões. Data do registro. 505.950 registros.</a:t>
            </a:r>
          </a:p>
        </p:txBody>
      </p:sp>
    </p:spTree>
    <p:extLst>
      <p:ext uri="{BB962C8B-B14F-4D97-AF65-F5344CB8AC3E}">
        <p14:creationId xmlns:p14="http://schemas.microsoft.com/office/powerpoint/2010/main" val="189333465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187A20D-2CD9-43D1-B10D-E7419CC840C4}"/>
              </a:ext>
            </a:extLst>
          </p:cNvPr>
          <p:cNvSpPr>
            <a:spLocks xmlns:a="http://schemas.openxmlformats.org/drawingml/2006/main" noGrp="1"/>
          </p:cNvSpPr>
          <p:nvPr/>
        </p:nvSpPr>
        <p:spPr>
          <a:xfrm xmlns:a="http://schemas.openxmlformats.org/drawingml/2006/main">
            <a:off x="609600" y="209550"/>
            <a:ext cx="723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2563EB"/>
                </a:solidFill>
                <a:latin typeface="Arial"/>
                <a:ea typeface="Arial"/>
                <a:cs typeface="Arial"/>
              </a:defRPr>
            </a:pPr>
            <a:r>
              <a:rPr sz="1125" b="1">
                <a:solidFill>
                  <a:srgbClr val="2563EB"/>
                </a:solidFill>
                <a:latin typeface="Arial"/>
                <a:ea typeface="Arial"/>
                <a:cs typeface="Arial"/>
              </a:rPr>
              <a:t>PAGAMENTOS ES 2024</a:t>
            </a:r>
          </a:p>
        </p:txBody>
      </p:sp>
      <p:sp>
        <p:nvSpPr>
          <p:cNvPr id="2" name="">
            <a:extLst xmlns:a="http://schemas.openxmlformats.org/drawingml/2006/main">
              <a:ext uri="{FF2B5EF4-FFF2-40B4-BE49-F238E27FC236}">
                <a16:creationId xmlns:a16="http://schemas.microsoft.com/office/drawing/2014/main" id="{75859454-13FF-44D6-9485-A3F5D9E1CC27}"/>
              </a:ext>
            </a:extLst>
          </p:cNvPr>
          <p:cNvSpPr>
            <a:spLocks xmlns:a="http://schemas.openxmlformats.org/drawingml/2006/main" noGrp="1"/>
          </p:cNvSpPr>
          <p:nvPr/>
        </p:nvSpPr>
        <p:spPr>
          <a:xfrm xmlns:a="http://schemas.openxmlformats.org/drawingml/2006/main">
            <a:off x="9001125" y="209550"/>
            <a:ext cx="257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2563EB"/>
                </a:solidFill>
                <a:latin typeface="Arial"/>
                <a:ea typeface="Arial"/>
                <a:cs typeface="Arial"/>
              </a:defRPr>
            </a:pPr>
            <a:r>
              <a:rPr sz="1125" b="1">
                <a:solidFill>
                  <a:srgbClr val="2563EB"/>
                </a:solidFill>
                <a:latin typeface="Arial"/>
                <a:ea typeface="Arial"/>
                <a:cs typeface="Arial"/>
              </a:rPr>
              <a:t>DEMONSTRAÇÃO</a:t>
            </a:r>
          </a:p>
        </p:txBody>
      </p:sp>
      <p:sp>
        <p:nvSpPr>
          <p:cNvPr id="3" name="">
            <a:extLst xmlns:a="http://schemas.openxmlformats.org/drawingml/2006/main">
              <a:ext uri="{FF2B5EF4-FFF2-40B4-BE49-F238E27FC236}">
                <a16:creationId xmlns:a16="http://schemas.microsoft.com/office/drawing/2014/main" id="{18B3CCDC-C9DA-4E7B-A49A-3B409C8406B6}"/>
              </a:ext>
            </a:extLst>
          </p:cNvPr>
          <p:cNvSpPr>
            <a:spLocks xmlns:a="http://schemas.openxmlformats.org/drawingml/2006/main" noGrp="1"/>
          </p:cNvSpPr>
          <p:nvPr/>
        </p:nvSpPr>
        <p:spPr>
          <a:xfrm xmlns:a="http://schemas.openxmlformats.org/drawingml/2006/main">
            <a:off x="609600" y="5524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1">
                <a:solidFill>
                  <a:srgbClr val="14283F"/>
                </a:solidFill>
                <a:latin typeface="Arial"/>
                <a:ea typeface="Arial"/>
                <a:cs typeface="Arial"/>
              </a:defRPr>
            </a:pPr>
            <a:r>
              <a:rPr sz="3225" b="1">
                <a:solidFill>
                  <a:srgbClr val="14283F"/>
                </a:solidFill>
                <a:latin typeface="Arial"/>
                <a:ea typeface="Arial"/>
                <a:cs typeface="Arial"/>
              </a:rPr>
              <a:t>Demonstração da aplicação</a:t>
            </a:r>
          </a:p>
        </p:txBody>
      </p:sp>
      <p:sp>
        <p:nvSpPr>
          <p:cNvPr id="4" name="">
            <a:extLst xmlns:a="http://schemas.openxmlformats.org/drawingml/2006/main">
              <a:ext uri="{FF2B5EF4-FFF2-40B4-BE49-F238E27FC236}">
                <a16:creationId xmlns:a16="http://schemas.microsoft.com/office/drawing/2014/main" id="{89412390-9834-416D-A6BF-108B949256D9}"/>
              </a:ext>
            </a:extLst>
          </p:cNvPr>
          <p:cNvSpPr>
            <a:spLocks xmlns:a="http://schemas.openxmlformats.org/drawingml/2006/main" noGrp="1"/>
          </p:cNvSpPr>
          <p:nvPr/>
        </p:nvSpPr>
        <p:spPr>
          <a:xfrm xmlns:a="http://schemas.openxmlformats.org/drawingml/2006/main">
            <a:off x="609600" y="6315075"/>
            <a:ext cx="10972800" cy="0"/>
          </a:xfrm>
          <a:prstGeom xmlns:a="http://schemas.openxmlformats.org/drawingml/2006/main" prst="line">
            <a:avLst/>
          </a:prstGeom>
          <a:noFill xmlns:a="http://schemas.openxmlformats.org/drawingml/2006/main"/>
          <a:ln xmlns:a="http://schemas.openxmlformats.org/drawingml/2006/main" w="9525">
            <a:solidFill>
              <a:srgbClr val="DCE3EC"/>
            </a:solidFill>
          </a:ln>
        </p:spPr>
      </p:sp>
      <p:sp>
        <p:nvSpPr>
          <p:cNvPr id="5" name="">
            <a:extLst xmlns:a="http://schemas.openxmlformats.org/drawingml/2006/main">
              <a:ext uri="{FF2B5EF4-FFF2-40B4-BE49-F238E27FC236}">
                <a16:creationId xmlns:a16="http://schemas.microsoft.com/office/drawing/2014/main" id="{BA3566DF-1E3F-4B98-8EF7-6031B82F68E7}"/>
              </a:ext>
            </a:extLst>
          </p:cNvPr>
          <p:cNvSpPr>
            <a:spLocks xmlns:a="http://schemas.openxmlformats.org/drawingml/2006/main" noGrp="1"/>
          </p:cNvSpPr>
          <p:nvPr/>
        </p:nvSpPr>
        <p:spPr>
          <a:xfrm xmlns:a="http://schemas.openxmlformats.org/drawingml/2006/main">
            <a:off x="10801350" y="6419850"/>
            <a:ext cx="904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5D6D82"/>
                </a:solidFill>
                <a:latin typeface="Arial"/>
                <a:ea typeface="Arial"/>
                <a:cs typeface="Arial"/>
              </a:defRPr>
            </a:pPr>
            <a:r>
              <a:rPr sz="1200" b="0">
                <a:solidFill>
                  <a:srgbClr val="5D6D82"/>
                </a:solidFill>
                <a:latin typeface="Arial"/>
                <a:ea typeface="Arial"/>
                <a:cs typeface="Arial"/>
              </a:rPr>
              <a:t>05 / 08</a:t>
            </a:r>
          </a:p>
        </p:txBody>
      </p:sp>
      <p:sp>
        <p:nvSpPr>
          <p:cNvPr id="6" name="">
            <a:extLst xmlns:a="http://schemas.openxmlformats.org/drawingml/2006/main">
              <a:ext uri="{FF2B5EF4-FFF2-40B4-BE49-F238E27FC236}">
                <a16:creationId xmlns:a16="http://schemas.microsoft.com/office/drawing/2014/main" id="{54CBDD3C-508A-45D9-B783-CAF307DFAED8}"/>
              </a:ext>
            </a:extLst>
          </p:cNvPr>
          <p:cNvSpPr>
            <a:spLocks xmlns:a="http://schemas.openxmlformats.org/drawingml/2006/main" noGrp="1"/>
          </p:cNvSpPr>
          <p:nvPr/>
        </p:nvSpPr>
        <p:spPr>
          <a:xfrm xmlns:a="http://schemas.openxmlformats.org/drawingml/2006/main">
            <a:off x="609600" y="11906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5D6D82"/>
                </a:solidFill>
                <a:latin typeface="Arial"/>
                <a:ea typeface="Arial"/>
                <a:cs typeface="Arial"/>
              </a:defRPr>
            </a:pPr>
            <a:r>
              <a:rPr sz="2100" b="0">
                <a:solidFill>
                  <a:srgbClr val="5D6D82"/>
                </a:solidFill>
                <a:latin typeface="Arial"/>
                <a:ea typeface="Arial"/>
                <a:cs typeface="Arial"/>
              </a:rPr>
              <a:t>Demonstração ao vivo</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5a99795b3bd9474a"/>
          <a:stretch xmlns:a="http://schemas.openxmlformats.org/drawingml/2006/main"/>
        </p:blipFill>
        <p:spPr>
          <a:xfrm xmlns:a="http://schemas.openxmlformats.org/drawingml/2006/main">
            <a:off x="800251" y="1914525"/>
            <a:ext cx="7476824" cy="42005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AECF6B6-0D3A-40E1-AF01-64D5A7A6E16D}"/>
              </a:ext>
            </a:extLst>
          </p:cNvPr>
          <p:cNvSpPr>
            <a:spLocks xmlns:a="http://schemas.openxmlformats.org/drawingml/2006/main" noGrp="1"/>
          </p:cNvSpPr>
          <p:nvPr/>
        </p:nvSpPr>
        <p:spPr>
          <a:xfrm xmlns:a="http://schemas.openxmlformats.org/drawingml/2006/main">
            <a:off x="8858250" y="1990725"/>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1">
                <a:solidFill>
                  <a:srgbClr val="2563EB"/>
                </a:solidFill>
                <a:latin typeface="Arial"/>
                <a:ea typeface="Arial"/>
                <a:cs typeface="Arial"/>
              </a:defRPr>
            </a:pPr>
            <a:r>
              <a:rPr sz="1800" b="1">
                <a:solidFill>
                  <a:srgbClr val="2563EB"/>
                </a:solidFill>
                <a:latin typeface="Arial"/>
                <a:ea typeface="Arial"/>
                <a:cs typeface="Arial"/>
              </a:rPr>
              <a:t>01</a:t>
            </a:r>
          </a:p>
        </p:txBody>
      </p:sp>
      <p:sp>
        <p:nvSpPr>
          <p:cNvPr id="9" name="">
            <a:extLst xmlns:a="http://schemas.openxmlformats.org/drawingml/2006/main">
              <a:ext uri="{FF2B5EF4-FFF2-40B4-BE49-F238E27FC236}">
                <a16:creationId xmlns:a16="http://schemas.microsoft.com/office/drawing/2014/main" id="{217B4FF9-D5B7-4AA7-94BE-1C1761A77486}"/>
              </a:ext>
            </a:extLst>
          </p:cNvPr>
          <p:cNvSpPr>
            <a:spLocks xmlns:a="http://schemas.openxmlformats.org/drawingml/2006/main" noGrp="1"/>
          </p:cNvSpPr>
          <p:nvPr/>
        </p:nvSpPr>
        <p:spPr>
          <a:xfrm xmlns:a="http://schemas.openxmlformats.org/drawingml/2006/main">
            <a:off x="9458325" y="1990725"/>
            <a:ext cx="2095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4283F"/>
                </a:solidFill>
                <a:latin typeface="Arial"/>
                <a:ea typeface="Arial"/>
                <a:cs typeface="Arial"/>
              </a:defRPr>
            </a:pPr>
            <a:r>
              <a:rPr sz="1875" b="0">
                <a:solidFill>
                  <a:srgbClr val="14283F"/>
                </a:solidFill>
                <a:latin typeface="Arial"/>
                <a:ea typeface="Arial"/>
                <a:cs typeface="Arial"/>
              </a:rPr>
              <a:t>Saúde em dezembro</a:t>
            </a:r>
          </a:p>
        </p:txBody>
      </p:sp>
      <p:sp>
        <p:nvSpPr>
          <p:cNvPr id="10" name="">
            <a:extLst xmlns:a="http://schemas.openxmlformats.org/drawingml/2006/main">
              <a:ext uri="{FF2B5EF4-FFF2-40B4-BE49-F238E27FC236}">
                <a16:creationId xmlns:a16="http://schemas.microsoft.com/office/drawing/2014/main" id="{B6C77E41-3628-4CD8-8896-F83489C9083D}"/>
              </a:ext>
            </a:extLst>
          </p:cNvPr>
          <p:cNvSpPr>
            <a:spLocks xmlns:a="http://schemas.openxmlformats.org/drawingml/2006/main" noGrp="1"/>
          </p:cNvSpPr>
          <p:nvPr/>
        </p:nvSpPr>
        <p:spPr>
          <a:xfrm xmlns:a="http://schemas.openxmlformats.org/drawingml/2006/main">
            <a:off x="8858250" y="2819400"/>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1">
                <a:solidFill>
                  <a:srgbClr val="2563EB"/>
                </a:solidFill>
                <a:latin typeface="Arial"/>
                <a:ea typeface="Arial"/>
                <a:cs typeface="Arial"/>
              </a:defRPr>
            </a:pPr>
            <a:r>
              <a:rPr sz="1800" b="1">
                <a:solidFill>
                  <a:srgbClr val="2563EB"/>
                </a:solidFill>
                <a:latin typeface="Arial"/>
                <a:ea typeface="Arial"/>
                <a:cs typeface="Arial"/>
              </a:rPr>
              <a:t>02</a:t>
            </a:r>
          </a:p>
        </p:txBody>
      </p:sp>
      <p:sp>
        <p:nvSpPr>
          <p:cNvPr id="11" name="">
            <a:extLst xmlns:a="http://schemas.openxmlformats.org/drawingml/2006/main">
              <a:ext uri="{FF2B5EF4-FFF2-40B4-BE49-F238E27FC236}">
                <a16:creationId xmlns:a16="http://schemas.microsoft.com/office/drawing/2014/main" id="{12F74A48-BEFD-4FE5-AB02-042F88DB17BE}"/>
              </a:ext>
            </a:extLst>
          </p:cNvPr>
          <p:cNvSpPr>
            <a:spLocks xmlns:a="http://schemas.openxmlformats.org/drawingml/2006/main" noGrp="1"/>
          </p:cNvSpPr>
          <p:nvPr/>
        </p:nvSpPr>
        <p:spPr>
          <a:xfrm xmlns:a="http://schemas.openxmlformats.org/drawingml/2006/main">
            <a:off x="9458325" y="2819400"/>
            <a:ext cx="2095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4283F"/>
                </a:solidFill>
                <a:latin typeface="Arial"/>
                <a:ea typeface="Arial"/>
                <a:cs typeface="Arial"/>
              </a:defRPr>
            </a:pPr>
            <a:r>
              <a:rPr sz="1875" b="0">
                <a:solidFill>
                  <a:srgbClr val="14283F"/>
                </a:solidFill>
                <a:latin typeface="Arial"/>
                <a:ea typeface="Arial"/>
                <a:cs typeface="Arial"/>
              </a:rPr>
              <a:t>Arquivo e linha de origem</a:t>
            </a:r>
          </a:p>
        </p:txBody>
      </p:sp>
      <p:sp>
        <p:nvSpPr>
          <p:cNvPr id="12" name="">
            <a:extLst xmlns:a="http://schemas.openxmlformats.org/drawingml/2006/main">
              <a:ext uri="{FF2B5EF4-FFF2-40B4-BE49-F238E27FC236}">
                <a16:creationId xmlns:a16="http://schemas.microsoft.com/office/drawing/2014/main" id="{ED93305F-C71C-4B28-AAB4-819816462E98}"/>
              </a:ext>
            </a:extLst>
          </p:cNvPr>
          <p:cNvSpPr>
            <a:spLocks xmlns:a="http://schemas.openxmlformats.org/drawingml/2006/main" noGrp="1"/>
          </p:cNvSpPr>
          <p:nvPr/>
        </p:nvSpPr>
        <p:spPr>
          <a:xfrm xmlns:a="http://schemas.openxmlformats.org/drawingml/2006/main">
            <a:off x="8858250" y="3648075"/>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1">
                <a:solidFill>
                  <a:srgbClr val="2563EB"/>
                </a:solidFill>
                <a:latin typeface="Arial"/>
                <a:ea typeface="Arial"/>
                <a:cs typeface="Arial"/>
              </a:defRPr>
            </a:pPr>
            <a:r>
              <a:rPr sz="1800" b="1">
                <a:solidFill>
                  <a:srgbClr val="2563EB"/>
                </a:solidFill>
                <a:latin typeface="Arial"/>
                <a:ea typeface="Arial"/>
                <a:cs typeface="Arial"/>
              </a:rPr>
              <a:t>03</a:t>
            </a:r>
          </a:p>
        </p:txBody>
      </p:sp>
      <p:sp>
        <p:nvSpPr>
          <p:cNvPr id="13" name="">
            <a:extLst xmlns:a="http://schemas.openxmlformats.org/drawingml/2006/main">
              <a:ext uri="{FF2B5EF4-FFF2-40B4-BE49-F238E27FC236}">
                <a16:creationId xmlns:a16="http://schemas.microsoft.com/office/drawing/2014/main" id="{2381FDB7-9722-4463-A0FC-6340915D8C17}"/>
              </a:ext>
            </a:extLst>
          </p:cNvPr>
          <p:cNvSpPr>
            <a:spLocks xmlns:a="http://schemas.openxmlformats.org/drawingml/2006/main" noGrp="1"/>
          </p:cNvSpPr>
          <p:nvPr/>
        </p:nvSpPr>
        <p:spPr>
          <a:xfrm xmlns:a="http://schemas.openxmlformats.org/drawingml/2006/main">
            <a:off x="9458325" y="3648075"/>
            <a:ext cx="2095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4283F"/>
                </a:solidFill>
                <a:latin typeface="Arial"/>
                <a:ea typeface="Arial"/>
                <a:cs typeface="Arial"/>
              </a:defRPr>
            </a:pPr>
            <a:r>
              <a:rPr sz="1875" b="0">
                <a:solidFill>
                  <a:srgbClr val="14283F"/>
                </a:solidFill>
                <a:latin typeface="Arial"/>
                <a:ea typeface="Arial"/>
                <a:cs typeface="Arial"/>
              </a:rPr>
              <a:t>Exportação do recorte</a:t>
            </a:r>
          </a:p>
        </p:txBody>
      </p:sp>
      <p:sp>
        <p:nvSpPr>
          <p:cNvPr id="14" name="">
            <a:extLst xmlns:a="http://schemas.openxmlformats.org/drawingml/2006/main">
              <a:ext uri="{FF2B5EF4-FFF2-40B4-BE49-F238E27FC236}">
                <a16:creationId xmlns:a16="http://schemas.microsoft.com/office/drawing/2014/main" id="{82C73CDA-CB89-47A3-95F4-3FFDEE390EB0}"/>
              </a:ext>
            </a:extLst>
          </p:cNvPr>
          <p:cNvSpPr>
            <a:spLocks xmlns:a="http://schemas.openxmlformats.org/drawingml/2006/main" noGrp="1"/>
          </p:cNvSpPr>
          <p:nvPr/>
        </p:nvSpPr>
        <p:spPr>
          <a:xfrm xmlns:a="http://schemas.openxmlformats.org/drawingml/2006/main">
            <a:off x="8858250" y="4476750"/>
            <a:ext cx="61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1">
                <a:solidFill>
                  <a:srgbClr val="2563EB"/>
                </a:solidFill>
                <a:latin typeface="Arial"/>
                <a:ea typeface="Arial"/>
                <a:cs typeface="Arial"/>
              </a:defRPr>
            </a:pPr>
            <a:r>
              <a:rPr sz="1800" b="1">
                <a:solidFill>
                  <a:srgbClr val="2563EB"/>
                </a:solidFill>
                <a:latin typeface="Arial"/>
                <a:ea typeface="Arial"/>
                <a:cs typeface="Arial"/>
              </a:rPr>
              <a:t>04</a:t>
            </a:r>
          </a:p>
        </p:txBody>
      </p:sp>
      <p:sp>
        <p:nvSpPr>
          <p:cNvPr id="15" name="">
            <a:extLst xmlns:a="http://schemas.openxmlformats.org/drawingml/2006/main">
              <a:ext uri="{FF2B5EF4-FFF2-40B4-BE49-F238E27FC236}">
                <a16:creationId xmlns:a16="http://schemas.microsoft.com/office/drawing/2014/main" id="{96849F96-84D6-4EFA-8E98-25B02499879F}"/>
              </a:ext>
            </a:extLst>
          </p:cNvPr>
          <p:cNvSpPr>
            <a:spLocks xmlns:a="http://schemas.openxmlformats.org/drawingml/2006/main" noGrp="1"/>
          </p:cNvSpPr>
          <p:nvPr/>
        </p:nvSpPr>
        <p:spPr>
          <a:xfrm xmlns:a="http://schemas.openxmlformats.org/drawingml/2006/main">
            <a:off x="9458325" y="4476750"/>
            <a:ext cx="2095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4283F"/>
                </a:solidFill>
                <a:latin typeface="Arial"/>
                <a:ea typeface="Arial"/>
                <a:cs typeface="Arial"/>
              </a:defRPr>
            </a:pPr>
            <a:r>
              <a:rPr sz="1875" b="0">
                <a:solidFill>
                  <a:srgbClr val="14283F"/>
                </a:solidFill>
                <a:latin typeface="Arial"/>
                <a:ea typeface="Arial"/>
                <a:cs typeface="Arial"/>
              </a:rPr>
              <a:t>Polícia Penal em janeiro</a:t>
            </a:r>
          </a:p>
        </p:txBody>
      </p:sp>
      <p:sp>
        <p:nvSpPr>
          <p:cNvPr id="16" name="">
            <a:extLst xmlns:a="http://schemas.openxmlformats.org/drawingml/2006/main">
              <a:ext uri="{FF2B5EF4-FFF2-40B4-BE49-F238E27FC236}">
                <a16:creationId xmlns:a16="http://schemas.microsoft.com/office/drawing/2014/main" id="{5A6BF6AC-CB6B-40FD-92CA-DBCEBFDF3827}"/>
              </a:ext>
            </a:extLst>
          </p:cNvPr>
          <p:cNvSpPr>
            <a:spLocks xmlns:a="http://schemas.openxmlformats.org/drawingml/2006/main" noGrp="1"/>
          </p:cNvSpPr>
          <p:nvPr/>
        </p:nvSpPr>
        <p:spPr>
          <a:xfrm xmlns:a="http://schemas.openxmlformats.org/drawingml/2006/main">
            <a:off x="8858250" y="5381625"/>
            <a:ext cx="26860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5D6D82"/>
                </a:solidFill>
                <a:latin typeface="Arial"/>
                <a:ea typeface="Arial"/>
                <a:cs typeface="Arial"/>
              </a:defRPr>
            </a:pPr>
            <a:r>
              <a:rPr sz="1725" b="0">
                <a:solidFill>
                  <a:srgbClr val="5D6D82"/>
                </a:solidFill>
                <a:latin typeface="Arial"/>
                <a:ea typeface="Arial"/>
                <a:cs typeface="Arial"/>
              </a:rPr>
              <a:t>Sem registros é diferente</a:t>
            </a:r>
          </a:p>
          <a:p xmlns:a="http://schemas.openxmlformats.org/drawingml/2006/main">
            <a:pPr>
              <a:defRPr sz="1725" b="0">
                <a:solidFill>
                  <a:srgbClr val="5D6D82"/>
                </a:solidFill>
                <a:latin typeface="Arial"/>
                <a:ea typeface="Arial"/>
                <a:cs typeface="Arial"/>
              </a:defRPr>
            </a:pPr>
            <a:r>
              <a:rPr sz="1725" b="0">
                <a:solidFill>
                  <a:srgbClr val="5D6D82"/>
                </a:solidFill>
                <a:latin typeface="Arial"/>
                <a:ea typeface="Arial"/>
                <a:cs typeface="Arial"/>
              </a:rPr>
              <a:t>de soma igual a zero.</a:t>
            </a:r>
          </a:p>
        </p:txBody>
      </p:sp>
      <p:sp>
        <p:nvSpPr>
          <p:cNvPr id="17" name="">
            <a:extLst xmlns:a="http://schemas.openxmlformats.org/drawingml/2006/main">
              <a:ext uri="{FF2B5EF4-FFF2-40B4-BE49-F238E27FC236}">
                <a16:creationId xmlns:a16="http://schemas.microsoft.com/office/drawing/2014/main" id="{ADDAAA82-72B5-41F7-89DB-E7CBBB82ECDD}"/>
              </a:ext>
            </a:extLst>
          </p:cNvPr>
          <p:cNvSpPr>
            <a:spLocks xmlns:a="http://schemas.openxmlformats.org/drawingml/2006/main" noGrp="1"/>
          </p:cNvSpPr>
          <p:nvPr/>
        </p:nvSpPr>
        <p:spPr>
          <a:xfrm xmlns:a="http://schemas.openxmlformats.org/drawingml/2006/main">
            <a:off x="609600" y="6419850"/>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5D6D82"/>
                </a:solidFill>
                <a:latin typeface="Arial"/>
                <a:ea typeface="Arial"/>
                <a:cs typeface="Arial"/>
              </a:defRPr>
            </a:pPr>
            <a:r>
              <a:rPr sz="1200" b="0">
                <a:solidFill>
                  <a:srgbClr val="5D6D82"/>
                </a:solidFill>
                <a:latin typeface="Arial"/>
                <a:ea typeface="Arial"/>
                <a:cs typeface="Arial"/>
              </a:rPr>
              <a:t>Python e SQLite locais. Interface HTML/CSS/JavaScript. Base pronta para uso offline.</a:t>
            </a:r>
          </a:p>
        </p:txBody>
      </p:sp>
    </p:spTree>
    <p:extLst>
      <p:ext uri="{BB962C8B-B14F-4D97-AF65-F5344CB8AC3E}">
        <p14:creationId xmlns:p14="http://schemas.microsoft.com/office/powerpoint/2010/main" val="560476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BDCDB78D-3DE3-40D1-BC24-73C086580724}"/>
              </a:ext>
            </a:extLst>
          </p:cNvPr>
          <p:cNvSpPr>
            <a:spLocks xmlns:a="http://schemas.openxmlformats.org/drawingml/2006/main" noGrp="1"/>
          </p:cNvSpPr>
          <p:nvPr/>
        </p:nvSpPr>
        <p:spPr>
          <a:xfrm xmlns:a="http://schemas.openxmlformats.org/drawingml/2006/main">
            <a:off x="609600" y="209550"/>
            <a:ext cx="723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2563EB"/>
                </a:solidFill>
                <a:latin typeface="Arial"/>
                <a:ea typeface="Arial"/>
                <a:cs typeface="Arial"/>
              </a:defRPr>
            </a:pPr>
            <a:r>
              <a:rPr sz="1125" b="1">
                <a:solidFill>
                  <a:srgbClr val="2563EB"/>
                </a:solidFill>
                <a:latin typeface="Arial"/>
                <a:ea typeface="Arial"/>
                <a:cs typeface="Arial"/>
              </a:rPr>
              <a:t>PAGAMENTOS ES 2024</a:t>
            </a:r>
          </a:p>
        </p:txBody>
      </p:sp>
      <p:sp>
        <p:nvSpPr>
          <p:cNvPr id="2" name="">
            <a:extLst xmlns:a="http://schemas.openxmlformats.org/drawingml/2006/main">
              <a:ext uri="{FF2B5EF4-FFF2-40B4-BE49-F238E27FC236}">
                <a16:creationId xmlns:a16="http://schemas.microsoft.com/office/drawing/2014/main" id="{9D523D35-88B5-4F86-A408-E007F33DFC40}"/>
              </a:ext>
            </a:extLst>
          </p:cNvPr>
          <p:cNvSpPr>
            <a:spLocks xmlns:a="http://schemas.openxmlformats.org/drawingml/2006/main" noGrp="1"/>
          </p:cNvSpPr>
          <p:nvPr/>
        </p:nvSpPr>
        <p:spPr>
          <a:xfrm xmlns:a="http://schemas.openxmlformats.org/drawingml/2006/main">
            <a:off x="9001125" y="209550"/>
            <a:ext cx="257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2563EB"/>
                </a:solidFill>
                <a:latin typeface="Arial"/>
                <a:ea typeface="Arial"/>
                <a:cs typeface="Arial"/>
              </a:defRPr>
            </a:pPr>
            <a:r>
              <a:rPr sz="1125" b="1">
                <a:solidFill>
                  <a:srgbClr val="2563EB"/>
                </a:solidFill>
                <a:latin typeface="Arial"/>
                <a:ea typeface="Arial"/>
                <a:cs typeface="Arial"/>
              </a:rPr>
              <a:t>EQUIPE E PLANO</a:t>
            </a:r>
          </a:p>
        </p:txBody>
      </p:sp>
      <p:sp>
        <p:nvSpPr>
          <p:cNvPr id="3" name="">
            <a:extLst xmlns:a="http://schemas.openxmlformats.org/drawingml/2006/main">
              <a:ext uri="{FF2B5EF4-FFF2-40B4-BE49-F238E27FC236}">
                <a16:creationId xmlns:a16="http://schemas.microsoft.com/office/drawing/2014/main" id="{77461EBF-2C41-4142-AFFE-521137E5DC62}"/>
              </a:ext>
            </a:extLst>
          </p:cNvPr>
          <p:cNvSpPr>
            <a:spLocks xmlns:a="http://schemas.openxmlformats.org/drawingml/2006/main" noGrp="1"/>
          </p:cNvSpPr>
          <p:nvPr/>
        </p:nvSpPr>
        <p:spPr>
          <a:xfrm xmlns:a="http://schemas.openxmlformats.org/drawingml/2006/main">
            <a:off x="609600" y="5524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1">
                <a:solidFill>
                  <a:srgbClr val="14283F"/>
                </a:solidFill>
                <a:latin typeface="Arial"/>
                <a:ea typeface="Arial"/>
                <a:cs typeface="Arial"/>
              </a:defRPr>
            </a:pPr>
            <a:r>
              <a:rPr sz="3225" b="1">
                <a:solidFill>
                  <a:srgbClr val="14283F"/>
                </a:solidFill>
                <a:latin typeface="Arial"/>
                <a:ea typeface="Arial"/>
                <a:cs typeface="Arial"/>
              </a:rPr>
              <a:t>Equipe e cronograma de 16 semanas</a:t>
            </a:r>
          </a:p>
        </p:txBody>
      </p:sp>
      <p:sp>
        <p:nvSpPr>
          <p:cNvPr id="4" name="">
            <a:extLst xmlns:a="http://schemas.openxmlformats.org/drawingml/2006/main">
              <a:ext uri="{FF2B5EF4-FFF2-40B4-BE49-F238E27FC236}">
                <a16:creationId xmlns:a16="http://schemas.microsoft.com/office/drawing/2014/main" id="{B4742484-04F7-4CD2-8098-EF672080955A}"/>
              </a:ext>
            </a:extLst>
          </p:cNvPr>
          <p:cNvSpPr>
            <a:spLocks xmlns:a="http://schemas.openxmlformats.org/drawingml/2006/main" noGrp="1"/>
          </p:cNvSpPr>
          <p:nvPr/>
        </p:nvSpPr>
        <p:spPr>
          <a:xfrm xmlns:a="http://schemas.openxmlformats.org/drawingml/2006/main">
            <a:off x="609600" y="6315075"/>
            <a:ext cx="10972800" cy="0"/>
          </a:xfrm>
          <a:prstGeom xmlns:a="http://schemas.openxmlformats.org/drawingml/2006/main" prst="line">
            <a:avLst/>
          </a:prstGeom>
          <a:noFill xmlns:a="http://schemas.openxmlformats.org/drawingml/2006/main"/>
          <a:ln xmlns:a="http://schemas.openxmlformats.org/drawingml/2006/main" w="9525">
            <a:solidFill>
              <a:srgbClr val="DCE3EC"/>
            </a:solidFill>
          </a:ln>
        </p:spPr>
      </p:sp>
      <p:sp>
        <p:nvSpPr>
          <p:cNvPr id="5" name="">
            <a:extLst xmlns:a="http://schemas.openxmlformats.org/drawingml/2006/main">
              <a:ext uri="{FF2B5EF4-FFF2-40B4-BE49-F238E27FC236}">
                <a16:creationId xmlns:a16="http://schemas.microsoft.com/office/drawing/2014/main" id="{05700541-BB0C-4682-A4EC-1E7C26FE26E9}"/>
              </a:ext>
            </a:extLst>
          </p:cNvPr>
          <p:cNvSpPr>
            <a:spLocks xmlns:a="http://schemas.openxmlformats.org/drawingml/2006/main" noGrp="1"/>
          </p:cNvSpPr>
          <p:nvPr/>
        </p:nvSpPr>
        <p:spPr>
          <a:xfrm xmlns:a="http://schemas.openxmlformats.org/drawingml/2006/main">
            <a:off x="10801350" y="6419850"/>
            <a:ext cx="904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5D6D82"/>
                </a:solidFill>
                <a:latin typeface="Arial"/>
                <a:ea typeface="Arial"/>
                <a:cs typeface="Arial"/>
              </a:defRPr>
            </a:pPr>
            <a:r>
              <a:rPr sz="1200" b="0">
                <a:solidFill>
                  <a:srgbClr val="5D6D82"/>
                </a:solidFill>
                <a:latin typeface="Arial"/>
                <a:ea typeface="Arial"/>
                <a:cs typeface="Arial"/>
              </a:rPr>
              <a:t>06 / 08</a:t>
            </a:r>
          </a:p>
        </p:txBody>
      </p:sp>
      <p:sp>
        <p:nvSpPr>
          <p:cNvPr id="6" name="">
            <a:extLst xmlns:a="http://schemas.openxmlformats.org/drawingml/2006/main">
              <a:ext uri="{FF2B5EF4-FFF2-40B4-BE49-F238E27FC236}">
                <a16:creationId xmlns:a16="http://schemas.microsoft.com/office/drawing/2014/main" id="{CBE16CE9-3557-4DE0-83BA-20CFA15D8B7F}"/>
              </a:ext>
            </a:extLst>
          </p:cNvPr>
          <p:cNvSpPr>
            <a:spLocks xmlns:a="http://schemas.openxmlformats.org/drawingml/2006/main" noGrp="1"/>
          </p:cNvSpPr>
          <p:nvPr/>
        </p:nvSpPr>
        <p:spPr>
          <a:xfrm xmlns:a="http://schemas.openxmlformats.org/drawingml/2006/main">
            <a:off x="609600" y="1409700"/>
            <a:ext cx="2533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1">
                <a:solidFill>
                  <a:srgbClr val="14283F"/>
                </a:solidFill>
                <a:latin typeface="Arial"/>
                <a:ea typeface="Arial"/>
                <a:cs typeface="Arial"/>
              </a:defRPr>
            </a:pPr>
            <a:r>
              <a:rPr sz="2025" b="1">
                <a:solidFill>
                  <a:srgbClr val="14283F"/>
                </a:solidFill>
                <a:latin typeface="Arial"/>
                <a:ea typeface="Arial"/>
                <a:cs typeface="Arial"/>
              </a:rPr>
              <a:t>Luigi</a:t>
            </a:r>
          </a:p>
          <a:p xmlns:a="http://schemas.openxmlformats.org/drawingml/2006/main">
            <a:pPr>
              <a:defRPr sz="2025" b="1">
                <a:solidFill>
                  <a:srgbClr val="14283F"/>
                </a:solidFill>
                <a:latin typeface="Arial"/>
                <a:ea typeface="Arial"/>
                <a:cs typeface="Arial"/>
              </a:defRPr>
            </a:pPr>
            <a:r>
              <a:rPr sz="2025" b="1">
                <a:solidFill>
                  <a:srgbClr val="14283F"/>
                </a:solidFill>
                <a:latin typeface="Arial"/>
                <a:ea typeface="Arial"/>
                <a:cs typeface="Arial"/>
              </a:rPr>
              <a:t>Cabrini</a:t>
            </a:r>
          </a:p>
        </p:txBody>
      </p:sp>
      <p:sp>
        <p:nvSpPr>
          <p:cNvPr id="7" name="">
            <a:extLst xmlns:a="http://schemas.openxmlformats.org/drawingml/2006/main">
              <a:ext uri="{FF2B5EF4-FFF2-40B4-BE49-F238E27FC236}">
                <a16:creationId xmlns:a16="http://schemas.microsoft.com/office/drawing/2014/main" id="{B53E242F-17AF-45FA-B204-9F24BCDCEAB8}"/>
              </a:ext>
            </a:extLst>
          </p:cNvPr>
          <p:cNvSpPr>
            <a:spLocks xmlns:a="http://schemas.openxmlformats.org/drawingml/2006/main" noGrp="1"/>
          </p:cNvSpPr>
          <p:nvPr/>
        </p:nvSpPr>
        <p:spPr>
          <a:xfrm xmlns:a="http://schemas.openxmlformats.org/drawingml/2006/main">
            <a:off x="609600" y="21050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0">
                <a:solidFill>
                  <a:srgbClr val="2563EB"/>
                </a:solidFill>
                <a:latin typeface="Arial"/>
                <a:ea typeface="Arial"/>
                <a:cs typeface="Arial"/>
              </a:defRPr>
            </a:pPr>
            <a:r>
              <a:rPr sz="1650" b="0">
                <a:solidFill>
                  <a:srgbClr val="2563EB"/>
                </a:solidFill>
                <a:latin typeface="Arial"/>
                <a:ea typeface="Arial"/>
                <a:cs typeface="Arial"/>
              </a:rPr>
              <a:t>Produto e gestão</a:t>
            </a:r>
          </a:p>
        </p:txBody>
      </p:sp>
      <p:sp>
        <p:nvSpPr>
          <p:cNvPr id="8" name="">
            <a:extLst xmlns:a="http://schemas.openxmlformats.org/drawingml/2006/main">
              <a:ext uri="{FF2B5EF4-FFF2-40B4-BE49-F238E27FC236}">
                <a16:creationId xmlns:a16="http://schemas.microsoft.com/office/drawing/2014/main" id="{7BBF20B6-DD86-417C-BE38-EF351478F9F0}"/>
              </a:ext>
            </a:extLst>
          </p:cNvPr>
          <p:cNvSpPr>
            <a:spLocks xmlns:a="http://schemas.openxmlformats.org/drawingml/2006/main" noGrp="1"/>
          </p:cNvSpPr>
          <p:nvPr/>
        </p:nvSpPr>
        <p:spPr>
          <a:xfrm xmlns:a="http://schemas.openxmlformats.org/drawingml/2006/main">
            <a:off x="609600" y="2505075"/>
            <a:ext cx="2628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0">
                <a:solidFill>
                  <a:srgbClr val="5D6D82"/>
                </a:solidFill>
                <a:latin typeface="Arial"/>
                <a:ea typeface="Arial"/>
                <a:cs typeface="Arial"/>
              </a:defRPr>
            </a:pPr>
            <a:r>
              <a:rPr sz="1650" b="0">
                <a:solidFill>
                  <a:srgbClr val="5D6D82"/>
                </a:solidFill>
                <a:latin typeface="Arial"/>
                <a:ea typeface="Arial"/>
                <a:cs typeface="Arial"/>
              </a:rPr>
              <a:t>160 h · 10 h/semana</a:t>
            </a:r>
          </a:p>
        </p:txBody>
      </p:sp>
      <p:sp>
        <p:nvSpPr>
          <p:cNvPr id="9" name="">
            <a:extLst xmlns:a="http://schemas.openxmlformats.org/drawingml/2006/main">
              <a:ext uri="{FF2B5EF4-FFF2-40B4-BE49-F238E27FC236}">
                <a16:creationId xmlns:a16="http://schemas.microsoft.com/office/drawing/2014/main" id="{411B30FB-3007-4A64-8159-2B02AC97E53D}"/>
              </a:ext>
            </a:extLst>
          </p:cNvPr>
          <p:cNvSpPr>
            <a:spLocks xmlns:a="http://schemas.openxmlformats.org/drawingml/2006/main" noGrp="1"/>
          </p:cNvSpPr>
          <p:nvPr/>
        </p:nvSpPr>
        <p:spPr>
          <a:xfrm xmlns:a="http://schemas.openxmlformats.org/drawingml/2006/main">
            <a:off x="3429000" y="1409700"/>
            <a:ext cx="2533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1">
                <a:solidFill>
                  <a:srgbClr val="14283F"/>
                </a:solidFill>
                <a:latin typeface="Arial"/>
                <a:ea typeface="Arial"/>
                <a:cs typeface="Arial"/>
              </a:defRPr>
            </a:pPr>
            <a:r>
              <a:rPr sz="2025" b="1">
                <a:solidFill>
                  <a:srgbClr val="14283F"/>
                </a:solidFill>
                <a:latin typeface="Arial"/>
                <a:ea typeface="Arial"/>
                <a:cs typeface="Arial"/>
              </a:rPr>
              <a:t>Bruno</a:t>
            </a:r>
          </a:p>
          <a:p xmlns:a="http://schemas.openxmlformats.org/drawingml/2006/main">
            <a:pPr>
              <a:defRPr sz="2025" b="1">
                <a:solidFill>
                  <a:srgbClr val="14283F"/>
                </a:solidFill>
                <a:latin typeface="Arial"/>
                <a:ea typeface="Arial"/>
                <a:cs typeface="Arial"/>
              </a:defRPr>
            </a:pPr>
            <a:r>
              <a:rPr sz="2025" b="1">
                <a:solidFill>
                  <a:srgbClr val="14283F"/>
                </a:solidFill>
                <a:latin typeface="Arial"/>
                <a:ea typeface="Arial"/>
                <a:cs typeface="Arial"/>
              </a:rPr>
              <a:t>Koeke</a:t>
            </a:r>
          </a:p>
        </p:txBody>
      </p:sp>
      <p:sp>
        <p:nvSpPr>
          <p:cNvPr id="10" name="">
            <a:extLst xmlns:a="http://schemas.openxmlformats.org/drawingml/2006/main">
              <a:ext uri="{FF2B5EF4-FFF2-40B4-BE49-F238E27FC236}">
                <a16:creationId xmlns:a16="http://schemas.microsoft.com/office/drawing/2014/main" id="{1D9F71F7-3987-4CEC-8502-4ACB894FF0BB}"/>
              </a:ext>
            </a:extLst>
          </p:cNvPr>
          <p:cNvSpPr>
            <a:spLocks xmlns:a="http://schemas.openxmlformats.org/drawingml/2006/main" noGrp="1"/>
          </p:cNvSpPr>
          <p:nvPr/>
        </p:nvSpPr>
        <p:spPr>
          <a:xfrm xmlns:a="http://schemas.openxmlformats.org/drawingml/2006/main">
            <a:off x="3429000" y="21050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0">
                <a:solidFill>
                  <a:srgbClr val="2563EB"/>
                </a:solidFill>
                <a:latin typeface="Arial"/>
                <a:ea typeface="Arial"/>
                <a:cs typeface="Arial"/>
              </a:defRPr>
            </a:pPr>
            <a:r>
              <a:rPr sz="1650" b="0">
                <a:solidFill>
                  <a:srgbClr val="2563EB"/>
                </a:solidFill>
                <a:latin typeface="Arial"/>
                <a:ea typeface="Arial"/>
                <a:cs typeface="Arial"/>
              </a:rPr>
              <a:t>Dados e análise</a:t>
            </a:r>
          </a:p>
        </p:txBody>
      </p:sp>
      <p:sp>
        <p:nvSpPr>
          <p:cNvPr id="11" name="">
            <a:extLst xmlns:a="http://schemas.openxmlformats.org/drawingml/2006/main">
              <a:ext uri="{FF2B5EF4-FFF2-40B4-BE49-F238E27FC236}">
                <a16:creationId xmlns:a16="http://schemas.microsoft.com/office/drawing/2014/main" id="{A3D30239-02C9-49A8-B1FC-9FE6D1106D12}"/>
              </a:ext>
            </a:extLst>
          </p:cNvPr>
          <p:cNvSpPr>
            <a:spLocks xmlns:a="http://schemas.openxmlformats.org/drawingml/2006/main" noGrp="1"/>
          </p:cNvSpPr>
          <p:nvPr/>
        </p:nvSpPr>
        <p:spPr>
          <a:xfrm xmlns:a="http://schemas.openxmlformats.org/drawingml/2006/main">
            <a:off x="3429000" y="2505075"/>
            <a:ext cx="2628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0">
                <a:solidFill>
                  <a:srgbClr val="5D6D82"/>
                </a:solidFill>
                <a:latin typeface="Arial"/>
                <a:ea typeface="Arial"/>
                <a:cs typeface="Arial"/>
              </a:defRPr>
            </a:pPr>
            <a:r>
              <a:rPr sz="1650" b="0">
                <a:solidFill>
                  <a:srgbClr val="5D6D82"/>
                </a:solidFill>
                <a:latin typeface="Arial"/>
                <a:ea typeface="Arial"/>
                <a:cs typeface="Arial"/>
              </a:rPr>
              <a:t>240 h · 15 h/semana</a:t>
            </a:r>
          </a:p>
        </p:txBody>
      </p:sp>
      <p:sp>
        <p:nvSpPr>
          <p:cNvPr id="12" name="">
            <a:extLst xmlns:a="http://schemas.openxmlformats.org/drawingml/2006/main">
              <a:ext uri="{FF2B5EF4-FFF2-40B4-BE49-F238E27FC236}">
                <a16:creationId xmlns:a16="http://schemas.microsoft.com/office/drawing/2014/main" id="{94E0CDB4-7ADF-419B-A648-313BDD21A910}"/>
              </a:ext>
            </a:extLst>
          </p:cNvPr>
          <p:cNvSpPr>
            <a:spLocks xmlns:a="http://schemas.openxmlformats.org/drawingml/2006/main" noGrp="1"/>
          </p:cNvSpPr>
          <p:nvPr/>
        </p:nvSpPr>
        <p:spPr>
          <a:xfrm xmlns:a="http://schemas.openxmlformats.org/drawingml/2006/main">
            <a:off x="6248400" y="1409700"/>
            <a:ext cx="2533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1">
                <a:solidFill>
                  <a:srgbClr val="14283F"/>
                </a:solidFill>
                <a:latin typeface="Arial"/>
                <a:ea typeface="Arial"/>
                <a:cs typeface="Arial"/>
              </a:defRPr>
            </a:pPr>
            <a:r>
              <a:rPr sz="2025" b="1">
                <a:solidFill>
                  <a:srgbClr val="14283F"/>
                </a:solidFill>
                <a:latin typeface="Arial"/>
                <a:ea typeface="Arial"/>
                <a:cs typeface="Arial"/>
              </a:rPr>
              <a:t>Rogério</a:t>
            </a:r>
          </a:p>
          <a:p xmlns:a="http://schemas.openxmlformats.org/drawingml/2006/main">
            <a:pPr>
              <a:defRPr sz="2025" b="1">
                <a:solidFill>
                  <a:srgbClr val="14283F"/>
                </a:solidFill>
                <a:latin typeface="Arial"/>
                <a:ea typeface="Arial"/>
                <a:cs typeface="Arial"/>
              </a:defRPr>
            </a:pPr>
            <a:r>
              <a:rPr sz="2025" b="1">
                <a:solidFill>
                  <a:srgbClr val="14283F"/>
                </a:solidFill>
                <a:latin typeface="Arial"/>
                <a:ea typeface="Arial"/>
                <a:cs typeface="Arial"/>
              </a:rPr>
              <a:t>Arroyo</a:t>
            </a:r>
          </a:p>
        </p:txBody>
      </p:sp>
      <p:sp>
        <p:nvSpPr>
          <p:cNvPr id="13" name="">
            <a:extLst xmlns:a="http://schemas.openxmlformats.org/drawingml/2006/main">
              <a:ext uri="{FF2B5EF4-FFF2-40B4-BE49-F238E27FC236}">
                <a16:creationId xmlns:a16="http://schemas.microsoft.com/office/drawing/2014/main" id="{01977972-5566-4E52-ABB3-5264F8267A5D}"/>
              </a:ext>
            </a:extLst>
          </p:cNvPr>
          <p:cNvSpPr>
            <a:spLocks xmlns:a="http://schemas.openxmlformats.org/drawingml/2006/main" noGrp="1"/>
          </p:cNvSpPr>
          <p:nvPr/>
        </p:nvSpPr>
        <p:spPr>
          <a:xfrm xmlns:a="http://schemas.openxmlformats.org/drawingml/2006/main">
            <a:off x="6248400" y="21050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0">
                <a:solidFill>
                  <a:srgbClr val="2563EB"/>
                </a:solidFill>
                <a:latin typeface="Arial"/>
                <a:ea typeface="Arial"/>
                <a:cs typeface="Arial"/>
              </a:defRPr>
            </a:pPr>
            <a:r>
              <a:rPr sz="1650" b="0">
                <a:solidFill>
                  <a:srgbClr val="2563EB"/>
                </a:solidFill>
                <a:latin typeface="Arial"/>
                <a:ea typeface="Arial"/>
                <a:cs typeface="Arial"/>
              </a:rPr>
              <a:t>Desenvolvimento</a:t>
            </a:r>
          </a:p>
        </p:txBody>
      </p:sp>
      <p:sp>
        <p:nvSpPr>
          <p:cNvPr id="14" name="">
            <a:extLst xmlns:a="http://schemas.openxmlformats.org/drawingml/2006/main">
              <a:ext uri="{FF2B5EF4-FFF2-40B4-BE49-F238E27FC236}">
                <a16:creationId xmlns:a16="http://schemas.microsoft.com/office/drawing/2014/main" id="{74A8BB70-35BD-4F7F-899A-170137530BC2}"/>
              </a:ext>
            </a:extLst>
          </p:cNvPr>
          <p:cNvSpPr>
            <a:spLocks xmlns:a="http://schemas.openxmlformats.org/drawingml/2006/main" noGrp="1"/>
          </p:cNvSpPr>
          <p:nvPr/>
        </p:nvSpPr>
        <p:spPr>
          <a:xfrm xmlns:a="http://schemas.openxmlformats.org/drawingml/2006/main">
            <a:off x="6248400" y="2505075"/>
            <a:ext cx="2628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0">
                <a:solidFill>
                  <a:srgbClr val="5D6D82"/>
                </a:solidFill>
                <a:latin typeface="Arial"/>
                <a:ea typeface="Arial"/>
                <a:cs typeface="Arial"/>
              </a:defRPr>
            </a:pPr>
            <a:r>
              <a:rPr sz="1650" b="0">
                <a:solidFill>
                  <a:srgbClr val="5D6D82"/>
                </a:solidFill>
                <a:latin typeface="Arial"/>
                <a:ea typeface="Arial"/>
                <a:cs typeface="Arial"/>
              </a:rPr>
              <a:t>320 h · 20 h/semana</a:t>
            </a:r>
          </a:p>
        </p:txBody>
      </p:sp>
      <p:sp>
        <p:nvSpPr>
          <p:cNvPr id="15" name="">
            <a:extLst xmlns:a="http://schemas.openxmlformats.org/drawingml/2006/main">
              <a:ext uri="{FF2B5EF4-FFF2-40B4-BE49-F238E27FC236}">
                <a16:creationId xmlns:a16="http://schemas.microsoft.com/office/drawing/2014/main" id="{5AD79A7D-0C27-4BC3-B25B-34B461534612}"/>
              </a:ext>
            </a:extLst>
          </p:cNvPr>
          <p:cNvSpPr>
            <a:spLocks xmlns:a="http://schemas.openxmlformats.org/drawingml/2006/main" noGrp="1"/>
          </p:cNvSpPr>
          <p:nvPr/>
        </p:nvSpPr>
        <p:spPr>
          <a:xfrm xmlns:a="http://schemas.openxmlformats.org/drawingml/2006/main">
            <a:off x="9067800" y="1409700"/>
            <a:ext cx="2533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1">
                <a:solidFill>
                  <a:srgbClr val="14283F"/>
                </a:solidFill>
                <a:latin typeface="Arial"/>
                <a:ea typeface="Arial"/>
                <a:cs typeface="Arial"/>
              </a:defRPr>
            </a:pPr>
            <a:r>
              <a:rPr sz="2025" b="1">
                <a:solidFill>
                  <a:srgbClr val="14283F"/>
                </a:solidFill>
                <a:latin typeface="Arial"/>
                <a:ea typeface="Arial"/>
                <a:cs typeface="Arial"/>
              </a:rPr>
              <a:t>Anthony</a:t>
            </a:r>
          </a:p>
          <a:p xmlns:a="http://schemas.openxmlformats.org/drawingml/2006/main">
            <a:pPr>
              <a:defRPr sz="2025" b="1">
                <a:solidFill>
                  <a:srgbClr val="14283F"/>
                </a:solidFill>
                <a:latin typeface="Arial"/>
                <a:ea typeface="Arial"/>
                <a:cs typeface="Arial"/>
              </a:defRPr>
            </a:pPr>
            <a:r>
              <a:rPr sz="2025" b="1">
                <a:solidFill>
                  <a:srgbClr val="14283F"/>
                </a:solidFill>
                <a:latin typeface="Arial"/>
                <a:ea typeface="Arial"/>
                <a:cs typeface="Arial"/>
              </a:rPr>
              <a:t>Sforzin</a:t>
            </a:r>
          </a:p>
        </p:txBody>
      </p:sp>
      <p:sp>
        <p:nvSpPr>
          <p:cNvPr id="16" name="">
            <a:extLst xmlns:a="http://schemas.openxmlformats.org/drawingml/2006/main">
              <a:ext uri="{FF2B5EF4-FFF2-40B4-BE49-F238E27FC236}">
                <a16:creationId xmlns:a16="http://schemas.microsoft.com/office/drawing/2014/main" id="{21957C7A-0B70-4586-97C7-B5520A98CD47}"/>
              </a:ext>
            </a:extLst>
          </p:cNvPr>
          <p:cNvSpPr>
            <a:spLocks xmlns:a="http://schemas.openxmlformats.org/drawingml/2006/main" noGrp="1"/>
          </p:cNvSpPr>
          <p:nvPr/>
        </p:nvSpPr>
        <p:spPr>
          <a:xfrm xmlns:a="http://schemas.openxmlformats.org/drawingml/2006/main">
            <a:off x="9067800" y="21050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0">
                <a:solidFill>
                  <a:srgbClr val="2563EB"/>
                </a:solidFill>
                <a:latin typeface="Arial"/>
                <a:ea typeface="Arial"/>
                <a:cs typeface="Arial"/>
              </a:defRPr>
            </a:pPr>
            <a:r>
              <a:rPr sz="1650" b="0">
                <a:solidFill>
                  <a:srgbClr val="2563EB"/>
                </a:solidFill>
                <a:latin typeface="Arial"/>
                <a:ea typeface="Arial"/>
                <a:cs typeface="Arial"/>
              </a:rPr>
              <a:t>Testes e documentação</a:t>
            </a:r>
          </a:p>
        </p:txBody>
      </p:sp>
      <p:sp>
        <p:nvSpPr>
          <p:cNvPr id="17" name="">
            <a:extLst xmlns:a="http://schemas.openxmlformats.org/drawingml/2006/main">
              <a:ext uri="{FF2B5EF4-FFF2-40B4-BE49-F238E27FC236}">
                <a16:creationId xmlns:a16="http://schemas.microsoft.com/office/drawing/2014/main" id="{244F86F8-E42B-4770-9A74-0FF40D12368C}"/>
              </a:ext>
            </a:extLst>
          </p:cNvPr>
          <p:cNvSpPr>
            <a:spLocks xmlns:a="http://schemas.openxmlformats.org/drawingml/2006/main" noGrp="1"/>
          </p:cNvSpPr>
          <p:nvPr/>
        </p:nvSpPr>
        <p:spPr>
          <a:xfrm xmlns:a="http://schemas.openxmlformats.org/drawingml/2006/main">
            <a:off x="9067800" y="2505075"/>
            <a:ext cx="2628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0">
                <a:solidFill>
                  <a:srgbClr val="5D6D82"/>
                </a:solidFill>
                <a:latin typeface="Arial"/>
                <a:ea typeface="Arial"/>
                <a:cs typeface="Arial"/>
              </a:defRPr>
            </a:pPr>
            <a:r>
              <a:rPr sz="1650" b="0">
                <a:solidFill>
                  <a:srgbClr val="5D6D82"/>
                </a:solidFill>
                <a:latin typeface="Arial"/>
                <a:ea typeface="Arial"/>
                <a:cs typeface="Arial"/>
              </a:rPr>
              <a:t>160 h · 10 h/semana</a:t>
            </a:r>
          </a:p>
        </p:txBody>
      </p:sp>
      <p:sp>
        <p:nvSpPr>
          <p:cNvPr id="18" name="">
            <a:extLst xmlns:a="http://schemas.openxmlformats.org/drawingml/2006/main">
              <a:ext uri="{FF2B5EF4-FFF2-40B4-BE49-F238E27FC236}">
                <a16:creationId xmlns:a16="http://schemas.microsoft.com/office/drawing/2014/main" id="{743E4495-EC57-497B-8561-4BC7074300F6}"/>
              </a:ext>
            </a:extLst>
          </p:cNvPr>
          <p:cNvSpPr>
            <a:spLocks xmlns:a="http://schemas.openxmlformats.org/drawingml/2006/main" noGrp="1"/>
          </p:cNvSpPr>
          <p:nvPr/>
        </p:nvSpPr>
        <p:spPr>
          <a:xfrm xmlns:a="http://schemas.openxmlformats.org/drawingml/2006/main">
            <a:off x="609600" y="2876550"/>
            <a:ext cx="10972800" cy="0"/>
          </a:xfrm>
          <a:prstGeom xmlns:a="http://schemas.openxmlformats.org/drawingml/2006/main" prst="line">
            <a:avLst/>
          </a:prstGeom>
          <a:noFill xmlns:a="http://schemas.openxmlformats.org/drawingml/2006/main"/>
          <a:ln xmlns:a="http://schemas.openxmlformats.org/drawingml/2006/main" w="9525">
            <a:solidFill>
              <a:srgbClr val="DCE3EC"/>
            </a:solidFill>
          </a:ln>
        </p:spPr>
      </p:sp>
      <p:sp>
        <p:nvSpPr>
          <p:cNvPr id="19" name="">
            <a:extLst xmlns:a="http://schemas.openxmlformats.org/drawingml/2006/main">
              <a:ext uri="{FF2B5EF4-FFF2-40B4-BE49-F238E27FC236}">
                <a16:creationId xmlns:a16="http://schemas.microsoft.com/office/drawing/2014/main" id="{BEDA654B-8649-4D75-B5A7-838FDF931934}"/>
              </a:ext>
            </a:extLst>
          </p:cNvPr>
          <p:cNvSpPr>
            <a:spLocks xmlns:a="http://schemas.openxmlformats.org/drawingml/2006/main" noGrp="1"/>
          </p:cNvSpPr>
          <p:nvPr/>
        </p:nvSpPr>
        <p:spPr>
          <a:xfrm xmlns:a="http://schemas.openxmlformats.org/drawingml/2006/main">
            <a:off x="609600" y="3257550"/>
            <a:ext cx="3524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2563EB"/>
                </a:solidFill>
                <a:latin typeface="Arial"/>
                <a:ea typeface="Arial"/>
                <a:cs typeface="Arial"/>
              </a:defRPr>
            </a:pPr>
            <a:r>
              <a:rPr sz="1500" b="1">
                <a:solidFill>
                  <a:srgbClr val="2563EB"/>
                </a:solidFill>
                <a:latin typeface="Arial"/>
                <a:ea typeface="Arial"/>
                <a:cs typeface="Arial"/>
              </a:rPr>
              <a:t>SEMANAS 01–02</a:t>
            </a:r>
          </a:p>
        </p:txBody>
      </p:sp>
      <p:sp>
        <p:nvSpPr>
          <p:cNvPr id="20" name="">
            <a:extLst xmlns:a="http://schemas.openxmlformats.org/drawingml/2006/main">
              <a:ext uri="{FF2B5EF4-FFF2-40B4-BE49-F238E27FC236}">
                <a16:creationId xmlns:a16="http://schemas.microsoft.com/office/drawing/2014/main" id="{6D3ED58F-E58B-4966-A53B-9D79FA61AB12}"/>
              </a:ext>
            </a:extLst>
          </p:cNvPr>
          <p:cNvSpPr>
            <a:spLocks xmlns:a="http://schemas.openxmlformats.org/drawingml/2006/main" noGrp="1"/>
          </p:cNvSpPr>
          <p:nvPr/>
        </p:nvSpPr>
        <p:spPr>
          <a:xfrm xmlns:a="http://schemas.openxmlformats.org/drawingml/2006/main">
            <a:off x="609600" y="3629025"/>
            <a:ext cx="352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1">
                <a:solidFill>
                  <a:srgbClr val="14283F"/>
                </a:solidFill>
                <a:latin typeface="Arial"/>
                <a:ea typeface="Arial"/>
                <a:cs typeface="Arial"/>
              </a:defRPr>
            </a:pPr>
            <a:r>
              <a:rPr sz="2025" b="1">
                <a:solidFill>
                  <a:srgbClr val="14283F"/>
                </a:solidFill>
                <a:latin typeface="Arial"/>
                <a:ea typeface="Arial"/>
                <a:cs typeface="Arial"/>
              </a:rPr>
              <a:t>Validação com usuários</a:t>
            </a:r>
          </a:p>
        </p:txBody>
      </p:sp>
      <p:sp>
        <p:nvSpPr>
          <p:cNvPr id="21" name="">
            <a:extLst xmlns:a="http://schemas.openxmlformats.org/drawingml/2006/main">
              <a:ext uri="{FF2B5EF4-FFF2-40B4-BE49-F238E27FC236}">
                <a16:creationId xmlns:a16="http://schemas.microsoft.com/office/drawing/2014/main" id="{68F72B1B-F4E1-4BD0-8AEE-251ED7611A3B}"/>
              </a:ext>
            </a:extLst>
          </p:cNvPr>
          <p:cNvSpPr>
            <a:spLocks xmlns:a="http://schemas.openxmlformats.org/drawingml/2006/main" noGrp="1"/>
          </p:cNvSpPr>
          <p:nvPr/>
        </p:nvSpPr>
        <p:spPr>
          <a:xfrm xmlns:a="http://schemas.openxmlformats.org/drawingml/2006/main">
            <a:off x="609600" y="4057650"/>
            <a:ext cx="3524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0">
                <a:solidFill>
                  <a:srgbClr val="5D6D82"/>
                </a:solidFill>
                <a:latin typeface="Arial"/>
                <a:ea typeface="Arial"/>
                <a:cs typeface="Arial"/>
              </a:defRPr>
            </a:pPr>
            <a:r>
              <a:rPr sz="1650" b="0">
                <a:solidFill>
                  <a:srgbClr val="5D6D82"/>
                </a:solidFill>
                <a:latin typeface="Arial"/>
                <a:ea typeface="Arial"/>
                <a:cs typeface="Arial"/>
              </a:rPr>
              <a:t>Perguntas e indicadores</a:t>
            </a:r>
          </a:p>
        </p:txBody>
      </p:sp>
      <p:sp>
        <p:nvSpPr>
          <p:cNvPr id="22" name="">
            <a:extLst xmlns:a="http://schemas.openxmlformats.org/drawingml/2006/main">
              <a:ext uri="{FF2B5EF4-FFF2-40B4-BE49-F238E27FC236}">
                <a16:creationId xmlns:a16="http://schemas.microsoft.com/office/drawing/2014/main" id="{E910E4E5-DC6A-4DFF-AF98-C4863ECB1D80}"/>
              </a:ext>
            </a:extLst>
          </p:cNvPr>
          <p:cNvSpPr>
            <a:spLocks xmlns:a="http://schemas.openxmlformats.org/drawingml/2006/main" noGrp="1"/>
          </p:cNvSpPr>
          <p:nvPr/>
        </p:nvSpPr>
        <p:spPr>
          <a:xfrm xmlns:a="http://schemas.openxmlformats.org/drawingml/2006/main">
            <a:off x="4381500" y="3257550"/>
            <a:ext cx="3524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2563EB"/>
                </a:solidFill>
                <a:latin typeface="Arial"/>
                <a:ea typeface="Arial"/>
                <a:cs typeface="Arial"/>
              </a:defRPr>
            </a:pPr>
            <a:r>
              <a:rPr sz="1500" b="1">
                <a:solidFill>
                  <a:srgbClr val="2563EB"/>
                </a:solidFill>
                <a:latin typeface="Arial"/>
                <a:ea typeface="Arial"/>
                <a:cs typeface="Arial"/>
              </a:rPr>
              <a:t>SEMANAS 03–04</a:t>
            </a:r>
          </a:p>
        </p:txBody>
      </p:sp>
      <p:sp>
        <p:nvSpPr>
          <p:cNvPr id="23" name="">
            <a:extLst xmlns:a="http://schemas.openxmlformats.org/drawingml/2006/main">
              <a:ext uri="{FF2B5EF4-FFF2-40B4-BE49-F238E27FC236}">
                <a16:creationId xmlns:a16="http://schemas.microsoft.com/office/drawing/2014/main" id="{9A631240-B03F-4DF7-BE9B-4A8D5F8AB0B8}"/>
              </a:ext>
            </a:extLst>
          </p:cNvPr>
          <p:cNvSpPr>
            <a:spLocks xmlns:a="http://schemas.openxmlformats.org/drawingml/2006/main" noGrp="1"/>
          </p:cNvSpPr>
          <p:nvPr/>
        </p:nvSpPr>
        <p:spPr>
          <a:xfrm xmlns:a="http://schemas.openxmlformats.org/drawingml/2006/main">
            <a:off x="4381500" y="3629025"/>
            <a:ext cx="352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1">
                <a:solidFill>
                  <a:srgbClr val="14283F"/>
                </a:solidFill>
                <a:latin typeface="Arial"/>
                <a:ea typeface="Arial"/>
                <a:cs typeface="Arial"/>
              </a:defRPr>
            </a:pPr>
            <a:r>
              <a:rPr sz="2025" b="1">
                <a:solidFill>
                  <a:srgbClr val="14283F"/>
                </a:solidFill>
                <a:latin typeface="Arial"/>
                <a:ea typeface="Arial"/>
                <a:cs typeface="Arial"/>
              </a:rPr>
              <a:t>Auditoria ampliada</a:t>
            </a:r>
          </a:p>
        </p:txBody>
      </p:sp>
      <p:sp>
        <p:nvSpPr>
          <p:cNvPr id="24" name="">
            <a:extLst xmlns:a="http://schemas.openxmlformats.org/drawingml/2006/main">
              <a:ext uri="{FF2B5EF4-FFF2-40B4-BE49-F238E27FC236}">
                <a16:creationId xmlns:a16="http://schemas.microsoft.com/office/drawing/2014/main" id="{C2A3D074-BBF7-46C3-9179-7BA12B358FF5}"/>
              </a:ext>
            </a:extLst>
          </p:cNvPr>
          <p:cNvSpPr>
            <a:spLocks xmlns:a="http://schemas.openxmlformats.org/drawingml/2006/main" noGrp="1"/>
          </p:cNvSpPr>
          <p:nvPr/>
        </p:nvSpPr>
        <p:spPr>
          <a:xfrm xmlns:a="http://schemas.openxmlformats.org/drawingml/2006/main">
            <a:off x="4381500" y="4057650"/>
            <a:ext cx="3524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0">
                <a:solidFill>
                  <a:srgbClr val="5D6D82"/>
                </a:solidFill>
                <a:latin typeface="Arial"/>
                <a:ea typeface="Arial"/>
                <a:cs typeface="Arial"/>
              </a:defRPr>
            </a:pPr>
            <a:r>
              <a:rPr sz="1650" b="0">
                <a:solidFill>
                  <a:srgbClr val="5D6D82"/>
                </a:solidFill>
                <a:latin typeface="Arial"/>
                <a:ea typeface="Arial"/>
                <a:cs typeface="Arial"/>
              </a:rPr>
              <a:t>Totais e carga repetível</a:t>
            </a:r>
          </a:p>
        </p:txBody>
      </p:sp>
      <p:sp>
        <p:nvSpPr>
          <p:cNvPr id="25" name="">
            <a:extLst xmlns:a="http://schemas.openxmlformats.org/drawingml/2006/main">
              <a:ext uri="{FF2B5EF4-FFF2-40B4-BE49-F238E27FC236}">
                <a16:creationId xmlns:a16="http://schemas.microsoft.com/office/drawing/2014/main" id="{CCAA94EA-1560-4447-9D87-8719277BCDD2}"/>
              </a:ext>
            </a:extLst>
          </p:cNvPr>
          <p:cNvSpPr>
            <a:spLocks xmlns:a="http://schemas.openxmlformats.org/drawingml/2006/main" noGrp="1"/>
          </p:cNvSpPr>
          <p:nvPr/>
        </p:nvSpPr>
        <p:spPr>
          <a:xfrm xmlns:a="http://schemas.openxmlformats.org/drawingml/2006/main">
            <a:off x="8153400" y="3257550"/>
            <a:ext cx="3524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2563EB"/>
                </a:solidFill>
                <a:latin typeface="Arial"/>
                <a:ea typeface="Arial"/>
                <a:cs typeface="Arial"/>
              </a:defRPr>
            </a:pPr>
            <a:r>
              <a:rPr sz="1500" b="1">
                <a:solidFill>
                  <a:srgbClr val="2563EB"/>
                </a:solidFill>
                <a:latin typeface="Arial"/>
                <a:ea typeface="Arial"/>
                <a:cs typeface="Arial"/>
              </a:rPr>
              <a:t>SEMANAS 05–08</a:t>
            </a:r>
          </a:p>
        </p:txBody>
      </p:sp>
      <p:sp>
        <p:nvSpPr>
          <p:cNvPr id="26" name="">
            <a:extLst xmlns:a="http://schemas.openxmlformats.org/drawingml/2006/main">
              <a:ext uri="{FF2B5EF4-FFF2-40B4-BE49-F238E27FC236}">
                <a16:creationId xmlns:a16="http://schemas.microsoft.com/office/drawing/2014/main" id="{D4AD561F-0783-407A-84F9-E2CC71CE23FB}"/>
              </a:ext>
            </a:extLst>
          </p:cNvPr>
          <p:cNvSpPr>
            <a:spLocks xmlns:a="http://schemas.openxmlformats.org/drawingml/2006/main" noGrp="1"/>
          </p:cNvSpPr>
          <p:nvPr/>
        </p:nvSpPr>
        <p:spPr>
          <a:xfrm xmlns:a="http://schemas.openxmlformats.org/drawingml/2006/main">
            <a:off x="8153400" y="3629025"/>
            <a:ext cx="352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1">
                <a:solidFill>
                  <a:srgbClr val="14283F"/>
                </a:solidFill>
                <a:latin typeface="Arial"/>
                <a:ea typeface="Arial"/>
                <a:cs typeface="Arial"/>
              </a:defRPr>
            </a:pPr>
            <a:r>
              <a:rPr sz="2025" b="1">
                <a:solidFill>
                  <a:srgbClr val="14283F"/>
                </a:solidFill>
                <a:latin typeface="Arial"/>
                <a:ea typeface="Arial"/>
                <a:cs typeface="Arial"/>
              </a:rPr>
              <a:t>Usabilidade</a:t>
            </a:r>
          </a:p>
        </p:txBody>
      </p:sp>
      <p:sp>
        <p:nvSpPr>
          <p:cNvPr id="27" name="">
            <a:extLst xmlns:a="http://schemas.openxmlformats.org/drawingml/2006/main">
              <a:ext uri="{FF2B5EF4-FFF2-40B4-BE49-F238E27FC236}">
                <a16:creationId xmlns:a16="http://schemas.microsoft.com/office/drawing/2014/main" id="{ED098280-97FE-4A5A-8AEC-74C362545495}"/>
              </a:ext>
            </a:extLst>
          </p:cNvPr>
          <p:cNvSpPr>
            <a:spLocks xmlns:a="http://schemas.openxmlformats.org/drawingml/2006/main" noGrp="1"/>
          </p:cNvSpPr>
          <p:nvPr/>
        </p:nvSpPr>
        <p:spPr>
          <a:xfrm xmlns:a="http://schemas.openxmlformats.org/drawingml/2006/main">
            <a:off x="8153400" y="4057650"/>
            <a:ext cx="3524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0">
                <a:solidFill>
                  <a:srgbClr val="5D6D82"/>
                </a:solidFill>
                <a:latin typeface="Arial"/>
                <a:ea typeface="Arial"/>
                <a:cs typeface="Arial"/>
              </a:defRPr>
            </a:pPr>
            <a:r>
              <a:rPr sz="1650" b="0">
                <a:solidFill>
                  <a:srgbClr val="5D6D82"/>
                </a:solidFill>
                <a:latin typeface="Arial"/>
                <a:ea typeface="Arial"/>
                <a:cs typeface="Arial"/>
              </a:rPr>
              <a:t>Jornada por usuário externo</a:t>
            </a:r>
          </a:p>
        </p:txBody>
      </p:sp>
      <p:sp>
        <p:nvSpPr>
          <p:cNvPr id="28" name="">
            <a:extLst xmlns:a="http://schemas.openxmlformats.org/drawingml/2006/main">
              <a:ext uri="{FF2B5EF4-FFF2-40B4-BE49-F238E27FC236}">
                <a16:creationId xmlns:a16="http://schemas.microsoft.com/office/drawing/2014/main" id="{EF63EEB1-785F-4B1D-9B67-D3C01A5EB57D}"/>
              </a:ext>
            </a:extLst>
          </p:cNvPr>
          <p:cNvSpPr>
            <a:spLocks xmlns:a="http://schemas.openxmlformats.org/drawingml/2006/main" noGrp="1"/>
          </p:cNvSpPr>
          <p:nvPr/>
        </p:nvSpPr>
        <p:spPr>
          <a:xfrm xmlns:a="http://schemas.openxmlformats.org/drawingml/2006/main">
            <a:off x="609600" y="4686300"/>
            <a:ext cx="3524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2563EB"/>
                </a:solidFill>
                <a:latin typeface="Arial"/>
                <a:ea typeface="Arial"/>
                <a:cs typeface="Arial"/>
              </a:defRPr>
            </a:pPr>
            <a:r>
              <a:rPr sz="1500" b="1">
                <a:solidFill>
                  <a:srgbClr val="2563EB"/>
                </a:solidFill>
                <a:latin typeface="Arial"/>
                <a:ea typeface="Arial"/>
                <a:cs typeface="Arial"/>
              </a:rPr>
              <a:t>SEMANAS 09–12</a:t>
            </a:r>
          </a:p>
        </p:txBody>
      </p:sp>
      <p:sp>
        <p:nvSpPr>
          <p:cNvPr id="29" name="">
            <a:extLst xmlns:a="http://schemas.openxmlformats.org/drawingml/2006/main">
              <a:ext uri="{FF2B5EF4-FFF2-40B4-BE49-F238E27FC236}">
                <a16:creationId xmlns:a16="http://schemas.microsoft.com/office/drawing/2014/main" id="{23B66853-C295-43AD-BC44-D23C40C8243A}"/>
              </a:ext>
            </a:extLst>
          </p:cNvPr>
          <p:cNvSpPr>
            <a:spLocks xmlns:a="http://schemas.openxmlformats.org/drawingml/2006/main" noGrp="1"/>
          </p:cNvSpPr>
          <p:nvPr/>
        </p:nvSpPr>
        <p:spPr>
          <a:xfrm xmlns:a="http://schemas.openxmlformats.org/drawingml/2006/main">
            <a:off x="609600" y="5057775"/>
            <a:ext cx="352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1">
                <a:solidFill>
                  <a:srgbClr val="14283F"/>
                </a:solidFill>
                <a:latin typeface="Arial"/>
                <a:ea typeface="Arial"/>
                <a:cs typeface="Arial"/>
              </a:defRPr>
            </a:pPr>
            <a:r>
              <a:rPr sz="2025" b="1">
                <a:solidFill>
                  <a:srgbClr val="14283F"/>
                </a:solidFill>
                <a:latin typeface="Arial"/>
                <a:ea typeface="Arial"/>
                <a:cs typeface="Arial"/>
              </a:rPr>
              <a:t>Comparação com 2025</a:t>
            </a:r>
          </a:p>
        </p:txBody>
      </p:sp>
      <p:sp>
        <p:nvSpPr>
          <p:cNvPr id="30" name="">
            <a:extLst xmlns:a="http://schemas.openxmlformats.org/drawingml/2006/main">
              <a:ext uri="{FF2B5EF4-FFF2-40B4-BE49-F238E27FC236}">
                <a16:creationId xmlns:a16="http://schemas.microsoft.com/office/drawing/2014/main" id="{28201166-82B5-484D-881C-FFBDE9BEDD4B}"/>
              </a:ext>
            </a:extLst>
          </p:cNvPr>
          <p:cNvSpPr>
            <a:spLocks xmlns:a="http://schemas.openxmlformats.org/drawingml/2006/main" noGrp="1"/>
          </p:cNvSpPr>
          <p:nvPr/>
        </p:nvSpPr>
        <p:spPr>
          <a:xfrm xmlns:a="http://schemas.openxmlformats.org/drawingml/2006/main">
            <a:off x="609600" y="5486400"/>
            <a:ext cx="3524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0">
                <a:solidFill>
                  <a:srgbClr val="5D6D82"/>
                </a:solidFill>
                <a:latin typeface="Arial"/>
                <a:ea typeface="Arial"/>
                <a:cs typeface="Arial"/>
              </a:defRPr>
            </a:pPr>
            <a:r>
              <a:rPr sz="1650" b="0">
                <a:solidFill>
                  <a:srgbClr val="5D6D82"/>
                </a:solidFill>
                <a:latin typeface="Arial"/>
                <a:ea typeface="Arial"/>
                <a:cs typeface="Arial"/>
              </a:rPr>
              <a:t>Medidas e períodos equivalentes</a:t>
            </a:r>
          </a:p>
        </p:txBody>
      </p:sp>
      <p:sp>
        <p:nvSpPr>
          <p:cNvPr id="31" name="">
            <a:extLst xmlns:a="http://schemas.openxmlformats.org/drawingml/2006/main">
              <a:ext uri="{FF2B5EF4-FFF2-40B4-BE49-F238E27FC236}">
                <a16:creationId xmlns:a16="http://schemas.microsoft.com/office/drawing/2014/main" id="{20E99910-9614-485C-A162-3782F6543B97}"/>
              </a:ext>
            </a:extLst>
          </p:cNvPr>
          <p:cNvSpPr>
            <a:spLocks xmlns:a="http://schemas.openxmlformats.org/drawingml/2006/main" noGrp="1"/>
          </p:cNvSpPr>
          <p:nvPr/>
        </p:nvSpPr>
        <p:spPr>
          <a:xfrm xmlns:a="http://schemas.openxmlformats.org/drawingml/2006/main">
            <a:off x="4381500" y="4686300"/>
            <a:ext cx="3524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2563EB"/>
                </a:solidFill>
                <a:latin typeface="Arial"/>
                <a:ea typeface="Arial"/>
                <a:cs typeface="Arial"/>
              </a:defRPr>
            </a:pPr>
            <a:r>
              <a:rPr sz="1500" b="1">
                <a:solidFill>
                  <a:srgbClr val="2563EB"/>
                </a:solidFill>
                <a:latin typeface="Arial"/>
                <a:ea typeface="Arial"/>
                <a:cs typeface="Arial"/>
              </a:rPr>
              <a:t>SEMANAS 13–14</a:t>
            </a:r>
          </a:p>
        </p:txBody>
      </p:sp>
      <p:sp>
        <p:nvSpPr>
          <p:cNvPr id="32" name="">
            <a:extLst xmlns:a="http://schemas.openxmlformats.org/drawingml/2006/main">
              <a:ext uri="{FF2B5EF4-FFF2-40B4-BE49-F238E27FC236}">
                <a16:creationId xmlns:a16="http://schemas.microsoft.com/office/drawing/2014/main" id="{3F71B73F-D874-4C1D-93D5-B16540C6CAF3}"/>
              </a:ext>
            </a:extLst>
          </p:cNvPr>
          <p:cNvSpPr>
            <a:spLocks xmlns:a="http://schemas.openxmlformats.org/drawingml/2006/main" noGrp="1"/>
          </p:cNvSpPr>
          <p:nvPr/>
        </p:nvSpPr>
        <p:spPr>
          <a:xfrm xmlns:a="http://schemas.openxmlformats.org/drawingml/2006/main">
            <a:off x="4381500" y="5057775"/>
            <a:ext cx="352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1">
                <a:solidFill>
                  <a:srgbClr val="14283F"/>
                </a:solidFill>
                <a:latin typeface="Arial"/>
                <a:ea typeface="Arial"/>
                <a:cs typeface="Arial"/>
              </a:defRPr>
            </a:pPr>
            <a:r>
              <a:rPr sz="2025" b="1">
                <a:solidFill>
                  <a:srgbClr val="14283F"/>
                </a:solidFill>
                <a:latin typeface="Arial"/>
                <a:ea typeface="Arial"/>
                <a:cs typeface="Arial"/>
              </a:rPr>
              <a:t>Validação integrada</a:t>
            </a:r>
          </a:p>
        </p:txBody>
      </p:sp>
      <p:sp>
        <p:nvSpPr>
          <p:cNvPr id="33" name="">
            <a:extLst xmlns:a="http://schemas.openxmlformats.org/drawingml/2006/main">
              <a:ext uri="{FF2B5EF4-FFF2-40B4-BE49-F238E27FC236}">
                <a16:creationId xmlns:a16="http://schemas.microsoft.com/office/drawing/2014/main" id="{8F0AEE30-86DB-4834-914A-CACA8B14258F}"/>
              </a:ext>
            </a:extLst>
          </p:cNvPr>
          <p:cNvSpPr>
            <a:spLocks xmlns:a="http://schemas.openxmlformats.org/drawingml/2006/main" noGrp="1"/>
          </p:cNvSpPr>
          <p:nvPr/>
        </p:nvSpPr>
        <p:spPr>
          <a:xfrm xmlns:a="http://schemas.openxmlformats.org/drawingml/2006/main">
            <a:off x="4381500" y="5486400"/>
            <a:ext cx="3524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0">
                <a:solidFill>
                  <a:srgbClr val="5D6D82"/>
                </a:solidFill>
                <a:latin typeface="Arial"/>
                <a:ea typeface="Arial"/>
                <a:cs typeface="Arial"/>
              </a:defRPr>
            </a:pPr>
            <a:r>
              <a:rPr sz="1650" b="0">
                <a:solidFill>
                  <a:srgbClr val="5D6D82"/>
                </a:solidFill>
                <a:latin typeface="Arial"/>
                <a:ea typeface="Arial"/>
                <a:cs typeface="Arial"/>
              </a:rPr>
              <a:t>Testes e exportação aprovada</a:t>
            </a:r>
          </a:p>
        </p:txBody>
      </p:sp>
      <p:sp>
        <p:nvSpPr>
          <p:cNvPr id="34" name="">
            <a:extLst xmlns:a="http://schemas.openxmlformats.org/drawingml/2006/main">
              <a:ext uri="{FF2B5EF4-FFF2-40B4-BE49-F238E27FC236}">
                <a16:creationId xmlns:a16="http://schemas.microsoft.com/office/drawing/2014/main" id="{38043531-5836-473B-AAD3-4CF4F1C90291}"/>
              </a:ext>
            </a:extLst>
          </p:cNvPr>
          <p:cNvSpPr>
            <a:spLocks xmlns:a="http://schemas.openxmlformats.org/drawingml/2006/main" noGrp="1"/>
          </p:cNvSpPr>
          <p:nvPr/>
        </p:nvSpPr>
        <p:spPr>
          <a:xfrm xmlns:a="http://schemas.openxmlformats.org/drawingml/2006/main">
            <a:off x="8153400" y="4686300"/>
            <a:ext cx="3524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2563EB"/>
                </a:solidFill>
                <a:latin typeface="Arial"/>
                <a:ea typeface="Arial"/>
                <a:cs typeface="Arial"/>
              </a:defRPr>
            </a:pPr>
            <a:r>
              <a:rPr sz="1500" b="1">
                <a:solidFill>
                  <a:srgbClr val="2563EB"/>
                </a:solidFill>
                <a:latin typeface="Arial"/>
                <a:ea typeface="Arial"/>
                <a:cs typeface="Arial"/>
              </a:rPr>
              <a:t>SEMANAS 15–16</a:t>
            </a:r>
          </a:p>
        </p:txBody>
      </p:sp>
      <p:sp>
        <p:nvSpPr>
          <p:cNvPr id="35" name="">
            <a:extLst xmlns:a="http://schemas.openxmlformats.org/drawingml/2006/main">
              <a:ext uri="{FF2B5EF4-FFF2-40B4-BE49-F238E27FC236}">
                <a16:creationId xmlns:a16="http://schemas.microsoft.com/office/drawing/2014/main" id="{7A958684-85EB-4449-B3EF-D4869BAA3D30}"/>
              </a:ext>
            </a:extLst>
          </p:cNvPr>
          <p:cNvSpPr>
            <a:spLocks xmlns:a="http://schemas.openxmlformats.org/drawingml/2006/main" noGrp="1"/>
          </p:cNvSpPr>
          <p:nvPr/>
        </p:nvSpPr>
        <p:spPr>
          <a:xfrm xmlns:a="http://schemas.openxmlformats.org/drawingml/2006/main">
            <a:off x="8153400" y="5057775"/>
            <a:ext cx="352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1">
                <a:solidFill>
                  <a:srgbClr val="14283F"/>
                </a:solidFill>
                <a:latin typeface="Arial"/>
                <a:ea typeface="Arial"/>
                <a:cs typeface="Arial"/>
              </a:defRPr>
            </a:pPr>
            <a:r>
              <a:rPr sz="2025" b="1">
                <a:solidFill>
                  <a:srgbClr val="14283F"/>
                </a:solidFill>
                <a:latin typeface="Arial"/>
                <a:ea typeface="Arial"/>
                <a:cs typeface="Arial"/>
              </a:rPr>
              <a:t>Piloto e documentação</a:t>
            </a:r>
          </a:p>
        </p:txBody>
      </p:sp>
      <p:sp>
        <p:nvSpPr>
          <p:cNvPr id="36" name="">
            <a:extLst xmlns:a="http://schemas.openxmlformats.org/drawingml/2006/main">
              <a:ext uri="{FF2B5EF4-FFF2-40B4-BE49-F238E27FC236}">
                <a16:creationId xmlns:a16="http://schemas.microsoft.com/office/drawing/2014/main" id="{2048008B-A4BB-432B-BDE1-A331AF32E3B4}"/>
              </a:ext>
            </a:extLst>
          </p:cNvPr>
          <p:cNvSpPr>
            <a:spLocks xmlns:a="http://schemas.openxmlformats.org/drawingml/2006/main" noGrp="1"/>
          </p:cNvSpPr>
          <p:nvPr/>
        </p:nvSpPr>
        <p:spPr>
          <a:xfrm xmlns:a="http://schemas.openxmlformats.org/drawingml/2006/main">
            <a:off x="8153400" y="5486400"/>
            <a:ext cx="3524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0">
                <a:solidFill>
                  <a:srgbClr val="5D6D82"/>
                </a:solidFill>
                <a:latin typeface="Arial"/>
                <a:ea typeface="Arial"/>
                <a:cs typeface="Arial"/>
              </a:defRPr>
            </a:pPr>
            <a:r>
              <a:rPr sz="1650" b="0">
                <a:solidFill>
                  <a:srgbClr val="5D6D82"/>
                </a:solidFill>
                <a:latin typeface="Arial"/>
                <a:ea typeface="Arial"/>
                <a:cs typeface="Arial"/>
              </a:rPr>
              <a:t>Reprodução em ambiente limpo</a:t>
            </a:r>
          </a:p>
        </p:txBody>
      </p:sp>
      <p:sp>
        <p:nvSpPr>
          <p:cNvPr id="37" name="">
            <a:extLst xmlns:a="http://schemas.openxmlformats.org/drawingml/2006/main">
              <a:ext uri="{FF2B5EF4-FFF2-40B4-BE49-F238E27FC236}">
                <a16:creationId xmlns:a16="http://schemas.microsoft.com/office/drawing/2014/main" id="{604E63AD-7F18-4BCE-85D3-B8B89126189B}"/>
              </a:ext>
            </a:extLst>
          </p:cNvPr>
          <p:cNvSpPr>
            <a:spLocks xmlns:a="http://schemas.openxmlformats.org/drawingml/2006/main" noGrp="1"/>
          </p:cNvSpPr>
          <p:nvPr/>
        </p:nvSpPr>
        <p:spPr>
          <a:xfrm xmlns:a="http://schemas.openxmlformats.org/drawingml/2006/main">
            <a:off x="609600" y="6419850"/>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5D6D82"/>
                </a:solidFill>
                <a:latin typeface="Arial"/>
                <a:ea typeface="Arial"/>
                <a:cs typeface="Arial"/>
              </a:defRPr>
            </a:pPr>
            <a:r>
              <a:rPr sz="1200" b="0">
                <a:solidFill>
                  <a:srgbClr val="5D6D82"/>
                </a:solidFill>
                <a:latin typeface="Arial"/>
                <a:ea typeface="Arial"/>
                <a:cs typeface="Arial"/>
              </a:rPr>
              <a:t>Planejamento proposto. Responsáveis, dependências, entregáveis e aceite detalhados no relatório.</a:t>
            </a:r>
          </a:p>
        </p:txBody>
      </p:sp>
    </p:spTree>
    <p:extLst>
      <p:ext uri="{BB962C8B-B14F-4D97-AF65-F5344CB8AC3E}">
        <p14:creationId xmlns:p14="http://schemas.microsoft.com/office/powerpoint/2010/main" val="188727321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21DE1EA-0ADA-47C1-A93A-9E94358933E4}"/>
              </a:ext>
            </a:extLst>
          </p:cNvPr>
          <p:cNvSpPr>
            <a:spLocks xmlns:a="http://schemas.openxmlformats.org/drawingml/2006/main" noGrp="1"/>
          </p:cNvSpPr>
          <p:nvPr/>
        </p:nvSpPr>
        <p:spPr>
          <a:xfrm xmlns:a="http://schemas.openxmlformats.org/drawingml/2006/main">
            <a:off x="609600" y="209550"/>
            <a:ext cx="723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2563EB"/>
                </a:solidFill>
                <a:latin typeface="Arial"/>
                <a:ea typeface="Arial"/>
                <a:cs typeface="Arial"/>
              </a:defRPr>
            </a:pPr>
            <a:r>
              <a:rPr sz="1125" b="1">
                <a:solidFill>
                  <a:srgbClr val="2563EB"/>
                </a:solidFill>
                <a:latin typeface="Arial"/>
                <a:ea typeface="Arial"/>
                <a:cs typeface="Arial"/>
              </a:rPr>
              <a:t>PAGAMENTOS ES 2024</a:t>
            </a:r>
          </a:p>
        </p:txBody>
      </p:sp>
      <p:sp>
        <p:nvSpPr>
          <p:cNvPr id="2" name="">
            <a:extLst xmlns:a="http://schemas.openxmlformats.org/drawingml/2006/main">
              <a:ext uri="{FF2B5EF4-FFF2-40B4-BE49-F238E27FC236}">
                <a16:creationId xmlns:a16="http://schemas.microsoft.com/office/drawing/2014/main" id="{B5858ED4-D460-472B-B677-9669CCE20AC4}"/>
              </a:ext>
            </a:extLst>
          </p:cNvPr>
          <p:cNvSpPr>
            <a:spLocks xmlns:a="http://schemas.openxmlformats.org/drawingml/2006/main" noGrp="1"/>
          </p:cNvSpPr>
          <p:nvPr/>
        </p:nvSpPr>
        <p:spPr>
          <a:xfrm xmlns:a="http://schemas.openxmlformats.org/drawingml/2006/main">
            <a:off x="9001125" y="209550"/>
            <a:ext cx="257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2563EB"/>
                </a:solidFill>
                <a:latin typeface="Arial"/>
                <a:ea typeface="Arial"/>
                <a:cs typeface="Arial"/>
              </a:defRPr>
            </a:pPr>
            <a:r>
              <a:rPr sz="1125" b="1">
                <a:solidFill>
                  <a:srgbClr val="2563EB"/>
                </a:solidFill>
                <a:latin typeface="Arial"/>
                <a:ea typeface="Arial"/>
                <a:cs typeface="Arial"/>
              </a:rPr>
              <a:t>VIABILIDADE</a:t>
            </a:r>
          </a:p>
        </p:txBody>
      </p:sp>
      <p:sp>
        <p:nvSpPr>
          <p:cNvPr id="3" name="">
            <a:extLst xmlns:a="http://schemas.openxmlformats.org/drawingml/2006/main">
              <a:ext uri="{FF2B5EF4-FFF2-40B4-BE49-F238E27FC236}">
                <a16:creationId xmlns:a16="http://schemas.microsoft.com/office/drawing/2014/main" id="{DBB3053D-573E-457C-AC53-CA0009E16875}"/>
              </a:ext>
            </a:extLst>
          </p:cNvPr>
          <p:cNvSpPr>
            <a:spLocks xmlns:a="http://schemas.openxmlformats.org/drawingml/2006/main" noGrp="1"/>
          </p:cNvSpPr>
          <p:nvPr/>
        </p:nvSpPr>
        <p:spPr>
          <a:xfrm xmlns:a="http://schemas.openxmlformats.org/drawingml/2006/main">
            <a:off x="609600" y="5524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1">
                <a:solidFill>
                  <a:srgbClr val="14283F"/>
                </a:solidFill>
                <a:latin typeface="Arial"/>
                <a:ea typeface="Arial"/>
                <a:cs typeface="Arial"/>
              </a:defRPr>
            </a:pPr>
            <a:r>
              <a:rPr sz="3225" b="1">
                <a:solidFill>
                  <a:srgbClr val="14283F"/>
                </a:solidFill>
                <a:latin typeface="Arial"/>
                <a:ea typeface="Arial"/>
                <a:cs typeface="Arial"/>
              </a:rPr>
              <a:t>Orçamento e gestão de riscos</a:t>
            </a:r>
          </a:p>
        </p:txBody>
      </p:sp>
      <p:sp>
        <p:nvSpPr>
          <p:cNvPr id="4" name="">
            <a:extLst xmlns:a="http://schemas.openxmlformats.org/drawingml/2006/main">
              <a:ext uri="{FF2B5EF4-FFF2-40B4-BE49-F238E27FC236}">
                <a16:creationId xmlns:a16="http://schemas.microsoft.com/office/drawing/2014/main" id="{10F810F4-3038-47CC-B61B-99B236B588D3}"/>
              </a:ext>
            </a:extLst>
          </p:cNvPr>
          <p:cNvSpPr>
            <a:spLocks xmlns:a="http://schemas.openxmlformats.org/drawingml/2006/main" noGrp="1"/>
          </p:cNvSpPr>
          <p:nvPr/>
        </p:nvSpPr>
        <p:spPr>
          <a:xfrm xmlns:a="http://schemas.openxmlformats.org/drawingml/2006/main">
            <a:off x="609600" y="6315075"/>
            <a:ext cx="10972800" cy="0"/>
          </a:xfrm>
          <a:prstGeom xmlns:a="http://schemas.openxmlformats.org/drawingml/2006/main" prst="line">
            <a:avLst/>
          </a:prstGeom>
          <a:noFill xmlns:a="http://schemas.openxmlformats.org/drawingml/2006/main"/>
          <a:ln xmlns:a="http://schemas.openxmlformats.org/drawingml/2006/main" w="9525">
            <a:solidFill>
              <a:srgbClr val="DCE3EC"/>
            </a:solidFill>
          </a:ln>
        </p:spPr>
      </p:sp>
      <p:sp>
        <p:nvSpPr>
          <p:cNvPr id="5" name="">
            <a:extLst xmlns:a="http://schemas.openxmlformats.org/drawingml/2006/main">
              <a:ext uri="{FF2B5EF4-FFF2-40B4-BE49-F238E27FC236}">
                <a16:creationId xmlns:a16="http://schemas.microsoft.com/office/drawing/2014/main" id="{DBB2C070-E917-45FB-ABA8-CD59D943803B}"/>
              </a:ext>
            </a:extLst>
          </p:cNvPr>
          <p:cNvSpPr>
            <a:spLocks xmlns:a="http://schemas.openxmlformats.org/drawingml/2006/main" noGrp="1"/>
          </p:cNvSpPr>
          <p:nvPr/>
        </p:nvSpPr>
        <p:spPr>
          <a:xfrm xmlns:a="http://schemas.openxmlformats.org/drawingml/2006/main">
            <a:off x="10801350" y="6419850"/>
            <a:ext cx="904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5D6D82"/>
                </a:solidFill>
                <a:latin typeface="Arial"/>
                <a:ea typeface="Arial"/>
                <a:cs typeface="Arial"/>
              </a:defRPr>
            </a:pPr>
            <a:r>
              <a:rPr sz="1200" b="0">
                <a:solidFill>
                  <a:srgbClr val="5D6D82"/>
                </a:solidFill>
                <a:latin typeface="Arial"/>
                <a:ea typeface="Arial"/>
                <a:cs typeface="Arial"/>
              </a:rPr>
              <a:t>07 / 08</a:t>
            </a:r>
          </a:p>
        </p:txBody>
      </p:sp>
      <p:graphicFrame>
        <p:nvGraphicFramePr>
          <p:cNvPr id="24" name=""/>
          <p:cNvGraphicFramePr/>
          <p:nvPr/>
        </p:nvGraphicFramePr>
        <p:xfrm>
          <a:off xmlns:a="http://schemas.openxmlformats.org/drawingml/2006/main" x="609600" y="1504950"/>
          <a:ext xmlns:a="http://schemas.openxmlformats.org/drawingml/2006/main" cx="6448425" cy="3105150"/>
        </p:xfrm>
        <a:graphic xmlns:a="http://schemas.openxmlformats.org/drawingml/2006/main">
          <a:graphicData uri="http://schemas.openxmlformats.org/drawingml/2006/table">
            <a:tbl>
              <a:tblPr/>
              <a:tblGrid>
                <a:gridCol w="4800600"/>
                <a:gridCol w="1647825"/>
              </a:tblGrid>
              <a:tr h="388144">
                <a:tc>
                  <a:txBody>
                    <a:bodyPr lIns="114300" tIns="66675" rIns="114300" bIns="57150">
                      <a:noAutofit/>
                    </a:bodyPr>
                    <a:lstStyle/>
                    <a:p>
                      <a:pPr algn="l"/>
                      <a:r>
                        <a:rPr sz="1650" b="1">
                          <a:solidFill>
                            <a:srgbClr val="FFFFFF"/>
                          </a:solidFill>
                          <a:latin typeface="Arial"/>
                          <a:ea typeface="Arial"/>
                          <a:cs typeface="Arial"/>
                        </a:rPr>
                        <a:t>Memória de cálculo</a:t>
                      </a:r>
                    </a:p>
                  </a:txBody>
                  <a:tcPr marL="91440" marR="91440" marT="45720" marB="45720">
                    <a:lnL w="3810">
                      <a:solidFill>
                        <a:srgbClr val="DCE3EC"/>
                      </a:solidFill>
                      <a:prstDash val="solid"/>
                    </a:lnL>
                    <a:lnR w="1429">
                      <a:solidFill>
                        <a:srgbClr val="DCE3EC"/>
                      </a:solidFill>
                      <a:prstDash val="solid"/>
                    </a:lnR>
                    <a:lnT w="3810">
                      <a:solidFill>
                        <a:srgbClr val="DCE3EC"/>
                      </a:solidFill>
                      <a:prstDash val="solid"/>
                    </a:lnT>
                    <a:lnB w="4763">
                      <a:solidFill>
                        <a:srgbClr val="DCE3EC"/>
                      </a:solidFill>
                      <a:prstDash val="solid"/>
                    </a:lnB>
                    <a:solidFill>
                      <a:srgbClr val="14283F"/>
                    </a:solidFill>
                  </a:tcPr>
                </a:tc>
                <a:tc>
                  <a:txBody>
                    <a:bodyPr lIns="114300" tIns="66675" rIns="114300" bIns="57150">
                      <a:noAutofit/>
                    </a:bodyPr>
                    <a:lstStyle/>
                    <a:p>
                      <a:pPr algn="r"/>
                      <a:r>
                        <a:rPr sz="1650" b="1">
                          <a:solidFill>
                            <a:srgbClr val="FFFFFF"/>
                          </a:solidFill>
                          <a:latin typeface="Arial"/>
                          <a:ea typeface="Arial"/>
                          <a:cs typeface="Arial"/>
                        </a:rPr>
                        <a:t>Valor (R$)</a:t>
                      </a:r>
                    </a:p>
                  </a:txBody>
                  <a:tcPr marL="91440" marR="91440" marT="45720" marB="45720">
                    <a:lnR w="3810">
                      <a:solidFill>
                        <a:srgbClr val="DCE3EC"/>
                      </a:solidFill>
                      <a:prstDash val="solid"/>
                    </a:lnR>
                    <a:lnT w="3810">
                      <a:solidFill>
                        <a:srgbClr val="DCE3EC"/>
                      </a:solidFill>
                      <a:prstDash val="solid"/>
                    </a:lnT>
                    <a:lnB w="4763">
                      <a:solidFill>
                        <a:srgbClr val="DCE3EC"/>
                      </a:solidFill>
                      <a:prstDash val="solid"/>
                    </a:lnB>
                    <a:solidFill>
                      <a:srgbClr val="14283F"/>
                    </a:solidFill>
                  </a:tcPr>
                </a:tc>
              </a:tr>
              <a:tr h="388144">
                <a:tc>
                  <a:txBody>
                    <a:bodyPr lIns="114300" tIns="66675" rIns="114300" bIns="57150">
                      <a:noAutofit/>
                    </a:bodyPr>
                    <a:lstStyle/>
                    <a:p>
                      <a:pPr algn="l"/>
                      <a:r>
                        <a:rPr sz="1650" b="0">
                          <a:solidFill>
                            <a:srgbClr val="14283F"/>
                          </a:solidFill>
                          <a:latin typeface="Arial"/>
                          <a:ea typeface="Arial"/>
                          <a:cs typeface="Arial"/>
                        </a:rPr>
                        <a:t>Produto · 160 h × R$ 70</a:t>
                      </a:r>
                    </a:p>
                  </a:txBody>
                  <a:tcPr marL="91440" marR="91440" marT="45720" marB="45720">
                    <a:lnL w="3810">
                      <a:solidFill>
                        <a:srgbClr val="DCE3EC"/>
                      </a:solidFill>
                      <a:prstDash val="solid"/>
                    </a:lnL>
                    <a:lnR w="1429">
                      <a:solidFill>
                        <a:srgbClr val="DCE3EC"/>
                      </a:solidFill>
                      <a:prstDash val="solid"/>
                    </a:lnR>
                    <a:lnB w="4763">
                      <a:solidFill>
                        <a:srgbClr val="DCE3EC"/>
                      </a:solidFill>
                      <a:prstDash val="solid"/>
                    </a:lnB>
                    <a:solidFill>
                      <a:srgbClr val="FFFFFF"/>
                    </a:solidFill>
                  </a:tcPr>
                </a:tc>
                <a:tc>
                  <a:txBody>
                    <a:bodyPr lIns="114300" tIns="66675" rIns="114300" bIns="57150">
                      <a:noAutofit/>
                    </a:bodyPr>
                    <a:lstStyle/>
                    <a:p>
                      <a:pPr algn="r"/>
                      <a:r>
                        <a:rPr sz="1650" b="0">
                          <a:solidFill>
                            <a:srgbClr val="14283F"/>
                          </a:solidFill>
                          <a:latin typeface="Arial"/>
                          <a:ea typeface="Arial"/>
                          <a:cs typeface="Arial"/>
                        </a:rPr>
                        <a:t>11.200</a:t>
                      </a:r>
                    </a:p>
                  </a:txBody>
                  <a:tcPr marL="91440" marR="91440" marT="45720" marB="45720">
                    <a:lnR w="3810">
                      <a:solidFill>
                        <a:srgbClr val="DCE3EC"/>
                      </a:solidFill>
                      <a:prstDash val="solid"/>
                    </a:lnR>
                    <a:lnB w="4763">
                      <a:solidFill>
                        <a:srgbClr val="DCE3EC"/>
                      </a:solidFill>
                      <a:prstDash val="solid"/>
                    </a:lnB>
                    <a:solidFill>
                      <a:srgbClr val="FFFFFF"/>
                    </a:solidFill>
                  </a:tcPr>
                </a:tc>
              </a:tr>
              <a:tr h="388144">
                <a:tc>
                  <a:txBody>
                    <a:bodyPr lIns="114300" tIns="66675" rIns="114300" bIns="57150">
                      <a:noAutofit/>
                    </a:bodyPr>
                    <a:lstStyle/>
                    <a:p>
                      <a:pPr algn="l"/>
                      <a:r>
                        <a:rPr sz="1650" b="0">
                          <a:solidFill>
                            <a:srgbClr val="14283F"/>
                          </a:solidFill>
                          <a:latin typeface="Arial"/>
                          <a:ea typeface="Arial"/>
                          <a:cs typeface="Arial"/>
                        </a:rPr>
                        <a:t>Dados · 240 h × R$ 80</a:t>
                      </a:r>
                    </a:p>
                  </a:txBody>
                  <a:tcPr marL="91440" marR="91440" marT="45720" marB="45720">
                    <a:lnL w="3810">
                      <a:solidFill>
                        <a:srgbClr val="DCE3EC"/>
                      </a:solidFill>
                      <a:prstDash val="solid"/>
                    </a:lnL>
                    <a:lnR w="1429">
                      <a:solidFill>
                        <a:srgbClr val="DCE3EC"/>
                      </a:solidFill>
                      <a:prstDash val="solid"/>
                    </a:lnR>
                    <a:lnB w="4763">
                      <a:solidFill>
                        <a:srgbClr val="DCE3EC"/>
                      </a:solidFill>
                      <a:prstDash val="solid"/>
                    </a:lnB>
                    <a:solidFill>
                      <a:srgbClr val="EAF1FA"/>
                    </a:solidFill>
                  </a:tcPr>
                </a:tc>
                <a:tc>
                  <a:txBody>
                    <a:bodyPr lIns="114300" tIns="66675" rIns="114300" bIns="57150">
                      <a:noAutofit/>
                    </a:bodyPr>
                    <a:lstStyle/>
                    <a:p>
                      <a:pPr algn="r"/>
                      <a:r>
                        <a:rPr sz="1650" b="0">
                          <a:solidFill>
                            <a:srgbClr val="14283F"/>
                          </a:solidFill>
                          <a:latin typeface="Arial"/>
                          <a:ea typeface="Arial"/>
                          <a:cs typeface="Arial"/>
                        </a:rPr>
                        <a:t>19.200</a:t>
                      </a:r>
                    </a:p>
                  </a:txBody>
                  <a:tcPr marL="91440" marR="91440" marT="45720" marB="45720">
                    <a:lnR w="3810">
                      <a:solidFill>
                        <a:srgbClr val="DCE3EC"/>
                      </a:solidFill>
                      <a:prstDash val="solid"/>
                    </a:lnR>
                    <a:lnB w="4763">
                      <a:solidFill>
                        <a:srgbClr val="DCE3EC"/>
                      </a:solidFill>
                      <a:prstDash val="solid"/>
                    </a:lnB>
                    <a:solidFill>
                      <a:srgbClr val="EAF1FA"/>
                    </a:solidFill>
                  </a:tcPr>
                </a:tc>
              </a:tr>
              <a:tr h="388144">
                <a:tc>
                  <a:txBody>
                    <a:bodyPr lIns="114300" tIns="66675" rIns="114300" bIns="57150">
                      <a:noAutofit/>
                    </a:bodyPr>
                    <a:lstStyle/>
                    <a:p>
                      <a:pPr algn="l"/>
                      <a:r>
                        <a:rPr sz="1650" b="0">
                          <a:solidFill>
                            <a:srgbClr val="14283F"/>
                          </a:solidFill>
                          <a:latin typeface="Arial"/>
                          <a:ea typeface="Arial"/>
                          <a:cs typeface="Arial"/>
                        </a:rPr>
                        <a:t>Desenvolvimento · 320 h × R$ 90</a:t>
                      </a:r>
                    </a:p>
                  </a:txBody>
                  <a:tcPr marL="91440" marR="91440" marT="45720" marB="45720">
                    <a:lnL w="3810">
                      <a:solidFill>
                        <a:srgbClr val="DCE3EC"/>
                      </a:solidFill>
                      <a:prstDash val="solid"/>
                    </a:lnL>
                    <a:lnR w="1429">
                      <a:solidFill>
                        <a:srgbClr val="DCE3EC"/>
                      </a:solidFill>
                      <a:prstDash val="solid"/>
                    </a:lnR>
                    <a:lnB w="4763">
                      <a:solidFill>
                        <a:srgbClr val="DCE3EC"/>
                      </a:solidFill>
                      <a:prstDash val="solid"/>
                    </a:lnB>
                    <a:solidFill>
                      <a:srgbClr val="FFFFFF"/>
                    </a:solidFill>
                  </a:tcPr>
                </a:tc>
                <a:tc>
                  <a:txBody>
                    <a:bodyPr lIns="114300" tIns="66675" rIns="114300" bIns="57150">
                      <a:noAutofit/>
                    </a:bodyPr>
                    <a:lstStyle/>
                    <a:p>
                      <a:pPr algn="r"/>
                      <a:r>
                        <a:rPr sz="1650" b="0">
                          <a:solidFill>
                            <a:srgbClr val="14283F"/>
                          </a:solidFill>
                          <a:latin typeface="Arial"/>
                          <a:ea typeface="Arial"/>
                          <a:cs typeface="Arial"/>
                        </a:rPr>
                        <a:t>28.800</a:t>
                      </a:r>
                    </a:p>
                  </a:txBody>
                  <a:tcPr marL="91440" marR="91440" marT="45720" marB="45720">
                    <a:lnR w="3810">
                      <a:solidFill>
                        <a:srgbClr val="DCE3EC"/>
                      </a:solidFill>
                      <a:prstDash val="solid"/>
                    </a:lnR>
                    <a:lnB w="4763">
                      <a:solidFill>
                        <a:srgbClr val="DCE3EC"/>
                      </a:solidFill>
                      <a:prstDash val="solid"/>
                    </a:lnB>
                    <a:solidFill>
                      <a:srgbClr val="FFFFFF"/>
                    </a:solidFill>
                  </a:tcPr>
                </a:tc>
              </a:tr>
              <a:tr h="388144">
                <a:tc>
                  <a:txBody>
                    <a:bodyPr lIns="114300" tIns="66675" rIns="114300" bIns="57150">
                      <a:noAutofit/>
                    </a:bodyPr>
                    <a:lstStyle/>
                    <a:p>
                      <a:pPr algn="l"/>
                      <a:r>
                        <a:rPr sz="1650" b="0">
                          <a:solidFill>
                            <a:srgbClr val="14283F"/>
                          </a:solidFill>
                          <a:latin typeface="Arial"/>
                          <a:ea typeface="Arial"/>
                          <a:cs typeface="Arial"/>
                        </a:rPr>
                        <a:t>Testes · 160 h × R$ 60</a:t>
                      </a:r>
                    </a:p>
                  </a:txBody>
                  <a:tcPr marL="91440" marR="91440" marT="45720" marB="45720">
                    <a:lnL w="3810">
                      <a:solidFill>
                        <a:srgbClr val="DCE3EC"/>
                      </a:solidFill>
                      <a:prstDash val="solid"/>
                    </a:lnL>
                    <a:lnR w="1429">
                      <a:solidFill>
                        <a:srgbClr val="DCE3EC"/>
                      </a:solidFill>
                      <a:prstDash val="solid"/>
                    </a:lnR>
                    <a:lnB w="4763">
                      <a:solidFill>
                        <a:srgbClr val="DCE3EC"/>
                      </a:solidFill>
                      <a:prstDash val="solid"/>
                    </a:lnB>
                    <a:solidFill>
                      <a:srgbClr val="EAF1FA"/>
                    </a:solidFill>
                  </a:tcPr>
                </a:tc>
                <a:tc>
                  <a:txBody>
                    <a:bodyPr lIns="114300" tIns="66675" rIns="114300" bIns="57150">
                      <a:noAutofit/>
                    </a:bodyPr>
                    <a:lstStyle/>
                    <a:p>
                      <a:pPr algn="r"/>
                      <a:r>
                        <a:rPr sz="1650" b="0">
                          <a:solidFill>
                            <a:srgbClr val="14283F"/>
                          </a:solidFill>
                          <a:latin typeface="Arial"/>
                          <a:ea typeface="Arial"/>
                          <a:cs typeface="Arial"/>
                        </a:rPr>
                        <a:t>9.600</a:t>
                      </a:r>
                    </a:p>
                  </a:txBody>
                  <a:tcPr marL="91440" marR="91440" marT="45720" marB="45720">
                    <a:lnR w="3810">
                      <a:solidFill>
                        <a:srgbClr val="DCE3EC"/>
                      </a:solidFill>
                      <a:prstDash val="solid"/>
                    </a:lnR>
                    <a:lnB w="4763">
                      <a:solidFill>
                        <a:srgbClr val="DCE3EC"/>
                      </a:solidFill>
                      <a:prstDash val="solid"/>
                    </a:lnB>
                    <a:solidFill>
                      <a:srgbClr val="EAF1FA"/>
                    </a:solidFill>
                  </a:tcPr>
                </a:tc>
              </a:tr>
              <a:tr h="388144">
                <a:tc>
                  <a:txBody>
                    <a:bodyPr lIns="114300" tIns="66675" rIns="114300" bIns="57150">
                      <a:noAutofit/>
                    </a:bodyPr>
                    <a:lstStyle/>
                    <a:p>
                      <a:pPr algn="l"/>
                      <a:r>
                        <a:rPr sz="1650" b="0">
                          <a:solidFill>
                            <a:srgbClr val="14283F"/>
                          </a:solidFill>
                          <a:latin typeface="Arial"/>
                          <a:ea typeface="Arial"/>
                          <a:cs typeface="Arial"/>
                        </a:rPr>
                        <a:t>Infraestrutura e licenças</a:t>
                      </a:r>
                    </a:p>
                  </a:txBody>
                  <a:tcPr marL="91440" marR="91440" marT="45720" marB="45720">
                    <a:lnL w="3810">
                      <a:solidFill>
                        <a:srgbClr val="DCE3EC"/>
                      </a:solidFill>
                      <a:prstDash val="solid"/>
                    </a:lnL>
                    <a:lnR w="1429">
                      <a:solidFill>
                        <a:srgbClr val="DCE3EC"/>
                      </a:solidFill>
                      <a:prstDash val="solid"/>
                    </a:lnR>
                    <a:lnB w="4763">
                      <a:solidFill>
                        <a:srgbClr val="DCE3EC"/>
                      </a:solidFill>
                      <a:prstDash val="solid"/>
                    </a:lnB>
                    <a:solidFill>
                      <a:srgbClr val="FFFFFF"/>
                    </a:solidFill>
                  </a:tcPr>
                </a:tc>
                <a:tc>
                  <a:txBody>
                    <a:bodyPr lIns="114300" tIns="66675" rIns="114300" bIns="57150">
                      <a:noAutofit/>
                    </a:bodyPr>
                    <a:lstStyle/>
                    <a:p>
                      <a:pPr algn="r"/>
                      <a:r>
                        <a:rPr sz="1650" b="0">
                          <a:solidFill>
                            <a:srgbClr val="14283F"/>
                          </a:solidFill>
                          <a:latin typeface="Arial"/>
                          <a:ea typeface="Arial"/>
                          <a:cs typeface="Arial"/>
                        </a:rPr>
                        <a:t>3.200</a:t>
                      </a:r>
                    </a:p>
                  </a:txBody>
                  <a:tcPr marL="91440" marR="91440" marT="45720" marB="45720">
                    <a:lnR w="3810">
                      <a:solidFill>
                        <a:srgbClr val="DCE3EC"/>
                      </a:solidFill>
                      <a:prstDash val="solid"/>
                    </a:lnR>
                    <a:lnB w="4763">
                      <a:solidFill>
                        <a:srgbClr val="DCE3EC"/>
                      </a:solidFill>
                      <a:prstDash val="solid"/>
                    </a:lnB>
                    <a:solidFill>
                      <a:srgbClr val="FFFFFF"/>
                    </a:solidFill>
                  </a:tcPr>
                </a:tc>
              </a:tr>
              <a:tr h="388144">
                <a:tc>
                  <a:txBody>
                    <a:bodyPr lIns="114300" tIns="66675" rIns="114300" bIns="57150">
                      <a:noAutofit/>
                    </a:bodyPr>
                    <a:lstStyle/>
                    <a:p>
                      <a:pPr algn="l"/>
                      <a:r>
                        <a:rPr sz="1650" b="0">
                          <a:solidFill>
                            <a:srgbClr val="14283F"/>
                          </a:solidFill>
                          <a:latin typeface="Arial"/>
                          <a:ea typeface="Arial"/>
                          <a:cs typeface="Arial"/>
                        </a:rPr>
                        <a:t>Contingência · 20% de R$ 72.000</a:t>
                      </a:r>
                    </a:p>
                  </a:txBody>
                  <a:tcPr marL="91440" marR="91440" marT="45720" marB="45720">
                    <a:lnL w="3810">
                      <a:solidFill>
                        <a:srgbClr val="DCE3EC"/>
                      </a:solidFill>
                      <a:prstDash val="solid"/>
                    </a:lnL>
                    <a:lnR w="1429">
                      <a:solidFill>
                        <a:srgbClr val="DCE3EC"/>
                      </a:solidFill>
                      <a:prstDash val="solid"/>
                    </a:lnR>
                    <a:lnB w="4763">
                      <a:solidFill>
                        <a:srgbClr val="DCE3EC"/>
                      </a:solidFill>
                      <a:prstDash val="solid"/>
                    </a:lnB>
                    <a:solidFill>
                      <a:srgbClr val="EAF1FA"/>
                    </a:solidFill>
                  </a:tcPr>
                </a:tc>
                <a:tc>
                  <a:txBody>
                    <a:bodyPr lIns="114300" tIns="66675" rIns="114300" bIns="57150">
                      <a:noAutofit/>
                    </a:bodyPr>
                    <a:lstStyle/>
                    <a:p>
                      <a:pPr algn="r"/>
                      <a:r>
                        <a:rPr sz="1650" b="0">
                          <a:solidFill>
                            <a:srgbClr val="14283F"/>
                          </a:solidFill>
                          <a:latin typeface="Arial"/>
                          <a:ea typeface="Arial"/>
                          <a:cs typeface="Arial"/>
                        </a:rPr>
                        <a:t>14.400</a:t>
                      </a:r>
                    </a:p>
                  </a:txBody>
                  <a:tcPr marL="91440" marR="91440" marT="45720" marB="45720">
                    <a:lnR w="3810">
                      <a:solidFill>
                        <a:srgbClr val="DCE3EC"/>
                      </a:solidFill>
                      <a:prstDash val="solid"/>
                    </a:lnR>
                    <a:lnB w="4763">
                      <a:solidFill>
                        <a:srgbClr val="DCE3EC"/>
                      </a:solidFill>
                      <a:prstDash val="solid"/>
                    </a:lnB>
                    <a:solidFill>
                      <a:srgbClr val="EAF1FA"/>
                    </a:solidFill>
                  </a:tcPr>
                </a:tc>
              </a:tr>
              <a:tr h="388144">
                <a:tc>
                  <a:txBody>
                    <a:bodyPr lIns="114300" tIns="66675" rIns="114300" bIns="57150">
                      <a:noAutofit/>
                    </a:bodyPr>
                    <a:lstStyle/>
                    <a:p>
                      <a:pPr algn="l"/>
                      <a:r>
                        <a:rPr sz="1650" b="1">
                          <a:solidFill>
                            <a:srgbClr val="14283F"/>
                          </a:solidFill>
                          <a:latin typeface="Arial"/>
                          <a:ea typeface="Arial"/>
                          <a:cs typeface="Arial"/>
                        </a:rPr>
                        <a:t>Total do ciclo de 16 semanas</a:t>
                      </a:r>
                    </a:p>
                  </a:txBody>
                  <a:tcPr marL="91440" marR="91440" marT="45720" marB="45720">
                    <a:lnL w="3810">
                      <a:solidFill>
                        <a:srgbClr val="DCE3EC"/>
                      </a:solidFill>
                      <a:prstDash val="solid"/>
                    </a:lnL>
                    <a:lnR w="1429">
                      <a:solidFill>
                        <a:srgbClr val="DCE3EC"/>
                      </a:solidFill>
                      <a:prstDash val="solid"/>
                    </a:lnR>
                    <a:lnB w="3810">
                      <a:solidFill>
                        <a:srgbClr val="DCE3EC"/>
                      </a:solidFill>
                      <a:prstDash val="solid"/>
                    </a:lnB>
                    <a:solidFill>
                      <a:srgbClr val="EAF1FA"/>
                    </a:solidFill>
                  </a:tcPr>
                </a:tc>
                <a:tc>
                  <a:txBody>
                    <a:bodyPr lIns="114300" tIns="66675" rIns="114300" bIns="57150">
                      <a:noAutofit/>
                    </a:bodyPr>
                    <a:lstStyle/>
                    <a:p>
                      <a:pPr algn="r"/>
                      <a:r>
                        <a:rPr sz="1650" b="1">
                          <a:solidFill>
                            <a:srgbClr val="14283F"/>
                          </a:solidFill>
                          <a:latin typeface="Arial"/>
                          <a:ea typeface="Arial"/>
                          <a:cs typeface="Arial"/>
                        </a:rPr>
                        <a:t>86.400</a:t>
                      </a:r>
                    </a:p>
                  </a:txBody>
                  <a:tcPr marL="91440" marR="91440" marT="45720" marB="45720">
                    <a:lnR w="3810">
                      <a:solidFill>
                        <a:srgbClr val="DCE3EC"/>
                      </a:solidFill>
                      <a:prstDash val="solid"/>
                    </a:lnR>
                    <a:lnB w="3810">
                      <a:solidFill>
                        <a:srgbClr val="DCE3EC"/>
                      </a:solidFill>
                      <a:prstDash val="solid"/>
                    </a:lnB>
                    <a:solidFill>
                      <a:srgbClr val="EAF1FA"/>
                    </a:solidFill>
                  </a:tcPr>
                </a:tc>
              </a:tr>
            </a:tbl>
          </a:graphicData>
        </a:graphic>
      </p:graphicFrame>
      <p:sp>
        <p:nvSpPr>
          <p:cNvPr id="7" name="">
            <a:extLst xmlns:a="http://schemas.openxmlformats.org/drawingml/2006/main">
              <a:ext uri="{FF2B5EF4-FFF2-40B4-BE49-F238E27FC236}">
                <a16:creationId xmlns:a16="http://schemas.microsoft.com/office/drawing/2014/main" id="{68F54126-000B-4106-8906-5E283083BDC5}"/>
              </a:ext>
            </a:extLst>
          </p:cNvPr>
          <p:cNvSpPr>
            <a:spLocks xmlns:a="http://schemas.openxmlformats.org/drawingml/2006/main" noGrp="1"/>
          </p:cNvSpPr>
          <p:nvPr/>
        </p:nvSpPr>
        <p:spPr>
          <a:xfrm xmlns:a="http://schemas.openxmlformats.org/drawingml/2006/main">
            <a:off x="7600950" y="1524000"/>
            <a:ext cx="4000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1">
                <a:solidFill>
                  <a:srgbClr val="2563EB"/>
                </a:solidFill>
                <a:latin typeface="Arial"/>
                <a:ea typeface="Arial"/>
                <a:cs typeface="Arial"/>
              </a:defRPr>
            </a:pPr>
            <a:r>
              <a:rPr sz="4050" b="1">
                <a:solidFill>
                  <a:srgbClr val="2563EB"/>
                </a:solidFill>
                <a:latin typeface="Arial"/>
                <a:ea typeface="Arial"/>
                <a:cs typeface="Arial"/>
              </a:rPr>
              <a:t>R$ 86.400</a:t>
            </a:r>
          </a:p>
        </p:txBody>
      </p:sp>
      <p:sp>
        <p:nvSpPr>
          <p:cNvPr id="8" name="">
            <a:extLst xmlns:a="http://schemas.openxmlformats.org/drawingml/2006/main">
              <a:ext uri="{FF2B5EF4-FFF2-40B4-BE49-F238E27FC236}">
                <a16:creationId xmlns:a16="http://schemas.microsoft.com/office/drawing/2014/main" id="{529DC120-4EEE-4471-92B0-C6B955238913}"/>
              </a:ext>
            </a:extLst>
          </p:cNvPr>
          <p:cNvSpPr>
            <a:spLocks xmlns:a="http://schemas.openxmlformats.org/drawingml/2006/main" noGrp="1"/>
          </p:cNvSpPr>
          <p:nvPr/>
        </p:nvSpPr>
        <p:spPr>
          <a:xfrm xmlns:a="http://schemas.openxmlformats.org/drawingml/2006/main">
            <a:off x="7600950" y="2362200"/>
            <a:ext cx="3971925"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0">
                <a:solidFill>
                  <a:srgbClr val="14283F"/>
                </a:solidFill>
                <a:latin typeface="Arial"/>
                <a:ea typeface="Arial"/>
                <a:cs typeface="Arial"/>
              </a:defRPr>
            </a:pPr>
            <a:r>
              <a:rPr sz="2025" b="0">
                <a:solidFill>
                  <a:srgbClr val="14283F"/>
                </a:solidFill>
                <a:latin typeface="Arial"/>
                <a:ea typeface="Arial"/>
                <a:cs typeface="Arial"/>
              </a:rPr>
              <a:t>total simulado</a:t>
            </a:r>
          </a:p>
          <a:p xmlns:a="http://schemas.openxmlformats.org/drawingml/2006/main">
            <a:pPr>
              <a:defRPr sz="2025" b="0">
                <a:solidFill>
                  <a:srgbClr val="14283F"/>
                </a:solidFill>
                <a:latin typeface="Arial"/>
                <a:ea typeface="Arial"/>
                <a:cs typeface="Arial"/>
              </a:defRPr>
            </a:pPr>
            <a:r>
              <a:rPr sz="2025" b="0">
                <a:solidFill>
                  <a:srgbClr val="14283F"/>
                </a:solidFill>
                <a:latin typeface="Arial"/>
                <a:ea typeface="Arial"/>
                <a:cs typeface="Arial"/>
              </a:rPr>
              <a:t>Teto: R$ 180.000</a:t>
            </a:r>
          </a:p>
        </p:txBody>
      </p:sp>
      <p:sp>
        <p:nvSpPr>
          <p:cNvPr id="9" name="">
            <a:extLst xmlns:a="http://schemas.openxmlformats.org/drawingml/2006/main">
              <a:ext uri="{FF2B5EF4-FFF2-40B4-BE49-F238E27FC236}">
                <a16:creationId xmlns:a16="http://schemas.microsoft.com/office/drawing/2014/main" id="{A4480BB2-2EC5-41C6-BB2B-C5E31B2382B0}"/>
              </a:ext>
            </a:extLst>
          </p:cNvPr>
          <p:cNvSpPr>
            <a:spLocks xmlns:a="http://schemas.openxmlformats.org/drawingml/2006/main" noGrp="1"/>
          </p:cNvSpPr>
          <p:nvPr/>
        </p:nvSpPr>
        <p:spPr>
          <a:xfrm xmlns:a="http://schemas.openxmlformats.org/drawingml/2006/main">
            <a:off x="7600950" y="3476625"/>
            <a:ext cx="39719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1">
                <a:solidFill>
                  <a:srgbClr val="14283F"/>
                </a:solidFill>
                <a:latin typeface="Arial"/>
                <a:ea typeface="Arial"/>
                <a:cs typeface="Arial"/>
              </a:defRPr>
            </a:pPr>
            <a:r>
              <a:rPr sz="2625" b="1">
                <a:solidFill>
                  <a:srgbClr val="14283F"/>
                </a:solidFill>
                <a:latin typeface="Arial"/>
                <a:ea typeface="Arial"/>
                <a:cs typeface="Arial"/>
              </a:rPr>
              <a:t>R$ 1.800 / mês</a:t>
            </a:r>
          </a:p>
        </p:txBody>
      </p:sp>
      <p:sp>
        <p:nvSpPr>
          <p:cNvPr id="10" name="">
            <a:extLst xmlns:a="http://schemas.openxmlformats.org/drawingml/2006/main">
              <a:ext uri="{FF2B5EF4-FFF2-40B4-BE49-F238E27FC236}">
                <a16:creationId xmlns:a16="http://schemas.microsoft.com/office/drawing/2014/main" id="{1CB9A0D2-ABB2-4F33-9036-D715953752B9}"/>
              </a:ext>
            </a:extLst>
          </p:cNvPr>
          <p:cNvSpPr>
            <a:spLocks xmlns:a="http://schemas.openxmlformats.org/drawingml/2006/main" noGrp="1"/>
          </p:cNvSpPr>
          <p:nvPr/>
        </p:nvSpPr>
        <p:spPr>
          <a:xfrm xmlns:a="http://schemas.openxmlformats.org/drawingml/2006/main">
            <a:off x="7600950" y="4057650"/>
            <a:ext cx="39719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5D6D82"/>
                </a:solidFill>
                <a:latin typeface="Arial"/>
                <a:ea typeface="Arial"/>
                <a:cs typeface="Arial"/>
              </a:defRPr>
            </a:pPr>
            <a:r>
              <a:rPr sz="1725" b="0">
                <a:solidFill>
                  <a:srgbClr val="5D6D82"/>
                </a:solidFill>
                <a:latin typeface="Arial"/>
                <a:ea typeface="Arial"/>
                <a:cs typeface="Arial"/>
              </a:rPr>
              <a:t>12 h × R$ 100 + R$ 600</a:t>
            </a:r>
          </a:p>
          <a:p xmlns:a="http://schemas.openxmlformats.org/drawingml/2006/main">
            <a:pPr>
              <a:defRPr sz="1725" b="0">
                <a:solidFill>
                  <a:srgbClr val="5D6D82"/>
                </a:solidFill>
                <a:latin typeface="Arial"/>
                <a:ea typeface="Arial"/>
                <a:cs typeface="Arial"/>
              </a:defRPr>
            </a:pPr>
            <a:r>
              <a:rPr sz="1725" b="0">
                <a:solidFill>
                  <a:srgbClr val="5D6D82"/>
                </a:solidFill>
                <a:latin typeface="Arial"/>
                <a:ea typeface="Arial"/>
                <a:cs typeface="Arial"/>
              </a:rPr>
              <a:t>de infraestrutura</a:t>
            </a:r>
          </a:p>
        </p:txBody>
      </p:sp>
      <p:sp>
        <p:nvSpPr>
          <p:cNvPr id="11" name="">
            <a:extLst xmlns:a="http://schemas.openxmlformats.org/drawingml/2006/main">
              <a:ext uri="{FF2B5EF4-FFF2-40B4-BE49-F238E27FC236}">
                <a16:creationId xmlns:a16="http://schemas.microsoft.com/office/drawing/2014/main" id="{939CA9CF-5666-4FBB-8390-BB7421C12AAF}"/>
              </a:ext>
            </a:extLst>
          </p:cNvPr>
          <p:cNvSpPr>
            <a:spLocks xmlns:a="http://schemas.openxmlformats.org/drawingml/2006/main" noGrp="1"/>
          </p:cNvSpPr>
          <p:nvPr/>
        </p:nvSpPr>
        <p:spPr>
          <a:xfrm xmlns:a="http://schemas.openxmlformats.org/drawingml/2006/main">
            <a:off x="609600" y="5029200"/>
            <a:ext cx="10972800" cy="0"/>
          </a:xfrm>
          <a:prstGeom xmlns:a="http://schemas.openxmlformats.org/drawingml/2006/main" prst="line">
            <a:avLst/>
          </a:prstGeom>
          <a:noFill xmlns:a="http://schemas.openxmlformats.org/drawingml/2006/main"/>
          <a:ln xmlns:a="http://schemas.openxmlformats.org/drawingml/2006/main" w="9525">
            <a:solidFill>
              <a:srgbClr val="DCE3EC"/>
            </a:solidFill>
          </a:ln>
        </p:spPr>
      </p:sp>
      <p:sp>
        <p:nvSpPr>
          <p:cNvPr id="12" name="">
            <a:extLst xmlns:a="http://schemas.openxmlformats.org/drawingml/2006/main">
              <a:ext uri="{FF2B5EF4-FFF2-40B4-BE49-F238E27FC236}">
                <a16:creationId xmlns:a16="http://schemas.microsoft.com/office/drawing/2014/main" id="{9369436B-FEFF-49BD-B88F-7B50B8F1DAE6}"/>
              </a:ext>
            </a:extLst>
          </p:cNvPr>
          <p:cNvSpPr>
            <a:spLocks xmlns:a="http://schemas.openxmlformats.org/drawingml/2006/main" noGrp="1"/>
          </p:cNvSpPr>
          <p:nvPr/>
        </p:nvSpPr>
        <p:spPr>
          <a:xfrm xmlns:a="http://schemas.openxmlformats.org/drawingml/2006/main">
            <a:off x="609600" y="5267325"/>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1">
                <a:solidFill>
                  <a:srgbClr val="14283F"/>
                </a:solidFill>
                <a:latin typeface="Arial"/>
                <a:ea typeface="Arial"/>
                <a:cs typeface="Arial"/>
              </a:defRPr>
            </a:pPr>
            <a:r>
              <a:rPr sz="1800" b="1">
                <a:solidFill>
                  <a:srgbClr val="14283F"/>
                </a:solidFill>
                <a:latin typeface="Arial"/>
                <a:ea typeface="Arial"/>
                <a:cs typeface="Arial"/>
              </a:rPr>
              <a:t>Cobertura incompleta</a:t>
            </a:r>
          </a:p>
        </p:txBody>
      </p:sp>
      <p:sp>
        <p:nvSpPr>
          <p:cNvPr id="13" name="">
            <a:extLst xmlns:a="http://schemas.openxmlformats.org/drawingml/2006/main">
              <a:ext uri="{FF2B5EF4-FFF2-40B4-BE49-F238E27FC236}">
                <a16:creationId xmlns:a16="http://schemas.microsoft.com/office/drawing/2014/main" id="{4314E9AA-8ACD-4450-9613-17510894E300}"/>
              </a:ext>
            </a:extLst>
          </p:cNvPr>
          <p:cNvSpPr>
            <a:spLocks xmlns:a="http://schemas.openxmlformats.org/drawingml/2006/main" noGrp="1"/>
          </p:cNvSpPr>
          <p:nvPr/>
        </p:nvSpPr>
        <p:spPr>
          <a:xfrm xmlns:a="http://schemas.openxmlformats.org/drawingml/2006/main">
            <a:off x="609600" y="5667375"/>
            <a:ext cx="3524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0">
                <a:solidFill>
                  <a:srgbClr val="5D6D82"/>
                </a:solidFill>
                <a:latin typeface="Arial"/>
                <a:ea typeface="Arial"/>
                <a:cs typeface="Arial"/>
              </a:defRPr>
            </a:pPr>
            <a:r>
              <a:rPr sz="1650" b="0">
                <a:solidFill>
                  <a:srgbClr val="5D6D82"/>
                </a:solidFill>
                <a:latin typeface="Arial"/>
                <a:ea typeface="Arial"/>
                <a:cs typeface="Arial"/>
              </a:rPr>
              <a:t>Bruno audita cada carga</a:t>
            </a:r>
          </a:p>
          <a:p xmlns:a="http://schemas.openxmlformats.org/drawingml/2006/main">
            <a:pPr>
              <a:defRPr sz="1650" b="0">
                <a:solidFill>
                  <a:srgbClr val="5D6D82"/>
                </a:solidFill>
                <a:latin typeface="Arial"/>
                <a:ea typeface="Arial"/>
                <a:cs typeface="Arial"/>
              </a:defRPr>
            </a:pPr>
            <a:r>
              <a:rPr sz="1650" b="0">
                <a:solidFill>
                  <a:srgbClr val="5D6D82"/>
                </a:solidFill>
                <a:latin typeface="Arial"/>
                <a:ea typeface="Arial"/>
                <a:cs typeface="Arial"/>
              </a:rPr>
              <a:t>e preserva a versão validada.</a:t>
            </a:r>
          </a:p>
        </p:txBody>
      </p:sp>
      <p:sp>
        <p:nvSpPr>
          <p:cNvPr id="14" name="">
            <a:extLst xmlns:a="http://schemas.openxmlformats.org/drawingml/2006/main">
              <a:ext uri="{FF2B5EF4-FFF2-40B4-BE49-F238E27FC236}">
                <a16:creationId xmlns:a16="http://schemas.microsoft.com/office/drawing/2014/main" id="{BA6DA9D1-7D87-45D9-9C82-8CEF0ED47956}"/>
              </a:ext>
            </a:extLst>
          </p:cNvPr>
          <p:cNvSpPr>
            <a:spLocks xmlns:a="http://schemas.openxmlformats.org/drawingml/2006/main" noGrp="1"/>
          </p:cNvSpPr>
          <p:nvPr/>
        </p:nvSpPr>
        <p:spPr>
          <a:xfrm xmlns:a="http://schemas.openxmlformats.org/drawingml/2006/main">
            <a:off x="4381500" y="5267325"/>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1">
                <a:solidFill>
                  <a:srgbClr val="14283F"/>
                </a:solidFill>
                <a:latin typeface="Arial"/>
                <a:ea typeface="Arial"/>
                <a:cs typeface="Arial"/>
              </a:defRPr>
            </a:pPr>
            <a:r>
              <a:rPr sz="1800" b="1">
                <a:solidFill>
                  <a:srgbClr val="14283F"/>
                </a:solidFill>
                <a:latin typeface="Arial"/>
                <a:ea typeface="Arial"/>
                <a:cs typeface="Arial"/>
              </a:rPr>
              <a:t>Total incorreto</a:t>
            </a:r>
          </a:p>
        </p:txBody>
      </p:sp>
      <p:sp>
        <p:nvSpPr>
          <p:cNvPr id="15" name="">
            <a:extLst xmlns:a="http://schemas.openxmlformats.org/drawingml/2006/main">
              <a:ext uri="{FF2B5EF4-FFF2-40B4-BE49-F238E27FC236}">
                <a16:creationId xmlns:a16="http://schemas.microsoft.com/office/drawing/2014/main" id="{C9E87FE3-09CB-4A4E-8DE4-AF825CC5BF75}"/>
              </a:ext>
            </a:extLst>
          </p:cNvPr>
          <p:cNvSpPr>
            <a:spLocks xmlns:a="http://schemas.openxmlformats.org/drawingml/2006/main" noGrp="1"/>
          </p:cNvSpPr>
          <p:nvPr/>
        </p:nvSpPr>
        <p:spPr>
          <a:xfrm xmlns:a="http://schemas.openxmlformats.org/drawingml/2006/main">
            <a:off x="4381500" y="5667375"/>
            <a:ext cx="3524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0">
                <a:solidFill>
                  <a:srgbClr val="5D6D82"/>
                </a:solidFill>
                <a:latin typeface="Arial"/>
                <a:ea typeface="Arial"/>
                <a:cs typeface="Arial"/>
              </a:defRPr>
            </a:pPr>
            <a:r>
              <a:rPr sz="1650" b="0">
                <a:solidFill>
                  <a:srgbClr val="5D6D82"/>
                </a:solidFill>
                <a:latin typeface="Arial"/>
                <a:ea typeface="Arial"/>
                <a:cs typeface="Arial"/>
              </a:rPr>
              <a:t>Anthony reconcilia centavos</a:t>
            </a:r>
          </a:p>
          <a:p xmlns:a="http://schemas.openxmlformats.org/drawingml/2006/main">
            <a:pPr>
              <a:defRPr sz="1650" b="0">
                <a:solidFill>
                  <a:srgbClr val="5D6D82"/>
                </a:solidFill>
                <a:latin typeface="Arial"/>
                <a:ea typeface="Arial"/>
                <a:cs typeface="Arial"/>
              </a:defRPr>
            </a:pPr>
            <a:r>
              <a:rPr sz="1650" b="0">
                <a:solidFill>
                  <a:srgbClr val="5D6D82"/>
                </a:solidFill>
                <a:latin typeface="Arial"/>
                <a:ea typeface="Arial"/>
                <a:cs typeface="Arial"/>
              </a:rPr>
              <a:t>e verifica a medida usada.</a:t>
            </a:r>
          </a:p>
        </p:txBody>
      </p:sp>
      <p:sp>
        <p:nvSpPr>
          <p:cNvPr id="16" name="">
            <a:extLst xmlns:a="http://schemas.openxmlformats.org/drawingml/2006/main">
              <a:ext uri="{FF2B5EF4-FFF2-40B4-BE49-F238E27FC236}">
                <a16:creationId xmlns:a16="http://schemas.microsoft.com/office/drawing/2014/main" id="{C51488EA-F250-420C-A66B-A11D9ECA1612}"/>
              </a:ext>
            </a:extLst>
          </p:cNvPr>
          <p:cNvSpPr>
            <a:spLocks xmlns:a="http://schemas.openxmlformats.org/drawingml/2006/main" noGrp="1"/>
          </p:cNvSpPr>
          <p:nvPr/>
        </p:nvSpPr>
        <p:spPr>
          <a:xfrm xmlns:a="http://schemas.openxmlformats.org/drawingml/2006/main">
            <a:off x="8153400" y="5267325"/>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1">
                <a:solidFill>
                  <a:srgbClr val="14283F"/>
                </a:solidFill>
                <a:latin typeface="Arial"/>
                <a:ea typeface="Arial"/>
                <a:cs typeface="Arial"/>
              </a:defRPr>
            </a:pPr>
            <a:r>
              <a:rPr sz="1800" b="1">
                <a:solidFill>
                  <a:srgbClr val="14283F"/>
                </a:solidFill>
                <a:latin typeface="Arial"/>
                <a:ea typeface="Arial"/>
                <a:cs typeface="Arial"/>
              </a:rPr>
              <a:t>Atraso de dados</a:t>
            </a:r>
          </a:p>
        </p:txBody>
      </p:sp>
      <p:sp>
        <p:nvSpPr>
          <p:cNvPr id="17" name="">
            <a:extLst xmlns:a="http://schemas.openxmlformats.org/drawingml/2006/main">
              <a:ext uri="{FF2B5EF4-FFF2-40B4-BE49-F238E27FC236}">
                <a16:creationId xmlns:a16="http://schemas.microsoft.com/office/drawing/2014/main" id="{53EFB2F3-74B1-4DCD-8AAB-29AA3AD9FC01}"/>
              </a:ext>
            </a:extLst>
          </p:cNvPr>
          <p:cNvSpPr>
            <a:spLocks xmlns:a="http://schemas.openxmlformats.org/drawingml/2006/main" noGrp="1"/>
          </p:cNvSpPr>
          <p:nvPr/>
        </p:nvSpPr>
        <p:spPr>
          <a:xfrm xmlns:a="http://schemas.openxmlformats.org/drawingml/2006/main">
            <a:off x="8153400" y="5667375"/>
            <a:ext cx="3524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0">
                <a:solidFill>
                  <a:srgbClr val="5D6D82"/>
                </a:solidFill>
                <a:latin typeface="Arial"/>
                <a:ea typeface="Arial"/>
                <a:cs typeface="Arial"/>
              </a:defRPr>
            </a:pPr>
            <a:r>
              <a:rPr sz="1650" b="0">
                <a:solidFill>
                  <a:srgbClr val="5D6D82"/>
                </a:solidFill>
                <a:latin typeface="Arial"/>
                <a:ea typeface="Arial"/>
                <a:cs typeface="Arial"/>
              </a:rPr>
              <a:t>Luigi mantém o recorte de 2024</a:t>
            </a:r>
          </a:p>
          <a:p xmlns:a="http://schemas.openxmlformats.org/drawingml/2006/main">
            <a:pPr>
              <a:defRPr sz="1650" b="0">
                <a:solidFill>
                  <a:srgbClr val="5D6D82"/>
                </a:solidFill>
                <a:latin typeface="Arial"/>
                <a:ea typeface="Arial"/>
                <a:cs typeface="Arial"/>
              </a:defRPr>
            </a:pPr>
            <a:r>
              <a:rPr sz="1650" b="0">
                <a:solidFill>
                  <a:srgbClr val="5D6D82"/>
                </a:solidFill>
                <a:latin typeface="Arial"/>
                <a:ea typeface="Arial"/>
                <a:cs typeface="Arial"/>
              </a:rPr>
              <a:t>e revisa os marcos.</a:t>
            </a:r>
          </a:p>
        </p:txBody>
      </p:sp>
      <p:sp>
        <p:nvSpPr>
          <p:cNvPr id="18" name="">
            <a:extLst xmlns:a="http://schemas.openxmlformats.org/drawingml/2006/main">
              <a:ext uri="{FF2B5EF4-FFF2-40B4-BE49-F238E27FC236}">
                <a16:creationId xmlns:a16="http://schemas.microsoft.com/office/drawing/2014/main" id="{0A70AC1B-C3E6-4116-AF1A-510B703B0CCE}"/>
              </a:ext>
            </a:extLst>
          </p:cNvPr>
          <p:cNvSpPr>
            <a:spLocks xmlns:a="http://schemas.openxmlformats.org/drawingml/2006/main" noGrp="1"/>
          </p:cNvSpPr>
          <p:nvPr/>
        </p:nvSpPr>
        <p:spPr>
          <a:xfrm xmlns:a="http://schemas.openxmlformats.org/drawingml/2006/main">
            <a:off x="609600" y="6419850"/>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5D6D82"/>
                </a:solidFill>
                <a:latin typeface="Arial"/>
                <a:ea typeface="Arial"/>
                <a:cs typeface="Arial"/>
              </a:defRPr>
            </a:pPr>
            <a:r>
              <a:rPr sz="1200" b="0">
                <a:solidFill>
                  <a:srgbClr val="5D6D82"/>
                </a:solidFill>
                <a:latin typeface="Arial"/>
                <a:ea typeface="Arial"/>
                <a:cs typeface="Arial"/>
              </a:rPr>
              <a:t>Estimativas acadêmicas de evolução e operação. A demonstração local não exige contratação.</a:t>
            </a:r>
          </a:p>
        </p:txBody>
      </p:sp>
    </p:spTree>
    <p:extLst>
      <p:ext uri="{BB962C8B-B14F-4D97-AF65-F5344CB8AC3E}">
        <p14:creationId xmlns:p14="http://schemas.microsoft.com/office/powerpoint/2010/main" val="1070759839"/>
      </p:ext>
    </p:extLst>
  </p:cSld>
</p:sld>
</file>

<file path=ppt/slides/slide8.xml><?xml version="1.0" encoding="utf-8"?>
<p:sld xmlns:p="http://schemas.openxmlformats.org/presentationml/2006/main">
  <p:cSld>
    <p:bg>
      <p:bgPr>
        <a:solidFill xmlns:a="http://schemas.openxmlformats.org/drawingml/2006/main">
          <a:srgbClr val="14283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B3F70B8-05D6-483E-B7BE-FB1015127638}"/>
              </a:ext>
            </a:extLst>
          </p:cNvPr>
          <p:cNvSpPr>
            <a:spLocks xmlns:a="http://schemas.openxmlformats.org/drawingml/2006/main" noGrp="1"/>
          </p:cNvSpPr>
          <p:nvPr/>
        </p:nvSpPr>
        <p:spPr>
          <a:xfrm xmlns:a="http://schemas.openxmlformats.org/drawingml/2006/main">
            <a:off x="609600" y="209550"/>
            <a:ext cx="723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9FC2F3"/>
                </a:solidFill>
                <a:latin typeface="Arial"/>
                <a:ea typeface="Arial"/>
                <a:cs typeface="Arial"/>
              </a:defRPr>
            </a:pPr>
            <a:r>
              <a:rPr sz="1125" b="1">
                <a:solidFill>
                  <a:srgbClr val="9FC2F3"/>
                </a:solidFill>
                <a:latin typeface="Arial"/>
                <a:ea typeface="Arial"/>
                <a:cs typeface="Arial"/>
              </a:rPr>
              <a:t>PAGAMENTOS ES 2024</a:t>
            </a:r>
          </a:p>
        </p:txBody>
      </p:sp>
      <p:sp>
        <p:nvSpPr>
          <p:cNvPr id="2" name="">
            <a:extLst xmlns:a="http://schemas.openxmlformats.org/drawingml/2006/main">
              <a:ext uri="{FF2B5EF4-FFF2-40B4-BE49-F238E27FC236}">
                <a16:creationId xmlns:a16="http://schemas.microsoft.com/office/drawing/2014/main" id="{557B9F3F-004A-4168-9411-A2123BDD95C5}"/>
              </a:ext>
            </a:extLst>
          </p:cNvPr>
          <p:cNvSpPr>
            <a:spLocks xmlns:a="http://schemas.openxmlformats.org/drawingml/2006/main" noGrp="1"/>
          </p:cNvSpPr>
          <p:nvPr/>
        </p:nvSpPr>
        <p:spPr>
          <a:xfrm xmlns:a="http://schemas.openxmlformats.org/drawingml/2006/main">
            <a:off x="9001125" y="209550"/>
            <a:ext cx="257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125" b="1">
                <a:solidFill>
                  <a:srgbClr val="9FC2F3"/>
                </a:solidFill>
                <a:latin typeface="Arial"/>
                <a:ea typeface="Arial"/>
                <a:cs typeface="Arial"/>
              </a:defRPr>
            </a:pPr>
            <a:r>
              <a:rPr sz="1125" b="1">
                <a:solidFill>
                  <a:srgbClr val="9FC2F3"/>
                </a:solidFill>
                <a:latin typeface="Arial"/>
                <a:ea typeface="Arial"/>
                <a:cs typeface="Arial"/>
              </a:rPr>
              <a:t>ENTREGA</a:t>
            </a:r>
          </a:p>
        </p:txBody>
      </p:sp>
      <p:sp>
        <p:nvSpPr>
          <p:cNvPr id="3" name="">
            <a:extLst xmlns:a="http://schemas.openxmlformats.org/drawingml/2006/main">
              <a:ext uri="{FF2B5EF4-FFF2-40B4-BE49-F238E27FC236}">
                <a16:creationId xmlns:a16="http://schemas.microsoft.com/office/drawing/2014/main" id="{B6B7A4DF-D7EE-4D9A-8F4B-C8237970F856}"/>
              </a:ext>
            </a:extLst>
          </p:cNvPr>
          <p:cNvSpPr>
            <a:spLocks xmlns:a="http://schemas.openxmlformats.org/drawingml/2006/main" noGrp="1"/>
          </p:cNvSpPr>
          <p:nvPr/>
        </p:nvSpPr>
        <p:spPr>
          <a:xfrm xmlns:a="http://schemas.openxmlformats.org/drawingml/2006/main">
            <a:off x="609600" y="5524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1">
                <a:solidFill>
                  <a:srgbClr val="FFFFFF"/>
                </a:solidFill>
                <a:latin typeface="Arial"/>
                <a:ea typeface="Arial"/>
                <a:cs typeface="Arial"/>
              </a:defRPr>
            </a:pPr>
            <a:r>
              <a:rPr sz="3225" b="1">
                <a:solidFill>
                  <a:srgbClr val="FFFFFF"/>
                </a:solidFill>
                <a:latin typeface="Arial"/>
                <a:ea typeface="Arial"/>
                <a:cs typeface="Arial"/>
              </a:rPr>
              <a:t>Entregas, limites e próximos passos</a:t>
            </a:r>
          </a:p>
        </p:txBody>
      </p:sp>
      <p:sp>
        <p:nvSpPr>
          <p:cNvPr id="4" name="">
            <a:extLst xmlns:a="http://schemas.openxmlformats.org/drawingml/2006/main">
              <a:ext uri="{FF2B5EF4-FFF2-40B4-BE49-F238E27FC236}">
                <a16:creationId xmlns:a16="http://schemas.microsoft.com/office/drawing/2014/main" id="{B20263B4-CDD1-4AD8-B13D-7DDF079C1FC6}"/>
              </a:ext>
            </a:extLst>
          </p:cNvPr>
          <p:cNvSpPr>
            <a:spLocks xmlns:a="http://schemas.openxmlformats.org/drawingml/2006/main" noGrp="1"/>
          </p:cNvSpPr>
          <p:nvPr/>
        </p:nvSpPr>
        <p:spPr>
          <a:xfrm xmlns:a="http://schemas.openxmlformats.org/drawingml/2006/main">
            <a:off x="609600" y="6315075"/>
            <a:ext cx="10972800" cy="0"/>
          </a:xfrm>
          <a:prstGeom xmlns:a="http://schemas.openxmlformats.org/drawingml/2006/main" prst="line">
            <a:avLst/>
          </a:prstGeom>
          <a:noFill xmlns:a="http://schemas.openxmlformats.org/drawingml/2006/main"/>
          <a:ln xmlns:a="http://schemas.openxmlformats.org/drawingml/2006/main" w="9525">
            <a:solidFill>
              <a:srgbClr val="42576F"/>
            </a:solidFill>
          </a:ln>
        </p:spPr>
      </p:sp>
      <p:sp>
        <p:nvSpPr>
          <p:cNvPr id="5" name="">
            <a:extLst xmlns:a="http://schemas.openxmlformats.org/drawingml/2006/main">
              <a:ext uri="{FF2B5EF4-FFF2-40B4-BE49-F238E27FC236}">
                <a16:creationId xmlns:a16="http://schemas.microsoft.com/office/drawing/2014/main" id="{FD73DBDF-CCB7-40A8-AFF4-DEF7521C5ACE}"/>
              </a:ext>
            </a:extLst>
          </p:cNvPr>
          <p:cNvSpPr>
            <a:spLocks xmlns:a="http://schemas.openxmlformats.org/drawingml/2006/main" noGrp="1"/>
          </p:cNvSpPr>
          <p:nvPr/>
        </p:nvSpPr>
        <p:spPr>
          <a:xfrm xmlns:a="http://schemas.openxmlformats.org/drawingml/2006/main">
            <a:off x="10801350" y="6419850"/>
            <a:ext cx="904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BCCDE2"/>
                </a:solidFill>
                <a:latin typeface="Arial"/>
                <a:ea typeface="Arial"/>
                <a:cs typeface="Arial"/>
              </a:defRPr>
            </a:pPr>
            <a:r>
              <a:rPr sz="1200" b="0">
                <a:solidFill>
                  <a:srgbClr val="BCCDE2"/>
                </a:solidFill>
                <a:latin typeface="Arial"/>
                <a:ea typeface="Arial"/>
                <a:cs typeface="Arial"/>
              </a:rPr>
              <a:t>08 / 08</a:t>
            </a:r>
          </a:p>
        </p:txBody>
      </p:sp>
      <p:sp>
        <p:nvSpPr>
          <p:cNvPr id="6" name="">
            <a:extLst xmlns:a="http://schemas.openxmlformats.org/drawingml/2006/main">
              <a:ext uri="{FF2B5EF4-FFF2-40B4-BE49-F238E27FC236}">
                <a16:creationId xmlns:a16="http://schemas.microsoft.com/office/drawing/2014/main" id="{EF4B5644-DF35-48F7-BDC9-F7D65FCC37A1}"/>
              </a:ext>
            </a:extLst>
          </p:cNvPr>
          <p:cNvSpPr>
            <a:spLocks xmlns:a="http://schemas.openxmlformats.org/drawingml/2006/main" noGrp="1"/>
          </p:cNvSpPr>
          <p:nvPr/>
        </p:nvSpPr>
        <p:spPr>
          <a:xfrm xmlns:a="http://schemas.openxmlformats.org/drawingml/2006/main">
            <a:off x="609600" y="1685925"/>
            <a:ext cx="4762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1">
                <a:solidFill>
                  <a:srgbClr val="9FC2F3"/>
                </a:solidFill>
                <a:latin typeface="Arial"/>
                <a:ea typeface="Arial"/>
                <a:cs typeface="Arial"/>
              </a:defRPr>
            </a:pPr>
            <a:r>
              <a:rPr sz="1725" b="1">
                <a:solidFill>
                  <a:srgbClr val="9FC2F3"/>
                </a:solidFill>
                <a:latin typeface="Arial"/>
                <a:ea typeface="Arial"/>
                <a:cs typeface="Arial"/>
              </a:rPr>
              <a:t>FUNCIONA HOJE</a:t>
            </a:r>
          </a:p>
        </p:txBody>
      </p:sp>
      <p:sp>
        <p:nvSpPr>
          <p:cNvPr id="7" name="">
            <a:extLst xmlns:a="http://schemas.openxmlformats.org/drawingml/2006/main">
              <a:ext uri="{FF2B5EF4-FFF2-40B4-BE49-F238E27FC236}">
                <a16:creationId xmlns:a16="http://schemas.microsoft.com/office/drawing/2014/main" id="{EE98E7A7-FB4E-4E2C-B9C2-2EC1E0911B19}"/>
              </a:ext>
            </a:extLst>
          </p:cNvPr>
          <p:cNvSpPr>
            <a:spLocks xmlns:a="http://schemas.openxmlformats.org/drawingml/2006/main" noGrp="1"/>
          </p:cNvSpPr>
          <p:nvPr/>
        </p:nvSpPr>
        <p:spPr>
          <a:xfrm xmlns:a="http://schemas.openxmlformats.org/drawingml/2006/main">
            <a:off x="609600" y="2276475"/>
            <a:ext cx="5362575"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Filtros por mês e unidade</a:t>
            </a:r>
          </a:p>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Ranking e evolução mensal</a:t>
            </a:r>
          </a:p>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Registros com arquivo e linha</a:t>
            </a:r>
          </a:p>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CSV do recorte completo</a:t>
            </a:r>
          </a:p>
        </p:txBody>
      </p:sp>
      <p:sp>
        <p:nvSpPr>
          <p:cNvPr id="8" name="">
            <a:extLst xmlns:a="http://schemas.openxmlformats.org/drawingml/2006/main">
              <a:ext uri="{FF2B5EF4-FFF2-40B4-BE49-F238E27FC236}">
                <a16:creationId xmlns:a16="http://schemas.microsoft.com/office/drawing/2014/main" id="{BE896D96-B466-4967-BEEB-15E1575F5577}"/>
              </a:ext>
            </a:extLst>
          </p:cNvPr>
          <p:cNvSpPr>
            <a:spLocks xmlns:a="http://schemas.openxmlformats.org/drawingml/2006/main" noGrp="1"/>
          </p:cNvSpPr>
          <p:nvPr/>
        </p:nvSpPr>
        <p:spPr>
          <a:xfrm xmlns:a="http://schemas.openxmlformats.org/drawingml/2006/main">
            <a:off x="6858000" y="1685925"/>
            <a:ext cx="47244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1">
                <a:solidFill>
                  <a:srgbClr val="9FC2F3"/>
                </a:solidFill>
                <a:latin typeface="Arial"/>
                <a:ea typeface="Arial"/>
                <a:cs typeface="Arial"/>
              </a:defRPr>
            </a:pPr>
            <a:r>
              <a:rPr sz="1725" b="1">
                <a:solidFill>
                  <a:srgbClr val="9FC2F3"/>
                </a:solidFill>
                <a:latin typeface="Arial"/>
                <a:ea typeface="Arial"/>
                <a:cs typeface="Arial"/>
              </a:rPr>
              <a:t>ALCANCE DOS RESULTADOS</a:t>
            </a:r>
          </a:p>
        </p:txBody>
      </p:sp>
      <p:sp>
        <p:nvSpPr>
          <p:cNvPr id="9" name="">
            <a:extLst xmlns:a="http://schemas.openxmlformats.org/drawingml/2006/main">
              <a:ext uri="{FF2B5EF4-FFF2-40B4-BE49-F238E27FC236}">
                <a16:creationId xmlns:a16="http://schemas.microsoft.com/office/drawing/2014/main" id="{0D84FDB1-B17F-4E17-A02B-8EF664FC0519}"/>
              </a:ext>
            </a:extLst>
          </p:cNvPr>
          <p:cNvSpPr>
            <a:spLocks xmlns:a="http://schemas.openxmlformats.org/drawingml/2006/main" noGrp="1"/>
          </p:cNvSpPr>
          <p:nvPr/>
        </p:nvSpPr>
        <p:spPr>
          <a:xfrm xmlns:a="http://schemas.openxmlformats.org/drawingml/2006/main">
            <a:off x="6858000" y="2276475"/>
            <a:ext cx="472440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D9E5F4"/>
                </a:solidFill>
                <a:latin typeface="Arial"/>
                <a:ea typeface="Arial"/>
                <a:cs typeface="Arial"/>
              </a:defRPr>
            </a:pPr>
            <a:r>
              <a:rPr sz="1950" b="0">
                <a:solidFill>
                  <a:srgbClr val="D9E5F4"/>
                </a:solidFill>
                <a:latin typeface="Arial"/>
                <a:ea typeface="Arial"/>
                <a:cs typeface="Arial"/>
              </a:rPr>
              <a:t>Base fornecida de 2024</a:t>
            </a:r>
          </a:p>
          <a:p xmlns:a="http://schemas.openxmlformats.org/drawingml/2006/main">
            <a:pPr>
              <a:defRPr sz="1950" b="0">
                <a:solidFill>
                  <a:srgbClr val="D9E5F4"/>
                </a:solidFill>
                <a:latin typeface="Arial"/>
                <a:ea typeface="Arial"/>
                <a:cs typeface="Arial"/>
              </a:defRPr>
            </a:pPr>
            <a:r>
              <a:rPr sz="1950" b="0">
                <a:solidFill>
                  <a:srgbClr val="D9E5F4"/>
                </a:solidFill>
                <a:latin typeface="Arial"/>
                <a:ea typeface="Arial"/>
                <a:cs typeface="Arial"/>
              </a:rPr>
              <a:t>Cobertura estadual não comprovada</a:t>
            </a:r>
          </a:p>
          <a:p xmlns:a="http://schemas.openxmlformats.org/drawingml/2006/main">
            <a:pPr>
              <a:defRPr sz="1950" b="0">
                <a:solidFill>
                  <a:srgbClr val="D9E5F4"/>
                </a:solidFill>
                <a:latin typeface="Arial"/>
                <a:ea typeface="Arial"/>
                <a:cs typeface="Arial"/>
              </a:defRPr>
            </a:pPr>
            <a:r>
              <a:rPr sz="1950" b="0">
                <a:solidFill>
                  <a:srgbClr val="D9E5F4"/>
                </a:solidFill>
                <a:latin typeface="Arial"/>
                <a:ea typeface="Arial"/>
                <a:cs typeface="Arial"/>
              </a:rPr>
              <a:t>Data do registro, sem prova de caixa</a:t>
            </a:r>
          </a:p>
          <a:p xmlns:a="http://schemas.openxmlformats.org/drawingml/2006/main">
            <a:pPr>
              <a:defRPr sz="1950" b="0">
                <a:solidFill>
                  <a:srgbClr val="D9E5F4"/>
                </a:solidFill>
                <a:latin typeface="Arial"/>
                <a:ea typeface="Arial"/>
                <a:cs typeface="Arial"/>
              </a:defRPr>
            </a:pPr>
            <a:r>
              <a:rPr sz="1950" b="0">
                <a:solidFill>
                  <a:srgbClr val="D9E5F4"/>
                </a:solidFill>
                <a:latin typeface="Arial"/>
                <a:ea typeface="Arial"/>
                <a:cs typeface="Arial"/>
              </a:rPr>
              <a:t>IC para proporção na base local</a:t>
            </a:r>
          </a:p>
        </p:txBody>
      </p:sp>
      <p:sp>
        <p:nvSpPr>
          <p:cNvPr id="10" name="">
            <a:extLst xmlns:a="http://schemas.openxmlformats.org/drawingml/2006/main">
              <a:ext uri="{FF2B5EF4-FFF2-40B4-BE49-F238E27FC236}">
                <a16:creationId xmlns:a16="http://schemas.microsoft.com/office/drawing/2014/main" id="{F9F348B1-C899-4BD5-9130-0F38E6590633}"/>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42576F"/>
            </a:solidFill>
          </a:ln>
        </p:spPr>
      </p:sp>
      <p:sp>
        <p:nvSpPr>
          <p:cNvPr id="11" name="">
            <a:extLst xmlns:a="http://schemas.openxmlformats.org/drawingml/2006/main">
              <a:ext uri="{FF2B5EF4-FFF2-40B4-BE49-F238E27FC236}">
                <a16:creationId xmlns:a16="http://schemas.microsoft.com/office/drawing/2014/main" id="{0319C8D5-6517-46F1-9D67-DFADC149246B}"/>
              </a:ext>
            </a:extLst>
          </p:cNvPr>
          <p:cNvSpPr>
            <a:spLocks xmlns:a="http://schemas.openxmlformats.org/drawingml/2006/main" noGrp="1"/>
          </p:cNvSpPr>
          <p:nvPr/>
        </p:nvSpPr>
        <p:spPr>
          <a:xfrm xmlns:a="http://schemas.openxmlformats.org/drawingml/2006/main">
            <a:off x="609600" y="5019675"/>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1">
                <a:solidFill>
                  <a:srgbClr val="9FC2F3"/>
                </a:solidFill>
                <a:latin typeface="Arial"/>
                <a:ea typeface="Arial"/>
                <a:cs typeface="Arial"/>
              </a:defRPr>
            </a:pPr>
            <a:r>
              <a:rPr sz="1950" b="1">
                <a:solidFill>
                  <a:srgbClr val="9FC2F3"/>
                </a:solidFill>
                <a:latin typeface="Arial"/>
                <a:ea typeface="Arial"/>
                <a:cs typeface="Arial"/>
              </a:rPr>
              <a:t>Próximos marcos</a:t>
            </a:r>
          </a:p>
        </p:txBody>
      </p:sp>
      <p:sp>
        <p:nvSpPr>
          <p:cNvPr id="12" name="">
            <a:extLst xmlns:a="http://schemas.openxmlformats.org/drawingml/2006/main">
              <a:ext uri="{FF2B5EF4-FFF2-40B4-BE49-F238E27FC236}">
                <a16:creationId xmlns:a16="http://schemas.microsoft.com/office/drawing/2014/main" id="{CFAA5409-C880-4733-8AB2-F6EF4D958946}"/>
              </a:ext>
            </a:extLst>
          </p:cNvPr>
          <p:cNvSpPr>
            <a:spLocks xmlns:a="http://schemas.openxmlformats.org/drawingml/2006/main" noGrp="1"/>
          </p:cNvSpPr>
          <p:nvPr/>
        </p:nvSpPr>
        <p:spPr>
          <a:xfrm xmlns:a="http://schemas.openxmlformats.org/drawingml/2006/main">
            <a:off x="4095750" y="5029200"/>
            <a:ext cx="74485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FFFFFF"/>
                </a:solidFill>
                <a:latin typeface="Arial"/>
                <a:ea typeface="Arial"/>
                <a:cs typeface="Arial"/>
              </a:defRPr>
            </a:pPr>
            <a:r>
              <a:rPr sz="2100" b="0">
                <a:solidFill>
                  <a:srgbClr val="FFFFFF"/>
                </a:solidFill>
                <a:latin typeface="Arial"/>
                <a:ea typeface="Arial"/>
                <a:cs typeface="Arial"/>
              </a:rPr>
              <a:t>Validar com usuários, comparar 2025 e preparar o piloto.</a:t>
            </a:r>
          </a:p>
        </p:txBody>
      </p:sp>
      <p:sp>
        <p:nvSpPr>
          <p:cNvPr id="13" name="">
            <a:extLst xmlns:a="http://schemas.openxmlformats.org/drawingml/2006/main">
              <a:ext uri="{FF2B5EF4-FFF2-40B4-BE49-F238E27FC236}">
                <a16:creationId xmlns:a16="http://schemas.microsoft.com/office/drawing/2014/main" id="{9A4045E0-B0E3-4BD2-92FC-BD898713E329}"/>
              </a:ext>
            </a:extLst>
          </p:cNvPr>
          <p:cNvSpPr>
            <a:spLocks xmlns:a="http://schemas.openxmlformats.org/drawingml/2006/main" noGrp="1"/>
          </p:cNvSpPr>
          <p:nvPr/>
        </p:nvSpPr>
        <p:spPr>
          <a:xfrm xmlns:a="http://schemas.openxmlformats.org/drawingml/2006/main">
            <a:off x="609600" y="5829300"/>
            <a:ext cx="10382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D9E5F4"/>
                </a:solidFill>
                <a:latin typeface="Arial"/>
                <a:ea typeface="Arial"/>
                <a:cs typeface="Arial"/>
              </a:defRPr>
            </a:pPr>
            <a:r>
              <a:rPr sz="1950" b="0">
                <a:solidFill>
                  <a:srgbClr val="D9E5F4"/>
                </a:solidFill>
                <a:latin typeface="Arial"/>
                <a:ea typeface="Arial"/>
                <a:cs typeface="Arial"/>
              </a:rPr>
              <a:t>github.com/Stratfy/cp5-data</a:t>
            </a:r>
          </a:p>
        </p:txBody>
      </p:sp>
      <p:sp>
        <p:nvSpPr>
          <p:cNvPr id="14" name="">
            <a:extLst xmlns:a="http://schemas.openxmlformats.org/drawingml/2006/main">
              <a:ext uri="{FF2B5EF4-FFF2-40B4-BE49-F238E27FC236}">
                <a16:creationId xmlns:a16="http://schemas.microsoft.com/office/drawing/2014/main" id="{D83BC0BB-5A6C-400E-93A0-009048B8737A}"/>
              </a:ext>
            </a:extLst>
          </p:cNvPr>
          <p:cNvSpPr>
            <a:spLocks xmlns:a="http://schemas.openxmlformats.org/drawingml/2006/main" noGrp="1"/>
          </p:cNvSpPr>
          <p:nvPr/>
        </p:nvSpPr>
        <p:spPr>
          <a:xfrm xmlns:a="http://schemas.openxmlformats.org/drawingml/2006/main">
            <a:off x="609600" y="6419850"/>
            <a:ext cx="1000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BCCDE2"/>
                </a:solidFill>
                <a:latin typeface="Arial"/>
                <a:ea typeface="Arial"/>
                <a:cs typeface="Arial"/>
              </a:defRPr>
            </a:pPr>
            <a:r>
              <a:rPr sz="1200" b="0">
                <a:solidFill>
                  <a:srgbClr val="BCCDE2"/>
                </a:solidFill>
                <a:latin typeface="Arial"/>
                <a:ea typeface="Arial"/>
                <a:cs typeface="Arial"/>
              </a:rPr>
              <a:t>Relatório, apresentação e código reproduzível. Assistência de IA declarada nos materiais.</a:t>
            </a:r>
          </a:p>
        </p:txBody>
      </p:sp>
    </p:spTree>
    <p:extLst>
      <p:ext uri="{BB962C8B-B14F-4D97-AF65-F5344CB8AC3E}">
        <p14:creationId xmlns:p14="http://schemas.microsoft.com/office/powerpoint/2010/main" val="5080028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2026-10-04T21:33:55.2220000Z</dcterms:created>
  <dcterms:modified xsi:type="dcterms:W3CDTF">2026-10-04T21:33:55.2220000Z</dcterms:modified>
</coreProperties>
</file>